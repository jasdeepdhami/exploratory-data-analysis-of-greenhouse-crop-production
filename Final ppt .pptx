
<file path=[Content_Types].xml><?xml version="1.0" encoding="utf-8"?>
<Types xmlns="http://schemas.openxmlformats.org/package/2006/content-types">
  <Default Extension="jp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charts/chart1.xml" ContentType="application/vnd.openxmlformats-officedocument.drawingml.chart+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charts/chart2.xml" ContentType="application/vnd.openxmlformats-officedocument.drawingml.chart+xml"/>
  <Override PartName="/ppt/drawings/drawing1.xml" ContentType="application/vnd.openxmlformats-officedocument.drawingml.chartshapes+xml"/>
  <Override PartName="/ppt/charts/chart3.xml" ContentType="application/vnd.openxmlformats-officedocument.drawingml.chart+xml"/>
  <Override PartName="/ppt/drawings/drawing2.xml" ContentType="application/vnd.openxmlformats-officedocument.drawingml.chartshapes+xml"/>
  <Override PartName="/ppt/charts/chart4.xml" ContentType="application/vnd.openxmlformats-officedocument.drawingml.chart+xml"/>
  <Override PartName="/ppt/drawings/drawing3.xml" ContentType="application/vnd.openxmlformats-officedocument.drawingml.chartshapes+xml"/>
  <Override PartName="/ppt/charts/chart5.xml" ContentType="application/vnd.openxmlformats-officedocument.drawingml.chart+xml"/>
  <Override PartName="/ppt/drawings/drawing4.xml" ContentType="application/vnd.openxmlformats-officedocument.drawingml.chartshapes+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5"/>
  </p:notesMasterIdLst>
  <p:sldIdLst>
    <p:sldId id="256" r:id="rId2"/>
    <p:sldId id="257" r:id="rId3"/>
    <p:sldId id="258" r:id="rId4"/>
    <p:sldId id="259" r:id="rId5"/>
    <p:sldId id="260" r:id="rId6"/>
    <p:sldId id="261" r:id="rId7"/>
    <p:sldId id="262" r:id="rId8"/>
    <p:sldId id="266" r:id="rId9"/>
    <p:sldId id="263" r:id="rId10"/>
    <p:sldId id="264" r:id="rId11"/>
    <p:sldId id="265" r:id="rId12"/>
    <p:sldId id="267" r:id="rId13"/>
    <p:sldId id="268" r:id="rId14"/>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4D3D9A80-FAE4-4845-A4DE-858DD1553731}">
          <p14:sldIdLst>
            <p14:sldId id="256"/>
            <p14:sldId id="257"/>
            <p14:sldId id="258"/>
            <p14:sldId id="259"/>
            <p14:sldId id="260"/>
            <p14:sldId id="261"/>
            <p14:sldId id="262"/>
            <p14:sldId id="266"/>
            <p14:sldId id="263"/>
            <p14:sldId id="264"/>
            <p14:sldId id="265"/>
            <p14:sldId id="267"/>
            <p14:sldId id="26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46BDE12-6E1A-4A34-B1E2-F8A94B21D786}" v="4" dt="2026-09-25T16:26:18.44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10"/>
  </p:normalViewPr>
  <p:slideViewPr>
    <p:cSldViewPr snapToGrid="0" snapToObjects="1">
      <p:cViewPr varScale="1">
        <p:scale>
          <a:sx n="89" d="100"/>
          <a:sy n="89" d="100"/>
        </p:scale>
        <p:origin x="466"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20" Type="http://schemas.microsoft.com/office/2015/10/relationships/revisionInfo" Target="revisionInfo.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2" Type="http://schemas.openxmlformats.org/officeDocument/2006/relationships/chartUserShapes" Target="../drawings/drawing1.xml"/><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2" Type="http://schemas.openxmlformats.org/officeDocument/2006/relationships/chartUserShapes" Target="../drawings/drawing2.xml"/><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2" Type="http://schemas.openxmlformats.org/officeDocument/2006/relationships/chartUserShapes" Target="../drawings/drawing3.xml"/><Relationship Id="rId1" Type="http://schemas.openxmlformats.org/officeDocument/2006/relationships/package" Target="../embeddings/Microsoft_Excel_Worksheet3.xlsx"/></Relationships>
</file>

<file path=ppt/charts/_rels/chart5.xml.rels><?xml version="1.0" encoding="UTF-8" standalone="yes"?>
<Relationships xmlns="http://schemas.openxmlformats.org/package/2006/relationships"><Relationship Id="rId2" Type="http://schemas.openxmlformats.org/officeDocument/2006/relationships/chartUserShapes" Target="../drawings/drawing4.xml"/><Relationship Id="rId1" Type="http://schemas.openxmlformats.org/officeDocument/2006/relationships/package" Target="../embeddings/Microsoft_Excel_Worksheet4.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300" b="0" i="0" u="none" strike="noStrike">
                <a:solidFill>
                  <a:srgbClr val="1C2B1E"/>
                </a:solidFill>
                <a:latin typeface="Arial"/>
              </a:defRPr>
            </a:pPr>
            <a:r>
              <a:rPr lang="en-IN" sz="1300" b="0" i="0" u="none" strike="noStrike">
                <a:solidFill>
                  <a:srgbClr val="1C2B1E"/>
                </a:solidFill>
                <a:latin typeface="Arial"/>
              </a:rPr>
              <a:t>Records by Crop Type</a:t>
            </a:r>
          </a:p>
        </c:rich>
      </c:tx>
      <c:overlay val="0"/>
    </c:title>
    <c:autoTitleDeleted val="0"/>
    <c:plotArea>
      <c:layout/>
      <c:doughnutChart>
        <c:varyColors val="1"/>
        <c:ser>
          <c:idx val="0"/>
          <c:order val="0"/>
          <c:tx>
            <c:strRef>
              <c:f>Sheet1!$B$1</c:f>
              <c:strCache>
                <c:ptCount val="1"/>
                <c:pt idx="0">
                  <c:v>Records</c:v>
                </c:pt>
              </c:strCache>
            </c:strRef>
          </c:tx>
          <c:spPr>
            <a:solidFill>
              <a:schemeClr val="accent1"/>
            </a:solidFill>
            <a:ln w="9525" cap="flat">
              <a:solidFill>
                <a:srgbClr val="F9F9F9"/>
              </a:solidFill>
              <a:prstDash val="solid"/>
              <a:round/>
            </a:ln>
            <a:effectLst/>
          </c:spPr>
          <c:dPt>
            <c:idx val="0"/>
            <c:bubble3D val="0"/>
            <c:spPr>
              <a:solidFill>
                <a:srgbClr val="1F4D2C"/>
              </a:solidFill>
              <a:effectLst/>
            </c:spPr>
            <c:extLst>
              <c:ext xmlns:c16="http://schemas.microsoft.com/office/drawing/2014/chart" uri="{C3380CC4-5D6E-409C-BE32-E72D297353CC}">
                <c16:uniqueId val="{00000001-CCDD-427E-B5FB-29A88FD53274}"/>
              </c:ext>
            </c:extLst>
          </c:dPt>
          <c:dPt>
            <c:idx val="1"/>
            <c:bubble3D val="0"/>
            <c:spPr>
              <a:solidFill>
                <a:srgbClr val="6FA95E"/>
              </a:solidFill>
              <a:effectLst/>
            </c:spPr>
            <c:extLst>
              <c:ext xmlns:c16="http://schemas.microsoft.com/office/drawing/2014/chart" uri="{C3380CC4-5D6E-409C-BE32-E72D297353CC}">
                <c16:uniqueId val="{00000003-CCDD-427E-B5FB-29A88FD53274}"/>
              </c:ext>
            </c:extLst>
          </c:dPt>
          <c:dPt>
            <c:idx val="2"/>
            <c:bubble3D val="0"/>
            <c:spPr>
              <a:solidFill>
                <a:srgbClr val="E8A33D"/>
              </a:solidFill>
              <a:effectLst/>
            </c:spPr>
            <c:extLst>
              <c:ext xmlns:c16="http://schemas.microsoft.com/office/drawing/2014/chart" uri="{C3380CC4-5D6E-409C-BE32-E72D297353CC}">
                <c16:uniqueId val="{00000005-CCDD-427E-B5FB-29A88FD53274}"/>
              </c:ext>
            </c:extLst>
          </c:dPt>
          <c:dPt>
            <c:idx val="3"/>
            <c:bubble3D val="0"/>
            <c:spPr>
              <a:solidFill>
                <a:srgbClr val="A9C7A0"/>
              </a:solidFill>
              <a:effectLst/>
            </c:spPr>
            <c:extLst>
              <c:ext xmlns:c16="http://schemas.microsoft.com/office/drawing/2014/chart" uri="{C3380CC4-5D6E-409C-BE32-E72D297353CC}">
                <c16:uniqueId val="{00000007-CCDD-427E-B5FB-29A88FD53274}"/>
              </c:ext>
            </c:extLst>
          </c:dPt>
          <c:dLbls>
            <c:dLbl>
              <c:idx val="0"/>
              <c:numFmt formatCode="0%" sourceLinked="0"/>
              <c:spPr/>
              <c:txPr>
                <a:bodyPr/>
                <a:lstStyle/>
                <a:p>
                  <a:pPr>
                    <a:defRPr sz="1000" b="0" i="0" u="none" strike="noStrike">
                      <a:solidFill>
                        <a:srgbClr val="FFFFFF"/>
                      </a:solidFill>
                      <a:latin typeface="Arial"/>
                    </a:defRPr>
                  </a:pPr>
                  <a:endParaRPr lang="en-US"/>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1-CCDD-427E-B5FB-29A88FD53274}"/>
                </c:ext>
              </c:extLst>
            </c:dLbl>
            <c:dLbl>
              <c:idx val="1"/>
              <c:numFmt formatCode="0%" sourceLinked="0"/>
              <c:spPr/>
              <c:txPr>
                <a:bodyPr/>
                <a:lstStyle/>
                <a:p>
                  <a:pPr>
                    <a:defRPr sz="1000" b="0" i="0" u="none" strike="noStrike">
                      <a:solidFill>
                        <a:srgbClr val="FFFFFF"/>
                      </a:solidFill>
                      <a:latin typeface="Arial"/>
                    </a:defRPr>
                  </a:pPr>
                  <a:endParaRPr lang="en-US"/>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3-CCDD-427E-B5FB-29A88FD53274}"/>
                </c:ext>
              </c:extLst>
            </c:dLbl>
            <c:dLbl>
              <c:idx val="2"/>
              <c:numFmt formatCode="0%" sourceLinked="0"/>
              <c:spPr/>
              <c:txPr>
                <a:bodyPr/>
                <a:lstStyle/>
                <a:p>
                  <a:pPr>
                    <a:defRPr sz="1000" b="0" i="0" u="none" strike="noStrike">
                      <a:solidFill>
                        <a:srgbClr val="FFFFFF"/>
                      </a:solidFill>
                      <a:latin typeface="Arial"/>
                    </a:defRPr>
                  </a:pPr>
                  <a:endParaRPr lang="en-US"/>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5-CCDD-427E-B5FB-29A88FD53274}"/>
                </c:ext>
              </c:extLst>
            </c:dLbl>
            <c:dLbl>
              <c:idx val="3"/>
              <c:numFmt formatCode="0%" sourceLinked="0"/>
              <c:spPr/>
              <c:txPr>
                <a:bodyPr/>
                <a:lstStyle/>
                <a:p>
                  <a:pPr>
                    <a:defRPr sz="1000" b="0" i="0" u="none" strike="noStrike">
                      <a:solidFill>
                        <a:srgbClr val="FFFFFF"/>
                      </a:solidFill>
                      <a:latin typeface="Arial"/>
                    </a:defRPr>
                  </a:pPr>
                  <a:endParaRPr lang="en-US"/>
                </a:p>
              </c:txPr>
              <c:showLegendKey val="0"/>
              <c:showVal val="0"/>
              <c:showCatName val="0"/>
              <c:showSerName val="0"/>
              <c:showPercent val="1"/>
              <c:showBubbleSize val="0"/>
              <c:extLst>
                <c:ext xmlns:c15="http://schemas.microsoft.com/office/drawing/2012/chart" uri="{CE6537A1-D6FC-4f65-9D91-7224C49458BB}"/>
                <c:ext xmlns:c16="http://schemas.microsoft.com/office/drawing/2014/chart" uri="{C3380CC4-5D6E-409C-BE32-E72D297353CC}">
                  <c16:uniqueId val="{00000007-CCDD-427E-B5FB-29A88FD53274}"/>
                </c:ext>
              </c:extLst>
            </c:dLbl>
            <c:numFmt formatCode="0%" sourceLinked="0"/>
            <c:spPr>
              <a:noFill/>
              <a:ln>
                <a:noFill/>
              </a:ln>
              <a:effectLst/>
            </c:spPr>
            <c:txPr>
              <a:bodyPr/>
              <a:lstStyle/>
              <a:p>
                <a:pPr>
                  <a:defRPr sz="1800" b="0" i="0" u="none" strike="noStrike">
                    <a:solidFill>
                      <a:srgbClr val="000000"/>
                    </a:solidFill>
                    <a:latin typeface="Arial"/>
                  </a:defRPr>
                </a:pPr>
                <a:endParaRPr lang="en-US"/>
              </a:p>
            </c:txPr>
            <c:showLegendKey val="0"/>
            <c:showVal val="0"/>
            <c:showCatName val="1"/>
            <c:showSerName val="0"/>
            <c:showPercent val="1"/>
            <c:showBubbleSize val="0"/>
            <c:showLeaderLines val="0"/>
            <c:extLst>
              <c:ext xmlns:c15="http://schemas.microsoft.com/office/drawing/2012/chart" uri="{CE6537A1-D6FC-4f65-9D91-7224C49458BB}"/>
            </c:extLst>
          </c:dLbls>
          <c:cat>
            <c:strRef>
              <c:f>Sheet1!$A$2:$A$5</c:f>
              <c:strCache>
                <c:ptCount val="4"/>
                <c:pt idx="0">
                  <c:v>Tomato</c:v>
                </c:pt>
                <c:pt idx="1">
                  <c:v>Cucumber</c:v>
                </c:pt>
                <c:pt idx="2">
                  <c:v>Lettuce</c:v>
                </c:pt>
                <c:pt idx="3">
                  <c:v>Pepper</c:v>
                </c:pt>
              </c:strCache>
            </c:strRef>
          </c:cat>
          <c:val>
            <c:numRef>
              <c:f>Sheet1!$B$2:$B$5</c:f>
              <c:numCache>
                <c:formatCode>General</c:formatCode>
                <c:ptCount val="4"/>
                <c:pt idx="0">
                  <c:v>4112</c:v>
                </c:pt>
                <c:pt idx="1">
                  <c:v>3167</c:v>
                </c:pt>
                <c:pt idx="2">
                  <c:v>2069</c:v>
                </c:pt>
                <c:pt idx="3">
                  <c:v>1052</c:v>
                </c:pt>
              </c:numCache>
            </c:numRef>
          </c:val>
          <c:extLst>
            <c:ext xmlns:c16="http://schemas.microsoft.com/office/drawing/2014/chart" uri="{C3380CC4-5D6E-409C-BE32-E72D297353CC}">
              <c16:uniqueId val="{00000008-CCDD-427E-B5FB-29A88FD53274}"/>
            </c:ext>
          </c:extLst>
        </c:ser>
        <c:dLbls>
          <c:showLegendKey val="0"/>
          <c:showVal val="0"/>
          <c:showCatName val="0"/>
          <c:showSerName val="0"/>
          <c:showPercent val="0"/>
          <c:showBubbleSize val="0"/>
          <c:showLeaderLines val="0"/>
        </c:dLbls>
        <c:firstSliceAng val="0"/>
        <c:holeSize val="50"/>
      </c:doughnutChart>
      <c:spPr>
        <a:noFill/>
        <a:ln>
          <a:noFill/>
        </a:ln>
        <a:effectLst/>
      </c:spPr>
    </c:plotArea>
    <c:legend>
      <c:legendPos val="b"/>
      <c:overlay val="0"/>
      <c:txPr>
        <a:bodyPr/>
        <a:lstStyle/>
        <a:p>
          <a:pPr>
            <a:defRPr sz="1100">
              <a:solidFill>
                <a:srgbClr val="1C2B1E"/>
              </a:solidFill>
            </a:defRPr>
          </a:pPr>
          <a:endParaRPr lang="en-US"/>
        </a:p>
      </c:txPr>
    </c:legend>
    <c:plotVisOnly val="1"/>
    <c:dispBlanksAs val="span"/>
    <c:showDLblsOverMax val="1"/>
  </c:chart>
  <c:spPr>
    <a:solidFill>
      <a:srgbClr val="FFFFFF"/>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200" b="0" i="0" u="none" strike="noStrike">
                <a:solidFill>
                  <a:srgbClr val="1C2B1E"/>
                </a:solidFill>
                <a:latin typeface="Arial"/>
              </a:defRPr>
            </a:pPr>
            <a:r>
              <a:rPr lang="en-US" sz="1200" b="0" i="0" u="none" strike="noStrike">
                <a:solidFill>
                  <a:srgbClr val="1C2B1E"/>
                </a:solidFill>
                <a:latin typeface="Arial"/>
              </a:rPr>
              <a:t>Avg. Yield by Crop (kg/m²)</a:t>
            </a:r>
          </a:p>
        </c:rich>
      </c:tx>
      <c:overlay val="0"/>
    </c:title>
    <c:autoTitleDeleted val="0"/>
    <c:plotArea>
      <c:layout/>
      <c:barChart>
        <c:barDir val="col"/>
        <c:grouping val="clustered"/>
        <c:varyColors val="0"/>
        <c:ser>
          <c:idx val="0"/>
          <c:order val="0"/>
          <c:tx>
            <c:strRef>
              <c:f>Sheet1!$B$1</c:f>
              <c:strCache>
                <c:ptCount val="1"/>
                <c:pt idx="0">
                  <c:v>Avg Yield (kg/m²)</c:v>
                </c:pt>
              </c:strCache>
            </c:strRef>
          </c:tx>
          <c:spPr>
            <a:solidFill>
              <a:srgbClr val="1F4D2C"/>
            </a:solidFill>
            <a:effectLst/>
          </c:spPr>
          <c:invertIfNegative val="0"/>
          <c:dLbls>
            <c:numFmt formatCode="#,##0" sourceLinked="0"/>
            <c:spPr>
              <a:noFill/>
              <a:ln>
                <a:noFill/>
              </a:ln>
              <a:effectLst/>
            </c:spPr>
            <c:txPr>
              <a:bodyPr/>
              <a:lstStyle/>
              <a:p>
                <a:pPr>
                  <a:defRPr sz="1000" b="0" i="0" u="none" strike="noStrike">
                    <a:solidFill>
                      <a:srgbClr val="1C2B1E"/>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Tomato</c:v>
                </c:pt>
                <c:pt idx="1">
                  <c:v>Cucumber</c:v>
                </c:pt>
                <c:pt idx="2">
                  <c:v>Pepper</c:v>
                </c:pt>
                <c:pt idx="3">
                  <c:v>Lettuce</c:v>
                </c:pt>
              </c:strCache>
            </c:strRef>
          </c:cat>
          <c:val>
            <c:numRef>
              <c:f>Sheet1!$B$2:$B$5</c:f>
              <c:numCache>
                <c:formatCode>General</c:formatCode>
                <c:ptCount val="4"/>
                <c:pt idx="0">
                  <c:v>16.66</c:v>
                </c:pt>
                <c:pt idx="1">
                  <c:v>11.38</c:v>
                </c:pt>
                <c:pt idx="2">
                  <c:v>8.7799999999999994</c:v>
                </c:pt>
                <c:pt idx="3">
                  <c:v>7.25</c:v>
                </c:pt>
              </c:numCache>
            </c:numRef>
          </c:val>
          <c:extLst>
            <c:ext xmlns:c16="http://schemas.microsoft.com/office/drawing/2014/chart" uri="{C3380CC4-5D6E-409C-BE32-E72D297353CC}">
              <c16:uniqueId val="{00000000-F052-448D-B46A-A994C7867BBE}"/>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5B6B5E"/>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6350" cap="flat">
              <a:solidFill>
                <a:srgbClr val="E2E8DE"/>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5B6B5E"/>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solidFill>
      <a:srgbClr val="FFFFFF"/>
    </a:solidFill>
    <a:ln>
      <a:noFill/>
    </a:ln>
    <a:effectLst/>
  </c:spPr>
  <c:externalData r:id="rId1">
    <c:autoUpdate val="0"/>
  </c:externalData>
  <c:userShapes r:id="rId2"/>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200" b="0" i="0" u="none" strike="noStrike">
                <a:solidFill>
                  <a:srgbClr val="1C2B1E"/>
                </a:solidFill>
                <a:latin typeface="Arial"/>
              </a:defRPr>
            </a:pPr>
            <a:r>
              <a:rPr lang="en-IN" sz="1200" b="0" i="0" u="none" strike="noStrike">
                <a:solidFill>
                  <a:srgbClr val="1C2B1E"/>
                </a:solidFill>
                <a:latin typeface="Arial"/>
              </a:rPr>
              <a:t>Correlation with Yield</a:t>
            </a:r>
          </a:p>
        </c:rich>
      </c:tx>
      <c:overlay val="0"/>
    </c:title>
    <c:autoTitleDeleted val="0"/>
    <c:plotArea>
      <c:layout/>
      <c:barChart>
        <c:barDir val="bar"/>
        <c:grouping val="clustered"/>
        <c:varyColors val="0"/>
        <c:ser>
          <c:idx val="0"/>
          <c:order val="0"/>
          <c:tx>
            <c:strRef>
              <c:f>Sheet1!$B$1</c:f>
              <c:strCache>
                <c:ptCount val="1"/>
                <c:pt idx="0">
                  <c:v>Correlation</c:v>
                </c:pt>
              </c:strCache>
            </c:strRef>
          </c:tx>
          <c:spPr>
            <a:solidFill>
              <a:srgbClr val="E8A33D"/>
            </a:solidFill>
            <a:effectLst/>
          </c:spPr>
          <c:invertIfNegative val="0"/>
          <c:dLbls>
            <c:numFmt formatCode="#,##0" sourceLinked="0"/>
            <c:spPr>
              <a:noFill/>
              <a:ln>
                <a:noFill/>
              </a:ln>
              <a:effectLst/>
            </c:spPr>
            <c:txPr>
              <a:bodyPr/>
              <a:lstStyle/>
              <a:p>
                <a:pPr>
                  <a:defRPr sz="950" b="0" i="0" u="none" strike="noStrike">
                    <a:solidFill>
                      <a:srgbClr val="1C2B1E"/>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Sheet1!$A$2:$A$7</c:f>
              <c:strCache>
                <c:ptCount val="6"/>
                <c:pt idx="0">
                  <c:v>Fertilizer N</c:v>
                </c:pt>
                <c:pt idx="1">
                  <c:v>Fertilizer K</c:v>
                </c:pt>
                <c:pt idx="2">
                  <c:v>Days to Maturity</c:v>
                </c:pt>
                <c:pt idx="3">
                  <c:v>Fertilizer P</c:v>
                </c:pt>
                <c:pt idx="4">
                  <c:v>Avg Temp</c:v>
                </c:pt>
                <c:pt idx="5">
                  <c:v>Light Intensity</c:v>
                </c:pt>
              </c:strCache>
            </c:strRef>
          </c:cat>
          <c:val>
            <c:numRef>
              <c:f>Sheet1!$B$2:$B$7</c:f>
              <c:numCache>
                <c:formatCode>General</c:formatCode>
                <c:ptCount val="6"/>
                <c:pt idx="0">
                  <c:v>0.62</c:v>
                </c:pt>
                <c:pt idx="1">
                  <c:v>0.56000000000000005</c:v>
                </c:pt>
                <c:pt idx="2">
                  <c:v>0.45</c:v>
                </c:pt>
                <c:pt idx="3">
                  <c:v>0.44</c:v>
                </c:pt>
                <c:pt idx="4">
                  <c:v>0.36</c:v>
                </c:pt>
                <c:pt idx="5">
                  <c:v>0.21</c:v>
                </c:pt>
              </c:numCache>
            </c:numRef>
          </c:val>
          <c:extLst>
            <c:ext xmlns:c16="http://schemas.microsoft.com/office/drawing/2014/chart" uri="{C3380CC4-5D6E-409C-BE32-E72D297353CC}">
              <c16:uniqueId val="{00000000-119E-40C7-9225-031CC2977EBA}"/>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950" b="0" i="0" u="none" strike="noStrike">
                <a:solidFill>
                  <a:srgbClr val="5B6B5E"/>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b"/>
        <c:majorGridlines>
          <c:spPr>
            <a:ln w="6350" cap="flat">
              <a:solidFill>
                <a:srgbClr val="E2E8DE"/>
              </a:solidFill>
              <a:prstDash val="solid"/>
              <a:round/>
            </a:ln>
          </c:spPr>
        </c:majorGridlines>
        <c:numFmt formatCode="General" sourceLinked="0"/>
        <c:majorTickMark val="out"/>
        <c:minorTickMark val="none"/>
        <c:tickLblPos val="low"/>
        <c:spPr>
          <a:ln w="12700" cap="flat">
            <a:solidFill>
              <a:srgbClr val="888888"/>
            </a:solidFill>
            <a:prstDash val="solid"/>
            <a:round/>
          </a:ln>
        </c:spPr>
        <c:txPr>
          <a:bodyPr/>
          <a:lstStyle/>
          <a:p>
            <a:pPr>
              <a:defRPr sz="900" b="0" i="0" u="none" strike="noStrike">
                <a:solidFill>
                  <a:srgbClr val="5B6B5E"/>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solidFill>
      <a:srgbClr val="FFFFFF"/>
    </a:solidFill>
    <a:ln>
      <a:noFill/>
    </a:ln>
    <a:effectLst/>
  </c:spPr>
  <c:externalData r:id="rId1">
    <c:autoUpdate val="0"/>
  </c:externalData>
  <c:userShapes r:id="rId2"/>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200" b="0" i="0" u="none" strike="noStrike">
                <a:solidFill>
                  <a:srgbClr val="1C2B1E"/>
                </a:solidFill>
                <a:latin typeface="Arial"/>
              </a:defRPr>
            </a:pPr>
            <a:r>
              <a:rPr lang="en-IN" sz="1200" b="0" i="0" u="none" strike="noStrike">
                <a:solidFill>
                  <a:srgbClr val="1C2B1E"/>
                </a:solidFill>
                <a:latin typeface="Arial"/>
              </a:rPr>
              <a:t>Avg. Days to Maturity</a:t>
            </a:r>
          </a:p>
        </c:rich>
      </c:tx>
      <c:overlay val="0"/>
    </c:title>
    <c:autoTitleDeleted val="0"/>
    <c:plotArea>
      <c:layout/>
      <c:barChart>
        <c:barDir val="col"/>
        <c:grouping val="clustered"/>
        <c:varyColors val="0"/>
        <c:ser>
          <c:idx val="0"/>
          <c:order val="0"/>
          <c:tx>
            <c:strRef>
              <c:f>Sheet1!$B$1</c:f>
              <c:strCache>
                <c:ptCount val="1"/>
                <c:pt idx="0">
                  <c:v>Days</c:v>
                </c:pt>
              </c:strCache>
            </c:strRef>
          </c:tx>
          <c:spPr>
            <a:solidFill>
              <a:srgbClr val="6FA95E"/>
            </a:solidFill>
            <a:effectLst/>
          </c:spPr>
          <c:invertIfNegative val="0"/>
          <c:dLbls>
            <c:numFmt formatCode="#,##0" sourceLinked="0"/>
            <c:spPr>
              <a:noFill/>
              <a:ln>
                <a:noFill/>
              </a:ln>
              <a:effectLst/>
            </c:spPr>
            <c:txPr>
              <a:bodyPr/>
              <a:lstStyle/>
              <a:p>
                <a:pPr>
                  <a:defRPr sz="1000" b="0" i="0" u="none" strike="noStrike">
                    <a:solidFill>
                      <a:srgbClr val="1C2B1E"/>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Sheet1!$A$2:$A$5</c:f>
              <c:strCache>
                <c:ptCount val="4"/>
                <c:pt idx="0">
                  <c:v>Lettuce</c:v>
                </c:pt>
                <c:pt idx="1">
                  <c:v>Cucumber</c:v>
                </c:pt>
                <c:pt idx="2">
                  <c:v>Tomato</c:v>
                </c:pt>
                <c:pt idx="3">
                  <c:v>Pepper</c:v>
                </c:pt>
              </c:strCache>
            </c:strRef>
          </c:cat>
          <c:val>
            <c:numRef>
              <c:f>Sheet1!$B$2:$B$5</c:f>
              <c:numCache>
                <c:formatCode>General</c:formatCode>
                <c:ptCount val="4"/>
                <c:pt idx="0">
                  <c:v>40</c:v>
                </c:pt>
                <c:pt idx="1">
                  <c:v>60.1</c:v>
                </c:pt>
                <c:pt idx="2">
                  <c:v>75</c:v>
                </c:pt>
                <c:pt idx="3">
                  <c:v>84.9</c:v>
                </c:pt>
              </c:numCache>
            </c:numRef>
          </c:val>
          <c:extLst>
            <c:ext xmlns:c16="http://schemas.microsoft.com/office/drawing/2014/chart" uri="{C3380CC4-5D6E-409C-BE32-E72D297353CC}">
              <c16:uniqueId val="{00000000-DE0E-47DF-9E73-B7FF15EAFBAD}"/>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5B6B5E"/>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6350" cap="flat">
              <a:solidFill>
                <a:srgbClr val="E2E8DE"/>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5B6B5E"/>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solidFill>
      <a:srgbClr val="FFFFFF"/>
    </a:solidFill>
    <a:ln>
      <a:noFill/>
    </a:ln>
    <a:effectLst/>
  </c:spPr>
  <c:externalData r:id="rId1">
    <c:autoUpdate val="0"/>
  </c:externalData>
  <c:userShapes r:id="rId2"/>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200" b="0" i="0" u="none" strike="noStrike">
                <a:solidFill>
                  <a:srgbClr val="1C2B1E"/>
                </a:solidFill>
                <a:latin typeface="Arial"/>
              </a:defRPr>
            </a:pPr>
            <a:r>
              <a:rPr lang="en-US" sz="1200" b="0" i="0" u="none" strike="noStrike">
                <a:solidFill>
                  <a:srgbClr val="1C2B1E"/>
                </a:solidFill>
                <a:latin typeface="Arial"/>
              </a:rPr>
              <a:t>Avg. Yield by Greenhouse (kg/m²)</a:t>
            </a:r>
          </a:p>
        </c:rich>
      </c:tx>
      <c:overlay val="0"/>
    </c:title>
    <c:autoTitleDeleted val="0"/>
    <c:plotArea>
      <c:layout/>
      <c:barChart>
        <c:barDir val="col"/>
        <c:grouping val="clustered"/>
        <c:varyColors val="0"/>
        <c:ser>
          <c:idx val="0"/>
          <c:order val="0"/>
          <c:tx>
            <c:strRef>
              <c:f>Sheet1!$B$1</c:f>
              <c:strCache>
                <c:ptCount val="1"/>
                <c:pt idx="0">
                  <c:v>Avg Yield</c:v>
                </c:pt>
              </c:strCache>
            </c:strRef>
          </c:tx>
          <c:spPr>
            <a:solidFill>
              <a:srgbClr val="163A20"/>
            </a:solidFill>
            <a:effectLst/>
          </c:spPr>
          <c:invertIfNegative val="0"/>
          <c:dLbls>
            <c:numFmt formatCode="#,##0" sourceLinked="0"/>
            <c:spPr>
              <a:noFill/>
              <a:ln>
                <a:noFill/>
              </a:ln>
              <a:effectLst/>
            </c:spPr>
            <c:txPr>
              <a:bodyPr/>
              <a:lstStyle/>
              <a:p>
                <a:pPr>
                  <a:defRPr sz="1000" b="0" i="0" u="none" strike="noStrike">
                    <a:solidFill>
                      <a:srgbClr val="1C2B1E"/>
                    </a:solidFill>
                    <a:latin typeface="Arial"/>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Sheet1!$A$2:$A$6</c:f>
              <c:strCache>
                <c:ptCount val="5"/>
                <c:pt idx="0">
                  <c:v>GH-1</c:v>
                </c:pt>
                <c:pt idx="1">
                  <c:v>GH-2</c:v>
                </c:pt>
                <c:pt idx="2">
                  <c:v>GH-3</c:v>
                </c:pt>
                <c:pt idx="3">
                  <c:v>GH-4</c:v>
                </c:pt>
                <c:pt idx="4">
                  <c:v>GH-5</c:v>
                </c:pt>
              </c:strCache>
            </c:strRef>
          </c:cat>
          <c:val>
            <c:numRef>
              <c:f>Sheet1!$B$2:$B$6</c:f>
              <c:numCache>
                <c:formatCode>General</c:formatCode>
                <c:ptCount val="5"/>
                <c:pt idx="0">
                  <c:v>12.6</c:v>
                </c:pt>
                <c:pt idx="1">
                  <c:v>12.44</c:v>
                </c:pt>
                <c:pt idx="2">
                  <c:v>12.41</c:v>
                </c:pt>
                <c:pt idx="3">
                  <c:v>12.21</c:v>
                </c:pt>
                <c:pt idx="4">
                  <c:v>12.25</c:v>
                </c:pt>
              </c:numCache>
            </c:numRef>
          </c:val>
          <c:extLst>
            <c:ext xmlns:c16="http://schemas.microsoft.com/office/drawing/2014/chart" uri="{C3380CC4-5D6E-409C-BE32-E72D297353CC}">
              <c16:uniqueId val="{00000000-B30C-459B-B454-03C6C49CDF2E}"/>
            </c:ext>
          </c:extLst>
        </c:ser>
        <c:dLbls>
          <c:showLegendKey val="0"/>
          <c:showVal val="1"/>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5B6B5E"/>
                </a:solidFill>
                <a:latin typeface="Arial"/>
              </a:defRPr>
            </a:pPr>
            <a:endParaRPr lang="en-US"/>
          </a:p>
        </c:txPr>
        <c:crossAx val="2094734552"/>
        <c:crosses val="autoZero"/>
        <c:auto val="1"/>
        <c:lblAlgn val="ctr"/>
        <c:lblOffset val="100"/>
        <c:noMultiLvlLbl val="1"/>
      </c:catAx>
      <c:valAx>
        <c:axId val="2094734552"/>
        <c:scaling>
          <c:orientation val="minMax"/>
          <c:min val="11"/>
        </c:scaling>
        <c:delete val="0"/>
        <c:axPos val="l"/>
        <c:majorGridlines>
          <c:spPr>
            <a:ln w="6350" cap="flat">
              <a:solidFill>
                <a:srgbClr val="E2E8DE"/>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900" b="0" i="0" u="none" strike="noStrike">
                <a:solidFill>
                  <a:srgbClr val="5B6B5E"/>
                </a:solidFill>
                <a:latin typeface="Arial"/>
              </a:defRPr>
            </a:pPr>
            <a:endParaRPr lang="en-US"/>
          </a:p>
        </c:txPr>
        <c:crossAx val="2094734554"/>
        <c:crosses val="autoZero"/>
        <c:crossBetween val="between"/>
      </c:valAx>
      <c:spPr>
        <a:noFill/>
        <a:ln>
          <a:noFill/>
        </a:ln>
        <a:effectLst/>
      </c:spPr>
    </c:plotArea>
    <c:plotVisOnly val="1"/>
    <c:dispBlanksAs val="span"/>
    <c:showDLblsOverMax val="1"/>
  </c:chart>
  <c:spPr>
    <a:solidFill>
      <a:srgbClr val="FFFFFF"/>
    </a:solidFill>
    <a:ln>
      <a:noFill/>
    </a:ln>
    <a:effectLst/>
  </c:spPr>
  <c:externalData r:id="rId1">
    <c:autoUpdate val="0"/>
  </c:externalData>
  <c:userShapes r:id="rId2"/>
</c:chartSpace>
</file>

<file path=ppt/drawings/_rels/drawing1.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22.png"/><Relationship Id="rId1" Type="http://schemas.openxmlformats.org/officeDocument/2006/relationships/image" Target="../media/image21.png"/></Relationships>
</file>

<file path=ppt/drawings/_rels/drawing2.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image" Target="../media/image24.png"/></Relationships>
</file>

<file path=ppt/drawings/_rels/drawing3.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image" Target="../media/image26.png"/></Relationships>
</file>

<file path=ppt/drawings/_rels/drawing4.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image" Target="../media/image28.png"/></Relationships>
</file>

<file path=ppt/drawings/drawing1.xml><?xml version="1.0" encoding="utf-8"?>
<c:userShapes xmlns:c="http://schemas.openxmlformats.org/drawingml/2006/chart">
  <cdr:relSizeAnchor xmlns:cdr="http://schemas.openxmlformats.org/drawingml/2006/chartDrawing">
    <cdr:from>
      <cdr:x>0</cdr:x>
      <cdr:y>0</cdr:y>
    </cdr:from>
    <cdr:to>
      <cdr:x>1</cdr:x>
      <cdr:y>1</cdr:y>
    </cdr:to>
    <cdr:pic>
      <cdr:nvPicPr>
        <cdr:cNvPr id="2" name="chart">
          <a:extLst xmlns:a="http://schemas.openxmlformats.org/drawingml/2006/main">
            <a:ext uri="{FF2B5EF4-FFF2-40B4-BE49-F238E27FC236}">
              <a16:creationId xmlns:a16="http://schemas.microsoft.com/office/drawing/2014/main" id="{F5A3F8E1-4667-4E2E-7EB8-69A2621B29AD}"/>
            </a:ext>
          </a:extLst>
        </cdr:cNvPr>
        <cdr:cNvPicPr>
          <a:picLocks xmlns:a="http://schemas.openxmlformats.org/drawingml/2006/main" noChangeAspect="1"/>
        </cdr:cNvPicPr>
      </cdr:nvPicPr>
      <cdr:blipFill>
        <a:blip xmlns:a="http://schemas.openxmlformats.org/drawingml/2006/main" xmlns:r="http://schemas.openxmlformats.org/officeDocument/2006/relationships" r:embed="rId1"/>
        <a:stretch xmlns:a="http://schemas.openxmlformats.org/drawingml/2006/main">
          <a:fillRect/>
        </a:stretch>
      </cdr:blipFill>
      <cdr:spPr>
        <a:xfrm xmlns:a="http://schemas.openxmlformats.org/drawingml/2006/main">
          <a:off x="0" y="0"/>
          <a:ext cx="6950042" cy="4077053"/>
        </a:xfrm>
        <a:prstGeom xmlns:a="http://schemas.openxmlformats.org/drawingml/2006/main" prst="rect">
          <a:avLst/>
        </a:prstGeom>
      </cdr:spPr>
    </cdr:pic>
  </cdr:relSizeAnchor>
  <cdr:relSizeAnchor xmlns:cdr="http://schemas.openxmlformats.org/drawingml/2006/chartDrawing">
    <cdr:from>
      <cdr:x>0</cdr:x>
      <cdr:y>0</cdr:y>
    </cdr:from>
    <cdr:to>
      <cdr:x>1</cdr:x>
      <cdr:y>1</cdr:y>
    </cdr:to>
    <cdr:pic>
      <cdr:nvPicPr>
        <cdr:cNvPr id="3" name="chart">
          <a:extLst xmlns:a="http://schemas.openxmlformats.org/drawingml/2006/main">
            <a:ext uri="{FF2B5EF4-FFF2-40B4-BE49-F238E27FC236}">
              <a16:creationId xmlns:a16="http://schemas.microsoft.com/office/drawing/2014/main" id="{9C1D62B7-F726-FB14-638B-0393F96A6AA8}"/>
            </a:ext>
          </a:extLst>
        </cdr:cNvPr>
        <cdr:cNvPicPr>
          <a:picLocks xmlns:a="http://schemas.openxmlformats.org/drawingml/2006/main" noChangeAspect="1"/>
        </cdr:cNvPicPr>
      </cdr:nvPicPr>
      <cdr:blipFill>
        <a:blip xmlns:a="http://schemas.openxmlformats.org/drawingml/2006/main" xmlns:r="http://schemas.openxmlformats.org/officeDocument/2006/relationships" r:embed="rId2"/>
        <a:stretch xmlns:a="http://schemas.openxmlformats.org/drawingml/2006/main">
          <a:fillRect/>
        </a:stretch>
      </cdr:blipFill>
      <cdr:spPr>
        <a:xfrm xmlns:a="http://schemas.openxmlformats.org/drawingml/2006/main">
          <a:off x="0" y="0"/>
          <a:ext cx="6911939" cy="5044877"/>
        </a:xfrm>
        <a:prstGeom xmlns:a="http://schemas.openxmlformats.org/drawingml/2006/main" prst="rect">
          <a:avLst/>
        </a:prstGeom>
      </cdr:spPr>
    </cdr:pic>
  </cdr:relSizeAnchor>
  <cdr:relSizeAnchor xmlns:cdr="http://schemas.openxmlformats.org/drawingml/2006/chartDrawing">
    <cdr:from>
      <cdr:x>0</cdr:x>
      <cdr:y>0</cdr:y>
    </cdr:from>
    <cdr:to>
      <cdr:x>1</cdr:x>
      <cdr:y>1</cdr:y>
    </cdr:to>
    <cdr:pic>
      <cdr:nvPicPr>
        <cdr:cNvPr id="4" name="chart">
          <a:extLst xmlns:a="http://schemas.openxmlformats.org/drawingml/2006/main">
            <a:ext uri="{FF2B5EF4-FFF2-40B4-BE49-F238E27FC236}">
              <a16:creationId xmlns:a16="http://schemas.microsoft.com/office/drawing/2014/main" id="{3597AF96-726F-6CFC-E106-6C4873437617}"/>
            </a:ext>
          </a:extLst>
        </cdr:cNvPr>
        <cdr:cNvPicPr>
          <a:picLocks xmlns:a="http://schemas.openxmlformats.org/drawingml/2006/main" noChangeAspect="1"/>
        </cdr:cNvPicPr>
      </cdr:nvPicPr>
      <cdr:blipFill>
        <a:blip xmlns:a="http://schemas.openxmlformats.org/drawingml/2006/main" xmlns:r="http://schemas.openxmlformats.org/officeDocument/2006/relationships" r:embed="rId3"/>
        <a:stretch xmlns:a="http://schemas.openxmlformats.org/drawingml/2006/main">
          <a:fillRect/>
        </a:stretch>
      </cdr:blipFill>
      <cdr:spPr>
        <a:xfrm xmlns:a="http://schemas.openxmlformats.org/drawingml/2006/main">
          <a:off x="0" y="0"/>
          <a:ext cx="15742857" cy="6695238"/>
        </a:xfrm>
        <a:prstGeom xmlns:a="http://schemas.openxmlformats.org/drawingml/2006/main" prst="rect">
          <a:avLst/>
        </a:prstGeom>
      </cdr:spPr>
    </cdr:pic>
  </cdr:relSizeAnchor>
</c:userShapes>
</file>

<file path=ppt/drawings/drawing2.xml><?xml version="1.0" encoding="utf-8"?>
<c:userShapes xmlns:c="http://schemas.openxmlformats.org/drawingml/2006/chart">
  <cdr:relSizeAnchor xmlns:cdr="http://schemas.openxmlformats.org/drawingml/2006/chartDrawing">
    <cdr:from>
      <cdr:x>0</cdr:x>
      <cdr:y>0</cdr:y>
    </cdr:from>
    <cdr:to>
      <cdr:x>1</cdr:x>
      <cdr:y>1</cdr:y>
    </cdr:to>
    <cdr:pic>
      <cdr:nvPicPr>
        <cdr:cNvPr id="2" name="chart">
          <a:extLst xmlns:a="http://schemas.openxmlformats.org/drawingml/2006/main">
            <a:ext uri="{FF2B5EF4-FFF2-40B4-BE49-F238E27FC236}">
              <a16:creationId xmlns:a16="http://schemas.microsoft.com/office/drawing/2014/main" id="{A7913DBA-EA78-9788-BB05-A9ABDD37A5A0}"/>
            </a:ext>
          </a:extLst>
        </cdr:cNvPr>
        <cdr:cNvPicPr>
          <a:picLocks xmlns:a="http://schemas.openxmlformats.org/drawingml/2006/main" noChangeAspect="1"/>
        </cdr:cNvPicPr>
      </cdr:nvPicPr>
      <cdr:blipFill>
        <a:blip xmlns:a="http://schemas.openxmlformats.org/drawingml/2006/main" xmlns:r="http://schemas.openxmlformats.org/officeDocument/2006/relationships" r:embed="rId1"/>
        <a:stretch xmlns:a="http://schemas.openxmlformats.org/drawingml/2006/main">
          <a:fillRect/>
        </a:stretch>
      </cdr:blipFill>
      <cdr:spPr>
        <a:xfrm xmlns:a="http://schemas.openxmlformats.org/drawingml/2006/main">
          <a:off x="0" y="0"/>
          <a:ext cx="6942422" cy="5121084"/>
        </a:xfrm>
        <a:prstGeom xmlns:a="http://schemas.openxmlformats.org/drawingml/2006/main" prst="rect">
          <a:avLst/>
        </a:prstGeom>
      </cdr:spPr>
    </cdr:pic>
  </cdr:relSizeAnchor>
  <cdr:relSizeAnchor xmlns:cdr="http://schemas.openxmlformats.org/drawingml/2006/chartDrawing">
    <cdr:from>
      <cdr:x>0</cdr:x>
      <cdr:y>0</cdr:y>
    </cdr:from>
    <cdr:to>
      <cdr:x>1</cdr:x>
      <cdr:y>1</cdr:y>
    </cdr:to>
    <cdr:pic>
      <cdr:nvPicPr>
        <cdr:cNvPr id="3" name="chart">
          <a:extLst xmlns:a="http://schemas.openxmlformats.org/drawingml/2006/main">
            <a:ext uri="{FF2B5EF4-FFF2-40B4-BE49-F238E27FC236}">
              <a16:creationId xmlns:a16="http://schemas.microsoft.com/office/drawing/2014/main" id="{300ECCDF-8D3D-98D5-5510-CF515B06EC3F}"/>
            </a:ext>
          </a:extLst>
        </cdr:cNvPr>
        <cdr:cNvPicPr>
          <a:picLocks xmlns:a="http://schemas.openxmlformats.org/drawingml/2006/main" noChangeAspect="1"/>
        </cdr:cNvPicPr>
      </cdr:nvPicPr>
      <cdr:blipFill>
        <a:blip xmlns:a="http://schemas.openxmlformats.org/drawingml/2006/main" xmlns:r="http://schemas.openxmlformats.org/officeDocument/2006/relationships" r:embed="rId2"/>
        <a:stretch xmlns:a="http://schemas.openxmlformats.org/drawingml/2006/main">
          <a:fillRect/>
        </a:stretch>
      </cdr:blipFill>
      <cdr:spPr>
        <a:xfrm xmlns:a="http://schemas.openxmlformats.org/drawingml/2006/main">
          <a:off x="0" y="0"/>
          <a:ext cx="15580952" cy="6723809"/>
        </a:xfrm>
        <a:prstGeom xmlns:a="http://schemas.openxmlformats.org/drawingml/2006/main" prst="rect">
          <a:avLst/>
        </a:prstGeom>
      </cdr:spPr>
    </cdr:pic>
  </cdr:relSizeAnchor>
</c:userShapes>
</file>

<file path=ppt/drawings/drawing3.xml><?xml version="1.0" encoding="utf-8"?>
<c:userShapes xmlns:c="http://schemas.openxmlformats.org/drawingml/2006/chart">
  <cdr:relSizeAnchor xmlns:cdr="http://schemas.openxmlformats.org/drawingml/2006/chartDrawing">
    <cdr:from>
      <cdr:x>0</cdr:x>
      <cdr:y>0</cdr:y>
    </cdr:from>
    <cdr:to>
      <cdr:x>1</cdr:x>
      <cdr:y>1</cdr:y>
    </cdr:to>
    <cdr:pic>
      <cdr:nvPicPr>
        <cdr:cNvPr id="2" name="chart">
          <a:extLst xmlns:a="http://schemas.openxmlformats.org/drawingml/2006/main">
            <a:ext uri="{FF2B5EF4-FFF2-40B4-BE49-F238E27FC236}">
              <a16:creationId xmlns:a16="http://schemas.microsoft.com/office/drawing/2014/main" id="{7469AC2F-41DC-4383-D8D1-BB31EB395DBD}"/>
            </a:ext>
          </a:extLst>
        </cdr:cNvPr>
        <cdr:cNvPicPr>
          <a:picLocks xmlns:a="http://schemas.openxmlformats.org/drawingml/2006/main" noChangeAspect="1"/>
        </cdr:cNvPicPr>
      </cdr:nvPicPr>
      <cdr:blipFill>
        <a:blip xmlns:a="http://schemas.openxmlformats.org/drawingml/2006/main" xmlns:r="http://schemas.openxmlformats.org/officeDocument/2006/relationships" r:embed="rId1"/>
        <a:stretch xmlns:a="http://schemas.openxmlformats.org/drawingml/2006/main">
          <a:fillRect/>
        </a:stretch>
      </cdr:blipFill>
      <cdr:spPr>
        <a:xfrm xmlns:a="http://schemas.openxmlformats.org/drawingml/2006/main">
          <a:off x="0" y="0"/>
          <a:ext cx="6911939" cy="4999153"/>
        </a:xfrm>
        <a:prstGeom xmlns:a="http://schemas.openxmlformats.org/drawingml/2006/main" prst="rect">
          <a:avLst/>
        </a:prstGeom>
      </cdr:spPr>
    </cdr:pic>
  </cdr:relSizeAnchor>
  <cdr:relSizeAnchor xmlns:cdr="http://schemas.openxmlformats.org/drawingml/2006/chartDrawing">
    <cdr:from>
      <cdr:x>0</cdr:x>
      <cdr:y>0</cdr:y>
    </cdr:from>
    <cdr:to>
      <cdr:x>1</cdr:x>
      <cdr:y>1</cdr:y>
    </cdr:to>
    <cdr:pic>
      <cdr:nvPicPr>
        <cdr:cNvPr id="3" name="chart">
          <a:extLst xmlns:a="http://schemas.openxmlformats.org/drawingml/2006/main">
            <a:ext uri="{FF2B5EF4-FFF2-40B4-BE49-F238E27FC236}">
              <a16:creationId xmlns:a16="http://schemas.microsoft.com/office/drawing/2014/main" id="{436170B8-5C05-FCA1-D93F-AD53BFB336C7}"/>
            </a:ext>
          </a:extLst>
        </cdr:cNvPr>
        <cdr:cNvPicPr>
          <a:picLocks xmlns:a="http://schemas.openxmlformats.org/drawingml/2006/main" noChangeAspect="1"/>
        </cdr:cNvPicPr>
      </cdr:nvPicPr>
      <cdr:blipFill>
        <a:blip xmlns:a="http://schemas.openxmlformats.org/drawingml/2006/main" xmlns:r="http://schemas.openxmlformats.org/officeDocument/2006/relationships" r:embed="rId2"/>
        <a:stretch xmlns:a="http://schemas.openxmlformats.org/drawingml/2006/main">
          <a:fillRect/>
        </a:stretch>
      </cdr:blipFill>
      <cdr:spPr>
        <a:xfrm xmlns:a="http://schemas.openxmlformats.org/drawingml/2006/main">
          <a:off x="0" y="0"/>
          <a:ext cx="15723809" cy="6647619"/>
        </a:xfrm>
        <a:prstGeom xmlns:a="http://schemas.openxmlformats.org/drawingml/2006/main" prst="rect">
          <a:avLst/>
        </a:prstGeom>
      </cdr:spPr>
    </cdr:pic>
  </cdr:relSizeAnchor>
</c:userShapes>
</file>

<file path=ppt/drawings/drawing4.xml><?xml version="1.0" encoding="utf-8"?>
<c:userShapes xmlns:c="http://schemas.openxmlformats.org/drawingml/2006/chart">
  <cdr:relSizeAnchor xmlns:cdr="http://schemas.openxmlformats.org/drawingml/2006/chartDrawing">
    <cdr:from>
      <cdr:x>0</cdr:x>
      <cdr:y>0</cdr:y>
    </cdr:from>
    <cdr:to>
      <cdr:x>1</cdr:x>
      <cdr:y>1</cdr:y>
    </cdr:to>
    <cdr:pic>
      <cdr:nvPicPr>
        <cdr:cNvPr id="2" name="chart">
          <a:extLst xmlns:a="http://schemas.openxmlformats.org/drawingml/2006/main">
            <a:ext uri="{FF2B5EF4-FFF2-40B4-BE49-F238E27FC236}">
              <a16:creationId xmlns:a16="http://schemas.microsoft.com/office/drawing/2014/main" id="{5388C9BF-61B8-A605-C250-3E750A0ACA66}"/>
            </a:ext>
          </a:extLst>
        </cdr:cNvPr>
        <cdr:cNvPicPr>
          <a:picLocks xmlns:a="http://schemas.openxmlformats.org/drawingml/2006/main" noChangeAspect="1"/>
        </cdr:cNvPicPr>
      </cdr:nvPicPr>
      <cdr:blipFill>
        <a:blip xmlns:a="http://schemas.openxmlformats.org/drawingml/2006/main" xmlns:r="http://schemas.openxmlformats.org/officeDocument/2006/relationships" r:embed="rId1"/>
        <a:stretch xmlns:a="http://schemas.openxmlformats.org/drawingml/2006/main">
          <a:fillRect/>
        </a:stretch>
      </cdr:blipFill>
      <cdr:spPr>
        <a:xfrm xmlns:a="http://schemas.openxmlformats.org/drawingml/2006/main">
          <a:off x="0" y="0"/>
          <a:ext cx="7026249" cy="4511431"/>
        </a:xfrm>
        <a:prstGeom xmlns:a="http://schemas.openxmlformats.org/drawingml/2006/main" prst="rect">
          <a:avLst/>
        </a:prstGeom>
      </cdr:spPr>
    </cdr:pic>
  </cdr:relSizeAnchor>
  <cdr:relSizeAnchor xmlns:cdr="http://schemas.openxmlformats.org/drawingml/2006/chartDrawing">
    <cdr:from>
      <cdr:x>0</cdr:x>
      <cdr:y>0</cdr:y>
    </cdr:from>
    <cdr:to>
      <cdr:x>1</cdr:x>
      <cdr:y>1</cdr:y>
    </cdr:to>
    <cdr:pic>
      <cdr:nvPicPr>
        <cdr:cNvPr id="3" name="chart">
          <a:extLst xmlns:a="http://schemas.openxmlformats.org/drawingml/2006/main">
            <a:ext uri="{FF2B5EF4-FFF2-40B4-BE49-F238E27FC236}">
              <a16:creationId xmlns:a16="http://schemas.microsoft.com/office/drawing/2014/main" id="{FDF4D9DE-9BF7-4F6A-9D2F-7DACE47987FE}"/>
            </a:ext>
          </a:extLst>
        </cdr:cNvPr>
        <cdr:cNvPicPr>
          <a:picLocks xmlns:a="http://schemas.openxmlformats.org/drawingml/2006/main" noChangeAspect="1"/>
        </cdr:cNvPicPr>
      </cdr:nvPicPr>
      <cdr:blipFill>
        <a:blip xmlns:a="http://schemas.openxmlformats.org/drawingml/2006/main" xmlns:r="http://schemas.openxmlformats.org/officeDocument/2006/relationships" r:embed="rId2"/>
        <a:stretch xmlns:a="http://schemas.openxmlformats.org/drawingml/2006/main">
          <a:fillRect/>
        </a:stretch>
      </cdr:blipFill>
      <cdr:spPr>
        <a:xfrm xmlns:a="http://schemas.openxmlformats.org/drawingml/2006/main">
          <a:off x="0" y="0"/>
          <a:ext cx="15590476" cy="6666667"/>
        </a:xfrm>
        <a:prstGeom xmlns:a="http://schemas.openxmlformats.org/drawingml/2006/main" prst="rect">
          <a:avLst/>
        </a:prstGeom>
      </cdr:spPr>
    </cdr:pic>
  </cdr:relSizeAnchor>
</c:userShape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812578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IN"/>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curtains"/>
      </p:transition>
    </mc:Choice>
    <mc:Fallback xmlns="">
      <p:transition spd="slow">
        <p:fade/>
      </p:transition>
    </mc:Fallback>
  </mc:AlternateContent>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mc:AlternateContent xmlns:mc="http://schemas.openxmlformats.org/markup-compatibility/2006" xmlns:p15="http://schemas.microsoft.com/office/powerpoint/2012/main">
    <mc:Choice Requires="p15">
      <p:transition xmlns:p14="http://schemas.microsoft.com/office/powerpoint/2010/main" spd="slow" p14:dur="2000">
        <p15:prstTrans prst="curtains"/>
      </p:transition>
    </mc:Choice>
    <mc:Fallback xmlns="">
      <p:transition spd="slow">
        <p:fade/>
      </p:transition>
    </mc:Fallback>
  </mc:AlternateConten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hyperlink" Target="https://pixabay.com/en/greenhouse-slide-tunnel-crops-2546692/" TargetMode="External"/><Relationship Id="rId4" Type="http://schemas.openxmlformats.org/officeDocument/2006/relationships/image" Target="../media/image2.jp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1.xml"/><Relationship Id="rId5" Type="http://schemas.openxmlformats.org/officeDocument/2006/relationships/image" Target="../media/image6.png"/><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1.xml"/><Relationship Id="rId5" Type="http://schemas.openxmlformats.org/officeDocument/2006/relationships/image" Target="../media/image9.png"/><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7" Type="http://schemas.openxmlformats.org/officeDocument/2006/relationships/image" Target="../media/image14.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_rels/slide7.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8.xml"/><Relationship Id="rId1" Type="http://schemas.openxmlformats.org/officeDocument/2006/relationships/slideLayout" Target="../slideLayouts/slideLayout1.xml"/><Relationship Id="rId6" Type="http://schemas.openxmlformats.org/officeDocument/2006/relationships/image" Target="../media/image18.png"/><Relationship Id="rId5" Type="http://schemas.openxmlformats.org/officeDocument/2006/relationships/image" Target="../media/image17.png"/><Relationship Id="rId4" Type="http://schemas.openxmlformats.org/officeDocument/2006/relationships/image" Target="../media/image16.png"/></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7" Type="http://schemas.openxmlformats.org/officeDocument/2006/relationships/image" Target="../media/image11.pn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12.png"/></Relationships>
</file>

<file path=ppt/slides/_rels/slide10.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chart" Target="../charts/chart5.xml"/><Relationship Id="rId5" Type="http://schemas.openxmlformats.org/officeDocument/2006/relationships/chart" Target="../charts/chart4.xml"/><Relationship Id="rId4" Type="http://schemas.openxmlformats.org/officeDocument/2006/relationships/chart" Target="../charts/chart3.xml"/></Relationships>
</file>

<file path=ppt/slides/_rels/slide1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0.png"/><Relationship Id="rId4" Type="http://schemas.openxmlformats.org/officeDocument/2006/relationships/image" Target="../media/image9.png"/></Relationships>
</file>

<file path=ppt/slides/_rels/slide1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2.xml"/><Relationship Id="rId1" Type="http://schemas.openxmlformats.org/officeDocument/2006/relationships/slideLayout" Target="../slideLayouts/slideLayout1.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63A20"/>
        </a:solidFill>
        <a:effectLst/>
      </p:bgPr>
    </p:bg>
    <p:spTree>
      <p:nvGrpSpPr>
        <p:cNvPr id="1" name=""/>
        <p:cNvGrpSpPr/>
        <p:nvPr/>
      </p:nvGrpSpPr>
      <p:grpSpPr>
        <a:xfrm>
          <a:off x="0" y="0"/>
          <a:ext cx="0" cy="0"/>
          <a:chOff x="0" y="0"/>
          <a:chExt cx="0" cy="0"/>
        </a:xfrm>
      </p:grpSpPr>
      <p:sp>
        <p:nvSpPr>
          <p:cNvPr id="2" name="Shape 0"/>
          <p:cNvSpPr/>
          <p:nvPr/>
        </p:nvSpPr>
        <p:spPr>
          <a:xfrm>
            <a:off x="-2550795" y="-1773936"/>
            <a:ext cx="7315200" cy="7315200"/>
          </a:xfrm>
          <a:prstGeom prst="ellipse">
            <a:avLst/>
          </a:prstGeom>
          <a:solidFill>
            <a:srgbClr val="1F4D2C">
              <a:alpha val="60000"/>
            </a:srgbClr>
          </a:solidFill>
          <a:ln/>
        </p:spPr>
        <p:txBody>
          <a:bodyPr/>
          <a:lstStyle/>
          <a:p>
            <a:endParaRPr lang="en-IN"/>
          </a:p>
        </p:txBody>
      </p:sp>
      <p:sp>
        <p:nvSpPr>
          <p:cNvPr id="3" name="Shape 1"/>
          <p:cNvSpPr/>
          <p:nvPr/>
        </p:nvSpPr>
        <p:spPr>
          <a:xfrm>
            <a:off x="9454515" y="3857625"/>
            <a:ext cx="6400800" cy="6400800"/>
          </a:xfrm>
          <a:prstGeom prst="ellipse">
            <a:avLst/>
          </a:prstGeom>
          <a:solidFill>
            <a:srgbClr val="6FA95E">
              <a:alpha val="30000"/>
            </a:srgbClr>
          </a:solidFill>
          <a:ln/>
        </p:spPr>
        <p:txBody>
          <a:bodyPr/>
          <a:lstStyle/>
          <a:p>
            <a:endParaRPr lang="en-IN"/>
          </a:p>
        </p:txBody>
      </p:sp>
      <p:sp>
        <p:nvSpPr>
          <p:cNvPr id="4" name="Shape 2"/>
          <p:cNvSpPr/>
          <p:nvPr/>
        </p:nvSpPr>
        <p:spPr>
          <a:xfrm>
            <a:off x="822960" y="822960"/>
            <a:ext cx="822960" cy="822960"/>
          </a:xfrm>
          <a:prstGeom prst="ellipse">
            <a:avLst/>
          </a:prstGeom>
          <a:solidFill>
            <a:srgbClr val="6FA95E"/>
          </a:solidFill>
          <a:ln/>
        </p:spPr>
        <p:txBody>
          <a:bodyPr/>
          <a:lstStyle/>
          <a:p>
            <a:endParaRPr lang="en-IN"/>
          </a:p>
        </p:txBody>
      </p:sp>
      <p:pic>
        <p:nvPicPr>
          <p:cNvPr id="5" name="Image 0" descr="preencoded.png"/>
          <p:cNvPicPr>
            <a:picLocks noChangeAspect="1"/>
          </p:cNvPicPr>
          <p:nvPr/>
        </p:nvPicPr>
        <p:blipFill>
          <a:blip r:embed="rId3"/>
          <a:stretch>
            <a:fillRect/>
          </a:stretch>
        </p:blipFill>
        <p:spPr>
          <a:xfrm>
            <a:off x="1036930" y="1036930"/>
            <a:ext cx="395021" cy="395021"/>
          </a:xfrm>
          <a:prstGeom prst="rect">
            <a:avLst/>
          </a:prstGeom>
        </p:spPr>
      </p:pic>
      <p:sp>
        <p:nvSpPr>
          <p:cNvPr id="6" name="Text 3"/>
          <p:cNvSpPr/>
          <p:nvPr/>
        </p:nvSpPr>
        <p:spPr>
          <a:xfrm>
            <a:off x="822960" y="2331720"/>
            <a:ext cx="9601200" cy="365760"/>
          </a:xfrm>
          <a:prstGeom prst="rect">
            <a:avLst/>
          </a:prstGeom>
          <a:noFill/>
          <a:ln/>
        </p:spPr>
        <p:txBody>
          <a:bodyPr wrap="square" lIns="0" tIns="0" rIns="0" bIns="0" rtlCol="0" anchor="ctr"/>
          <a:lstStyle/>
          <a:p>
            <a:pPr marL="0" indent="0">
              <a:buNone/>
            </a:pPr>
            <a:r>
              <a:rPr lang="en-US" sz="1400" kern="0" spc="200" dirty="0">
                <a:solidFill>
                  <a:srgbClr val="9FC79A"/>
                </a:solidFill>
                <a:latin typeface="Calibri" pitchFamily="34" charset="0"/>
                <a:ea typeface="Calibri" pitchFamily="34" charset="-122"/>
                <a:cs typeface="Calibri" pitchFamily="34" charset="-120"/>
              </a:rPr>
              <a:t>A STUDY ON CONTROLLED-ENVIRONMENT AGRICULTURE</a:t>
            </a:r>
            <a:endParaRPr lang="en-US" sz="1400" dirty="0"/>
          </a:p>
        </p:txBody>
      </p:sp>
      <p:sp>
        <p:nvSpPr>
          <p:cNvPr id="7" name="Text 4"/>
          <p:cNvSpPr/>
          <p:nvPr/>
        </p:nvSpPr>
        <p:spPr>
          <a:xfrm>
            <a:off x="777240" y="2697480"/>
            <a:ext cx="10515600" cy="1371600"/>
          </a:xfrm>
          <a:prstGeom prst="rect">
            <a:avLst/>
          </a:prstGeom>
          <a:noFill/>
          <a:ln/>
        </p:spPr>
        <p:txBody>
          <a:bodyPr wrap="square" lIns="0" tIns="0" rIns="0" bIns="0" rtlCol="0" anchor="ctr"/>
          <a:lstStyle/>
          <a:p>
            <a:pPr marL="0" indent="0">
              <a:buNone/>
            </a:pPr>
            <a:r>
              <a:rPr lang="en-US" sz="4800" b="1" dirty="0">
                <a:solidFill>
                  <a:srgbClr val="FFFFFF"/>
                </a:solidFill>
                <a:latin typeface="Cambria" pitchFamily="34" charset="0"/>
                <a:ea typeface="Cambria" pitchFamily="34" charset="-122"/>
                <a:cs typeface="Cambria" pitchFamily="34" charset="-120"/>
              </a:rPr>
              <a:t>Greenhouse Crop Production</a:t>
            </a:r>
            <a:endParaRPr lang="en-US" sz="4800" dirty="0"/>
          </a:p>
        </p:txBody>
      </p:sp>
      <p:sp>
        <p:nvSpPr>
          <p:cNvPr id="8" name="Text 5"/>
          <p:cNvSpPr/>
          <p:nvPr/>
        </p:nvSpPr>
        <p:spPr>
          <a:xfrm>
            <a:off x="822960" y="3703320"/>
            <a:ext cx="9601200" cy="457200"/>
          </a:xfrm>
          <a:prstGeom prst="rect">
            <a:avLst/>
          </a:prstGeom>
          <a:noFill/>
          <a:ln/>
        </p:spPr>
        <p:txBody>
          <a:bodyPr wrap="square" lIns="0" tIns="0" rIns="0" bIns="0" rtlCol="0" anchor="ctr"/>
          <a:lstStyle/>
          <a:p>
            <a:pPr marL="0" indent="0">
              <a:buNone/>
            </a:pPr>
            <a:r>
              <a:rPr lang="en-US" sz="1700" i="1" dirty="0">
                <a:solidFill>
                  <a:srgbClr val="D7E8D3"/>
                </a:solidFill>
                <a:latin typeface="Calibri" pitchFamily="34" charset="0"/>
                <a:ea typeface="Calibri" pitchFamily="34" charset="-122"/>
                <a:cs typeface="Calibri" pitchFamily="34" charset="-120"/>
              </a:rPr>
              <a:t>Data-Driven Analysis of Yield, Climate &amp; Cultivation Practices</a:t>
            </a:r>
            <a:endParaRPr lang="en-US" sz="1700" dirty="0"/>
          </a:p>
        </p:txBody>
      </p:sp>
      <p:sp>
        <p:nvSpPr>
          <p:cNvPr id="9" name="Shape 6"/>
          <p:cNvSpPr/>
          <p:nvPr/>
        </p:nvSpPr>
        <p:spPr>
          <a:xfrm>
            <a:off x="842010" y="4617720"/>
            <a:ext cx="10515600" cy="1691640"/>
          </a:xfrm>
          <a:prstGeom prst="roundRect">
            <a:avLst>
              <a:gd name="adj" fmla="val 4324"/>
            </a:avLst>
          </a:prstGeom>
          <a:solidFill>
            <a:srgbClr val="FFFFFF"/>
          </a:solidFill>
          <a:ln/>
          <a:effectLst>
            <a:outerShdw blurRad="127000" dist="38100" dir="5400000" algn="bl" rotWithShape="0">
              <a:srgbClr val="000000">
                <a:alpha val="25000"/>
              </a:srgbClr>
            </a:outerShdw>
          </a:effectLst>
        </p:spPr>
        <p:txBody>
          <a:bodyPr/>
          <a:lstStyle/>
          <a:p>
            <a:r>
              <a:rPr lang="en-IN" dirty="0"/>
              <a:t>            </a:t>
            </a:r>
          </a:p>
        </p:txBody>
      </p:sp>
      <p:sp>
        <p:nvSpPr>
          <p:cNvPr id="10" name="Text 7"/>
          <p:cNvSpPr/>
          <p:nvPr/>
        </p:nvSpPr>
        <p:spPr>
          <a:xfrm>
            <a:off x="1143000" y="4846320"/>
            <a:ext cx="4617720" cy="228600"/>
          </a:xfrm>
          <a:prstGeom prst="rect">
            <a:avLst/>
          </a:prstGeom>
          <a:noFill/>
          <a:ln/>
        </p:spPr>
        <p:txBody>
          <a:bodyPr wrap="square" lIns="0" tIns="0" rIns="0" bIns="0" rtlCol="0" anchor="ctr"/>
          <a:lstStyle/>
          <a:p>
            <a:pPr marL="0" indent="0">
              <a:buNone/>
            </a:pPr>
            <a:r>
              <a:rPr lang="en-US" sz="1050" b="1" kern="0" spc="150" dirty="0">
                <a:solidFill>
                  <a:srgbClr val="6FA95E"/>
                </a:solidFill>
                <a:latin typeface="Calibri" pitchFamily="34" charset="0"/>
                <a:ea typeface="Calibri" pitchFamily="34" charset="-122"/>
                <a:cs typeface="Calibri" pitchFamily="34" charset="-120"/>
              </a:rPr>
              <a:t>NAME</a:t>
            </a:r>
            <a:endParaRPr lang="en-US" sz="1050" dirty="0"/>
          </a:p>
        </p:txBody>
      </p:sp>
      <p:sp>
        <p:nvSpPr>
          <p:cNvPr id="11" name="Text 8"/>
          <p:cNvSpPr/>
          <p:nvPr/>
        </p:nvSpPr>
        <p:spPr>
          <a:xfrm>
            <a:off x="1143000" y="5102352"/>
            <a:ext cx="4617720" cy="292608"/>
          </a:xfrm>
          <a:prstGeom prst="rect">
            <a:avLst/>
          </a:prstGeom>
          <a:noFill/>
          <a:ln/>
        </p:spPr>
        <p:txBody>
          <a:bodyPr wrap="square" lIns="0" tIns="0" rIns="0" bIns="0" rtlCol="0" anchor="ctr"/>
          <a:lstStyle/>
          <a:p>
            <a:pPr marL="0" indent="0">
              <a:buNone/>
            </a:pPr>
            <a:endParaRPr lang="en-US" sz="1500" dirty="0"/>
          </a:p>
        </p:txBody>
      </p:sp>
      <p:sp>
        <p:nvSpPr>
          <p:cNvPr id="12" name="Shape 9"/>
          <p:cNvSpPr/>
          <p:nvPr/>
        </p:nvSpPr>
        <p:spPr>
          <a:xfrm>
            <a:off x="1143000" y="5394960"/>
            <a:ext cx="4617720" cy="0"/>
          </a:xfrm>
          <a:prstGeom prst="line">
            <a:avLst/>
          </a:prstGeom>
          <a:noFill/>
          <a:ln w="12700">
            <a:solidFill>
              <a:srgbClr val="C9D8C6"/>
            </a:solidFill>
            <a:prstDash val="solid"/>
          </a:ln>
        </p:spPr>
        <p:txBody>
          <a:bodyPr/>
          <a:lstStyle/>
          <a:p>
            <a:endParaRPr lang="en-IN"/>
          </a:p>
        </p:txBody>
      </p:sp>
      <p:sp>
        <p:nvSpPr>
          <p:cNvPr id="13" name="Text 10"/>
          <p:cNvSpPr/>
          <p:nvPr/>
        </p:nvSpPr>
        <p:spPr>
          <a:xfrm>
            <a:off x="6400800" y="4846320"/>
            <a:ext cx="4617720" cy="228600"/>
          </a:xfrm>
          <a:prstGeom prst="rect">
            <a:avLst/>
          </a:prstGeom>
          <a:noFill/>
          <a:ln/>
        </p:spPr>
        <p:txBody>
          <a:bodyPr wrap="square" lIns="0" tIns="0" rIns="0" bIns="0" rtlCol="0" anchor="ctr"/>
          <a:lstStyle/>
          <a:p>
            <a:pPr marL="0" indent="0">
              <a:buNone/>
            </a:pPr>
            <a:r>
              <a:rPr lang="en-US" sz="1050" b="1" kern="0" spc="150" dirty="0">
                <a:solidFill>
                  <a:srgbClr val="6FA95E"/>
                </a:solidFill>
                <a:latin typeface="Calibri" pitchFamily="34" charset="0"/>
                <a:ea typeface="Calibri" pitchFamily="34" charset="-122"/>
                <a:cs typeface="Calibri" pitchFamily="34" charset="-120"/>
              </a:rPr>
              <a:t>COLLEGE NAME</a:t>
            </a:r>
            <a:endParaRPr lang="en-US" sz="1050" dirty="0"/>
          </a:p>
        </p:txBody>
      </p:sp>
      <p:sp>
        <p:nvSpPr>
          <p:cNvPr id="14" name="Text 11"/>
          <p:cNvSpPr/>
          <p:nvPr/>
        </p:nvSpPr>
        <p:spPr>
          <a:xfrm>
            <a:off x="6400800" y="5102352"/>
            <a:ext cx="4617720" cy="292608"/>
          </a:xfrm>
          <a:prstGeom prst="rect">
            <a:avLst/>
          </a:prstGeom>
          <a:noFill/>
          <a:ln/>
        </p:spPr>
        <p:txBody>
          <a:bodyPr wrap="square" lIns="0" tIns="0" rIns="0" bIns="0" rtlCol="0" anchor="ctr"/>
          <a:lstStyle/>
          <a:p>
            <a:pPr marL="0" indent="0">
              <a:buNone/>
            </a:pPr>
            <a:endParaRPr lang="en-US" sz="1500" dirty="0"/>
          </a:p>
        </p:txBody>
      </p:sp>
      <p:sp>
        <p:nvSpPr>
          <p:cNvPr id="15" name="Shape 12"/>
          <p:cNvSpPr/>
          <p:nvPr/>
        </p:nvSpPr>
        <p:spPr>
          <a:xfrm>
            <a:off x="6400800" y="5413248"/>
            <a:ext cx="4617720" cy="0"/>
          </a:xfrm>
          <a:prstGeom prst="line">
            <a:avLst/>
          </a:prstGeom>
          <a:noFill/>
          <a:ln w="12700">
            <a:solidFill>
              <a:srgbClr val="C9D8C6"/>
            </a:solidFill>
            <a:prstDash val="solid"/>
          </a:ln>
        </p:spPr>
        <p:txBody>
          <a:bodyPr/>
          <a:lstStyle/>
          <a:p>
            <a:endParaRPr lang="en-IN" dirty="0"/>
          </a:p>
        </p:txBody>
      </p:sp>
      <p:sp>
        <p:nvSpPr>
          <p:cNvPr id="16" name="Text 13"/>
          <p:cNvSpPr/>
          <p:nvPr/>
        </p:nvSpPr>
        <p:spPr>
          <a:xfrm>
            <a:off x="1143000" y="5559552"/>
            <a:ext cx="4617720" cy="228600"/>
          </a:xfrm>
          <a:prstGeom prst="rect">
            <a:avLst/>
          </a:prstGeom>
          <a:noFill/>
          <a:ln/>
        </p:spPr>
        <p:txBody>
          <a:bodyPr wrap="square" lIns="0" tIns="0" rIns="0" bIns="0" rtlCol="0" anchor="ctr"/>
          <a:lstStyle/>
          <a:p>
            <a:pPr marL="0" indent="0">
              <a:buNone/>
            </a:pPr>
            <a:r>
              <a:rPr lang="en-US" sz="1050" b="1" kern="0" spc="150" dirty="0">
                <a:solidFill>
                  <a:srgbClr val="6FA95E"/>
                </a:solidFill>
                <a:latin typeface="Calibri" pitchFamily="34" charset="0"/>
                <a:ea typeface="Calibri" pitchFamily="34" charset="-122"/>
                <a:cs typeface="Calibri" pitchFamily="34" charset="-120"/>
              </a:rPr>
              <a:t>STREAM / COURSE</a:t>
            </a:r>
            <a:endParaRPr lang="en-US" sz="1050" dirty="0"/>
          </a:p>
        </p:txBody>
      </p:sp>
      <p:sp>
        <p:nvSpPr>
          <p:cNvPr id="17" name="Text 14"/>
          <p:cNvSpPr/>
          <p:nvPr/>
        </p:nvSpPr>
        <p:spPr>
          <a:xfrm>
            <a:off x="1143000" y="5815584"/>
            <a:ext cx="4617720" cy="292608"/>
          </a:xfrm>
          <a:prstGeom prst="rect">
            <a:avLst/>
          </a:prstGeom>
          <a:noFill/>
          <a:ln/>
        </p:spPr>
        <p:txBody>
          <a:bodyPr wrap="square" lIns="0" tIns="0" rIns="0" bIns="0" rtlCol="0" anchor="ctr"/>
          <a:lstStyle/>
          <a:p>
            <a:pPr marL="0" indent="0">
              <a:buNone/>
            </a:pPr>
            <a:endParaRPr lang="en-US" sz="1500" dirty="0"/>
          </a:p>
        </p:txBody>
      </p:sp>
      <p:sp>
        <p:nvSpPr>
          <p:cNvPr id="18" name="Shape 15"/>
          <p:cNvSpPr/>
          <p:nvPr/>
        </p:nvSpPr>
        <p:spPr>
          <a:xfrm>
            <a:off x="1143000" y="6126480"/>
            <a:ext cx="4617720" cy="0"/>
          </a:xfrm>
          <a:prstGeom prst="line">
            <a:avLst/>
          </a:prstGeom>
          <a:noFill/>
          <a:ln w="12700">
            <a:solidFill>
              <a:srgbClr val="C9D8C6"/>
            </a:solidFill>
            <a:prstDash val="solid"/>
          </a:ln>
        </p:spPr>
        <p:txBody>
          <a:bodyPr/>
          <a:lstStyle/>
          <a:p>
            <a:endParaRPr lang="en-IN"/>
          </a:p>
        </p:txBody>
      </p:sp>
      <p:sp>
        <p:nvSpPr>
          <p:cNvPr id="19" name="Text 16"/>
          <p:cNvSpPr/>
          <p:nvPr/>
        </p:nvSpPr>
        <p:spPr>
          <a:xfrm>
            <a:off x="6400800" y="5559552"/>
            <a:ext cx="4617720" cy="228600"/>
          </a:xfrm>
          <a:prstGeom prst="rect">
            <a:avLst/>
          </a:prstGeom>
          <a:noFill/>
          <a:ln/>
        </p:spPr>
        <p:txBody>
          <a:bodyPr wrap="square" lIns="0" tIns="0" rIns="0" bIns="0" rtlCol="0" anchor="ctr"/>
          <a:lstStyle/>
          <a:p>
            <a:pPr marL="0" indent="0">
              <a:buNone/>
            </a:pPr>
            <a:r>
              <a:rPr lang="en-US" sz="1050" b="1" kern="0" spc="150" dirty="0">
                <a:solidFill>
                  <a:srgbClr val="6FA95E"/>
                </a:solidFill>
                <a:latin typeface="Calibri" pitchFamily="34" charset="0"/>
                <a:ea typeface="Calibri" pitchFamily="34" charset="-122"/>
                <a:cs typeface="Calibri" pitchFamily="34" charset="-120"/>
              </a:rPr>
              <a:t>ROLL NO.</a:t>
            </a:r>
            <a:endParaRPr lang="en-US" sz="1050" dirty="0"/>
          </a:p>
        </p:txBody>
      </p:sp>
      <p:sp>
        <p:nvSpPr>
          <p:cNvPr id="20" name="Text 17"/>
          <p:cNvSpPr/>
          <p:nvPr/>
        </p:nvSpPr>
        <p:spPr>
          <a:xfrm>
            <a:off x="6400800" y="5815584"/>
            <a:ext cx="4617720" cy="292608"/>
          </a:xfrm>
          <a:prstGeom prst="rect">
            <a:avLst/>
          </a:prstGeom>
          <a:noFill/>
          <a:ln/>
        </p:spPr>
        <p:txBody>
          <a:bodyPr wrap="square" lIns="0" tIns="0" rIns="0" bIns="0" rtlCol="0" anchor="ctr"/>
          <a:lstStyle/>
          <a:p>
            <a:pPr marL="0" indent="0">
              <a:buNone/>
            </a:pPr>
            <a:endParaRPr lang="en-US" sz="1500" dirty="0"/>
          </a:p>
        </p:txBody>
      </p:sp>
      <p:sp>
        <p:nvSpPr>
          <p:cNvPr id="21" name="Shape 18"/>
          <p:cNvSpPr/>
          <p:nvPr/>
        </p:nvSpPr>
        <p:spPr>
          <a:xfrm>
            <a:off x="6400800" y="6126480"/>
            <a:ext cx="4617720" cy="0"/>
          </a:xfrm>
          <a:prstGeom prst="line">
            <a:avLst/>
          </a:prstGeom>
          <a:noFill/>
          <a:ln w="12700">
            <a:solidFill>
              <a:srgbClr val="C9D8C6"/>
            </a:solidFill>
            <a:prstDash val="solid"/>
          </a:ln>
        </p:spPr>
        <p:txBody>
          <a:bodyPr/>
          <a:lstStyle/>
          <a:p>
            <a:endParaRPr lang="en-IN" dirty="0"/>
          </a:p>
        </p:txBody>
      </p:sp>
      <p:sp>
        <p:nvSpPr>
          <p:cNvPr id="22" name="Rectangle 21">
            <a:extLst>
              <a:ext uri="{FF2B5EF4-FFF2-40B4-BE49-F238E27FC236}">
                <a16:creationId xmlns:a16="http://schemas.microsoft.com/office/drawing/2014/main" id="{311AB0EA-09E1-B8A5-29F4-D63F092FBB88}"/>
              </a:ext>
            </a:extLst>
          </p:cNvPr>
          <p:cNvSpPr/>
          <p:nvPr/>
        </p:nvSpPr>
        <p:spPr>
          <a:xfrm>
            <a:off x="1127759" y="5129783"/>
            <a:ext cx="4648201" cy="292609"/>
          </a:xfrm>
          <a:prstGeom prst="rect">
            <a:avLst/>
          </a:prstGeom>
          <a:ln/>
        </p:spPr>
        <p:style>
          <a:lnRef idx="2">
            <a:schemeClr val="dk1"/>
          </a:lnRef>
          <a:fillRef idx="1">
            <a:schemeClr val="lt1"/>
          </a:fillRef>
          <a:effectRef idx="0">
            <a:schemeClr val="dk1"/>
          </a:effectRef>
          <a:fontRef idx="minor">
            <a:schemeClr val="dk1"/>
          </a:fontRef>
        </p:style>
        <p:txBody>
          <a:bodyPr rtlCol="0" anchor="ctr"/>
          <a:lstStyle/>
          <a:p>
            <a:r>
              <a:rPr lang="en-IN" sz="1600" b="1" i="1" dirty="0"/>
              <a:t>Jasdeep Singh Dhami                  </a:t>
            </a:r>
          </a:p>
        </p:txBody>
      </p:sp>
      <p:sp>
        <p:nvSpPr>
          <p:cNvPr id="28" name="Rectangle 27">
            <a:extLst>
              <a:ext uri="{FF2B5EF4-FFF2-40B4-BE49-F238E27FC236}">
                <a16:creationId xmlns:a16="http://schemas.microsoft.com/office/drawing/2014/main" id="{424C5815-05D6-38A5-B050-BF913E2483BF}"/>
              </a:ext>
            </a:extLst>
          </p:cNvPr>
          <p:cNvSpPr/>
          <p:nvPr/>
        </p:nvSpPr>
        <p:spPr>
          <a:xfrm>
            <a:off x="6400800" y="5120639"/>
            <a:ext cx="4648201" cy="292609"/>
          </a:xfrm>
          <a:prstGeom prst="rect">
            <a:avLst/>
          </a:prstGeom>
          <a:ln/>
        </p:spPr>
        <p:style>
          <a:lnRef idx="2">
            <a:schemeClr val="dk1"/>
          </a:lnRef>
          <a:fillRef idx="1">
            <a:schemeClr val="lt1"/>
          </a:fillRef>
          <a:effectRef idx="0">
            <a:schemeClr val="dk1"/>
          </a:effectRef>
          <a:fontRef idx="minor">
            <a:schemeClr val="dk1"/>
          </a:fontRef>
        </p:style>
        <p:txBody>
          <a:bodyPr rtlCol="0" anchor="ctr"/>
          <a:lstStyle/>
          <a:p>
            <a:r>
              <a:rPr lang="en-IN" sz="1200" b="1" i="1" dirty="0"/>
              <a:t>Rayat Bahra Group Of Institute And Nano Technology Hoshiarpur</a:t>
            </a:r>
          </a:p>
        </p:txBody>
      </p:sp>
      <p:sp>
        <p:nvSpPr>
          <p:cNvPr id="30" name="Rectangle 29">
            <a:extLst>
              <a:ext uri="{FF2B5EF4-FFF2-40B4-BE49-F238E27FC236}">
                <a16:creationId xmlns:a16="http://schemas.microsoft.com/office/drawing/2014/main" id="{2FC0BF12-217C-3DC9-E90C-94A9BB2CD9B3}"/>
              </a:ext>
            </a:extLst>
          </p:cNvPr>
          <p:cNvSpPr/>
          <p:nvPr/>
        </p:nvSpPr>
        <p:spPr>
          <a:xfrm>
            <a:off x="6402707" y="5824727"/>
            <a:ext cx="4648201" cy="292609"/>
          </a:xfrm>
          <a:prstGeom prst="rect">
            <a:avLst/>
          </a:prstGeom>
          <a:ln/>
        </p:spPr>
        <p:style>
          <a:lnRef idx="2">
            <a:schemeClr val="dk1"/>
          </a:lnRef>
          <a:fillRef idx="1">
            <a:schemeClr val="lt1"/>
          </a:fillRef>
          <a:effectRef idx="0">
            <a:schemeClr val="dk1"/>
          </a:effectRef>
          <a:fontRef idx="minor">
            <a:schemeClr val="dk1"/>
          </a:fontRef>
        </p:style>
        <p:txBody>
          <a:bodyPr rtlCol="0" anchor="ctr"/>
          <a:lstStyle/>
          <a:p>
            <a:r>
              <a:rPr lang="en-IN" sz="1400" b="1" i="1"/>
              <a:t>2449388</a:t>
            </a:r>
            <a:r>
              <a:rPr lang="en-IN"/>
              <a:t>                     </a:t>
            </a:r>
            <a:endParaRPr lang="en-IN" dirty="0"/>
          </a:p>
        </p:txBody>
      </p:sp>
      <p:sp>
        <p:nvSpPr>
          <p:cNvPr id="32" name="Rectangle 31">
            <a:extLst>
              <a:ext uri="{FF2B5EF4-FFF2-40B4-BE49-F238E27FC236}">
                <a16:creationId xmlns:a16="http://schemas.microsoft.com/office/drawing/2014/main" id="{EA35209B-86C1-419C-BDEB-A84188858CD1}"/>
              </a:ext>
            </a:extLst>
          </p:cNvPr>
          <p:cNvSpPr/>
          <p:nvPr/>
        </p:nvSpPr>
        <p:spPr>
          <a:xfrm>
            <a:off x="1108708" y="5823202"/>
            <a:ext cx="4648201" cy="292609"/>
          </a:xfrm>
          <a:prstGeom prst="rect">
            <a:avLst/>
          </a:prstGeom>
          <a:ln/>
        </p:spPr>
        <p:style>
          <a:lnRef idx="2">
            <a:schemeClr val="dk1"/>
          </a:lnRef>
          <a:fillRef idx="1">
            <a:schemeClr val="lt1"/>
          </a:fillRef>
          <a:effectRef idx="0">
            <a:schemeClr val="dk1"/>
          </a:effectRef>
          <a:fontRef idx="minor">
            <a:schemeClr val="dk1"/>
          </a:fontRef>
        </p:style>
        <p:txBody>
          <a:bodyPr rtlCol="0" anchor="ctr"/>
          <a:lstStyle/>
          <a:p>
            <a:r>
              <a:rPr lang="en-IN" sz="1400" b="1" i="1" dirty="0"/>
              <a:t>B.tech(AI&amp;ML)</a:t>
            </a:r>
            <a:r>
              <a:rPr lang="en-IN" dirty="0"/>
              <a:t>                      </a:t>
            </a:r>
          </a:p>
        </p:txBody>
      </p:sp>
      <p:pic>
        <p:nvPicPr>
          <p:cNvPr id="24" name="Picture 23">
            <a:extLst>
              <a:ext uri="{FF2B5EF4-FFF2-40B4-BE49-F238E27FC236}">
                <a16:creationId xmlns:a16="http://schemas.microsoft.com/office/drawing/2014/main" id="{6853ECA5-A06B-C6B9-642D-C580D740B38D}"/>
              </a:ext>
            </a:extLst>
          </p:cNvPr>
          <p:cNvPicPr>
            <a:picLocks noChangeAspect="1"/>
          </p:cNvPicPr>
          <p:nvPr/>
        </p:nvPicPr>
        <p:blipFill>
          <a:blip r:embed="rId4">
            <a:extLst>
              <a:ext uri="{28A0092B-C50C-407E-A947-70E740481C1C}">
                <a14:useLocalDpi xmlns:a14="http://schemas.microsoft.com/office/drawing/2010/main" val="0"/>
              </a:ext>
              <a:ext uri="{837473B0-CC2E-450A-ABE3-18F120FF3D39}">
                <a1611:picAttrSrcUrl xmlns:a1611="http://schemas.microsoft.com/office/drawing/2016/11/main" r:id="rId5"/>
              </a:ext>
            </a:extLst>
          </a:blip>
          <a:stretch>
            <a:fillRect/>
          </a:stretch>
        </p:blipFill>
        <p:spPr>
          <a:xfrm>
            <a:off x="6771978" y="32577"/>
            <a:ext cx="5362871" cy="2824924"/>
          </a:xfrm>
          <a:prstGeom prst="roundRect">
            <a:avLst>
              <a:gd name="adj" fmla="val 4167"/>
            </a:avLst>
          </a:prstGeom>
          <a:solidFill>
            <a:srgbClr val="FFFFFF"/>
          </a:solidFill>
          <a:ln w="76200" cap="sq">
            <a:solidFill>
              <a:srgbClr val="EAEAEA"/>
            </a:solidFill>
            <a:miter lim="800000"/>
          </a:ln>
          <a:effectLst>
            <a:reflection blurRad="12700" stA="33000" endPos="28000" dist="5000" dir="5400000" sy="-100000" algn="bl" rotWithShape="0"/>
          </a:effectLst>
          <a:scene3d>
            <a:camera prst="orthographicFront"/>
            <a:lightRig rig="threePt" dir="t">
              <a:rot lat="0" lon="0" rev="2700000"/>
            </a:lightRig>
          </a:scene3d>
          <a:sp3d contourW="6350">
            <a:bevelT h="38100"/>
            <a:contourClr>
              <a:srgbClr val="C0C0C0"/>
            </a:contourClr>
          </a:sp3d>
        </p:spPr>
      </p:pic>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curtains"/>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bg/>
                                          </p:spTgt>
                                        </p:tgtEl>
                                        <p:attrNameLst>
                                          <p:attrName>style.visibility</p:attrName>
                                        </p:attrNameLst>
                                      </p:cBhvr>
                                      <p:to>
                                        <p:strVal val="visible"/>
                                      </p:to>
                                    </p:set>
                                    <p:animEffect transition="in" filter="fade">
                                      <p:cBhvr>
                                        <p:cTn id="7" dur="250"/>
                                        <p:tgtEl>
                                          <p:spTgt spid="9">
                                            <p:bg/>
                                          </p:spTgt>
                                        </p:tgtEl>
                                      </p:cBhvr>
                                    </p:animEffect>
                                  </p:childTnLst>
                                </p:cTn>
                              </p:par>
                            </p:childTnLst>
                          </p:cTn>
                        </p:par>
                        <p:par>
                          <p:cTn id="8" fill="hold">
                            <p:stCondLst>
                              <p:cond delay="250"/>
                            </p:stCondLst>
                            <p:childTnLst>
                              <p:par>
                                <p:cTn id="9" presetID="22" presetClass="entr" presetSubtype="8" fill="hold" grpId="0" nodeType="afterEffect">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wipe(left)">
                                      <p:cBhvr>
                                        <p:cTn id="11" dur="750"/>
                                        <p:tgtEl>
                                          <p:spTgt spid="7"/>
                                        </p:tgtEl>
                                      </p:cBhvr>
                                    </p:animEffect>
                                  </p:childTnLst>
                                </p:cTn>
                              </p:par>
                              <p:par>
                                <p:cTn id="12" presetID="10" presetClass="entr" presetSubtype="0" fill="hold" nodeType="withEffect">
                                  <p:stCondLst>
                                    <p:cond delay="0"/>
                                  </p:stCondLst>
                                  <p:childTnLst>
                                    <p:set>
                                      <p:cBhvr>
                                        <p:cTn id="13" dur="1" fill="hold">
                                          <p:stCondLst>
                                            <p:cond delay="0"/>
                                          </p:stCondLst>
                                        </p:cTn>
                                        <p:tgtEl>
                                          <p:spTgt spid="24"/>
                                        </p:tgtEl>
                                        <p:attrNameLst>
                                          <p:attrName>style.visibility</p:attrName>
                                        </p:attrNameLst>
                                      </p:cBhvr>
                                      <p:to>
                                        <p:strVal val="visible"/>
                                      </p:to>
                                    </p:set>
                                    <p:animEffect transition="in" filter="fade">
                                      <p:cBhvr>
                                        <p:cTn id="14" dur="65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9" grpId="0" uiExpand="1" build="allAtOnce" animBg="1"/>
    </p:bldLst>
  </p:timing>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9F5"/>
        </a:solidFill>
        <a:effectLst/>
      </p:bgPr>
    </p:bg>
    <p:spTree>
      <p:nvGrpSpPr>
        <p:cNvPr id="1" name=""/>
        <p:cNvGrpSpPr/>
        <p:nvPr/>
      </p:nvGrpSpPr>
      <p:grpSpPr>
        <a:xfrm>
          <a:off x="0" y="0"/>
          <a:ext cx="0" cy="0"/>
          <a:chOff x="0" y="0"/>
          <a:chExt cx="0" cy="0"/>
        </a:xfrm>
      </p:grpSpPr>
      <p:pic>
        <p:nvPicPr>
          <p:cNvPr id="2" name="Image 0" descr="/mnt/user-data/uploads/Screenshot_2026-07-09_092406.png"/>
          <p:cNvPicPr>
            <a:picLocks noChangeAspect="1"/>
          </p:cNvPicPr>
          <p:nvPr/>
        </p:nvPicPr>
        <p:blipFill>
          <a:blip r:embed="rId3"/>
          <a:srcRect/>
          <a:stretch/>
        </p:blipFill>
        <p:spPr>
          <a:xfrm>
            <a:off x="594360" y="502920"/>
            <a:ext cx="10972800" cy="5852160"/>
          </a:xfrm>
          <a:prstGeom prst="rect">
            <a:avLst/>
          </a:prstGeom>
        </p:spPr>
      </p:pic>
      <p:sp>
        <p:nvSpPr>
          <p:cNvPr id="3" name="Text 0"/>
          <p:cNvSpPr/>
          <p:nvPr/>
        </p:nvSpPr>
        <p:spPr>
          <a:xfrm>
            <a:off x="11365992" y="6355080"/>
            <a:ext cx="548640" cy="320040"/>
          </a:xfrm>
          <a:prstGeom prst="rect">
            <a:avLst/>
          </a:prstGeom>
          <a:noFill/>
          <a:ln/>
        </p:spPr>
        <p:txBody>
          <a:bodyPr wrap="square" lIns="0" tIns="0" rIns="0" bIns="0" rtlCol="0" anchor="ctr"/>
          <a:lstStyle/>
          <a:p>
            <a:pPr marL="0" indent="0" algn="r">
              <a:buNone/>
            </a:pPr>
            <a:r>
              <a:rPr lang="en-US" sz="1100" dirty="0">
                <a:solidFill>
                  <a:srgbClr val="5B6B5E"/>
                </a:solidFill>
                <a:latin typeface="Calibri" pitchFamily="34" charset="0"/>
                <a:ea typeface="Calibri" pitchFamily="34" charset="-122"/>
                <a:cs typeface="Calibri" pitchFamily="34" charset="-120"/>
              </a:rPr>
              <a:t>2</a:t>
            </a:r>
            <a:endParaRPr lang="en-US" sz="1100" dirty="0"/>
          </a:p>
        </p:txBody>
      </p:sp>
      <p:sp>
        <p:nvSpPr>
          <p:cNvPr id="4" name="Text 1"/>
          <p:cNvSpPr/>
          <p:nvPr/>
        </p:nvSpPr>
        <p:spPr>
          <a:xfrm>
            <a:off x="457200" y="6355080"/>
            <a:ext cx="4572000" cy="320040"/>
          </a:xfrm>
          <a:prstGeom prst="rect">
            <a:avLst/>
          </a:prstGeom>
          <a:noFill/>
          <a:ln/>
        </p:spPr>
        <p:txBody>
          <a:bodyPr wrap="square" lIns="0" tIns="0" rIns="0" bIns="0" rtlCol="0" anchor="ctr"/>
          <a:lstStyle/>
          <a:p>
            <a:pPr marL="0" indent="0" algn="l">
              <a:buNone/>
            </a:pPr>
            <a:r>
              <a:rPr lang="en-US" sz="900" dirty="0">
                <a:solidFill>
                  <a:srgbClr val="5B6B5E"/>
                </a:solidFill>
                <a:latin typeface="Calibri" pitchFamily="34" charset="0"/>
                <a:ea typeface="Calibri" pitchFamily="34" charset="-122"/>
                <a:cs typeface="Calibri" pitchFamily="34" charset="-120"/>
              </a:rPr>
              <a:t>Greenhouse Crop Production</a:t>
            </a:r>
            <a:endParaRPr lang="en-US" sz="900" dirty="0"/>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curtains"/>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9F5"/>
        </a:solidFill>
        <a:effectLst/>
      </p:bgPr>
    </p:bg>
    <p:spTree>
      <p:nvGrpSpPr>
        <p:cNvPr id="1" name=""/>
        <p:cNvGrpSpPr/>
        <p:nvPr/>
      </p:nvGrpSpPr>
      <p:grpSpPr>
        <a:xfrm>
          <a:off x="0" y="0"/>
          <a:ext cx="0" cy="0"/>
          <a:chOff x="0" y="0"/>
          <a:chExt cx="0" cy="0"/>
        </a:xfrm>
      </p:grpSpPr>
      <p:sp>
        <p:nvSpPr>
          <p:cNvPr id="2" name="Text 0"/>
          <p:cNvSpPr/>
          <p:nvPr/>
        </p:nvSpPr>
        <p:spPr>
          <a:xfrm>
            <a:off x="548640" y="384048"/>
            <a:ext cx="8229600" cy="320040"/>
          </a:xfrm>
          <a:prstGeom prst="rect">
            <a:avLst/>
          </a:prstGeom>
          <a:noFill/>
          <a:ln/>
        </p:spPr>
        <p:txBody>
          <a:bodyPr wrap="square" lIns="0" tIns="0" rIns="0" bIns="0" rtlCol="0" anchor="ctr"/>
          <a:lstStyle/>
          <a:p>
            <a:pPr marL="0" indent="0">
              <a:buNone/>
            </a:pPr>
            <a:r>
              <a:rPr lang="en-US" sz="1300" b="1" kern="0" spc="200" dirty="0">
                <a:solidFill>
                  <a:srgbClr val="6FA95E"/>
                </a:solidFill>
                <a:latin typeface="Calibri" pitchFamily="34" charset="0"/>
                <a:ea typeface="Calibri" pitchFamily="34" charset="-122"/>
                <a:cs typeface="Calibri" pitchFamily="34" charset="-120"/>
              </a:rPr>
              <a:t>AGENDA</a:t>
            </a:r>
            <a:endParaRPr lang="en-US" sz="1300" dirty="0"/>
          </a:p>
        </p:txBody>
      </p:sp>
      <p:sp>
        <p:nvSpPr>
          <p:cNvPr id="3" name="Text 1"/>
          <p:cNvSpPr/>
          <p:nvPr/>
        </p:nvSpPr>
        <p:spPr>
          <a:xfrm>
            <a:off x="548640" y="658368"/>
            <a:ext cx="10515600" cy="685800"/>
          </a:xfrm>
          <a:prstGeom prst="rect">
            <a:avLst/>
          </a:prstGeom>
          <a:noFill/>
          <a:ln/>
        </p:spPr>
        <p:txBody>
          <a:bodyPr wrap="square" lIns="0" tIns="0" rIns="0" bIns="0" rtlCol="0" anchor="ctr"/>
          <a:lstStyle/>
          <a:p>
            <a:pPr marL="0" indent="0">
              <a:buNone/>
            </a:pPr>
            <a:r>
              <a:rPr lang="en-US" sz="3200" b="1" dirty="0">
                <a:solidFill>
                  <a:srgbClr val="163A20"/>
                </a:solidFill>
                <a:latin typeface="Cambria" pitchFamily="34" charset="0"/>
                <a:ea typeface="Cambria" pitchFamily="34" charset="-122"/>
                <a:cs typeface="Cambria" pitchFamily="34" charset="-120"/>
              </a:rPr>
              <a:t>Table of Contents</a:t>
            </a:r>
            <a:endParaRPr lang="en-US" sz="3200" dirty="0"/>
          </a:p>
        </p:txBody>
      </p:sp>
      <p:sp>
        <p:nvSpPr>
          <p:cNvPr id="4" name="Shape 2"/>
          <p:cNvSpPr/>
          <p:nvPr/>
        </p:nvSpPr>
        <p:spPr>
          <a:xfrm>
            <a:off x="640080" y="1600200"/>
            <a:ext cx="5257800" cy="819302"/>
          </a:xfrm>
          <a:prstGeom prst="roundRect">
            <a:avLst>
              <a:gd name="adj" fmla="val 6696"/>
            </a:avLst>
          </a:prstGeom>
          <a:solidFill>
            <a:srgbClr val="FFFFFF"/>
          </a:solidFill>
          <a:ln/>
          <a:effectLst>
            <a:outerShdw blurRad="76200" dist="25400" dir="5400000" algn="bl" rotWithShape="0">
              <a:srgbClr val="000000">
                <a:alpha val="8000"/>
              </a:srgbClr>
            </a:outerShdw>
          </a:effectLst>
        </p:spPr>
        <p:txBody>
          <a:bodyPr/>
          <a:lstStyle/>
          <a:p>
            <a:endParaRPr lang="en-IN"/>
          </a:p>
        </p:txBody>
      </p:sp>
      <p:sp>
        <p:nvSpPr>
          <p:cNvPr id="5" name="Text 3"/>
          <p:cNvSpPr/>
          <p:nvPr/>
        </p:nvSpPr>
        <p:spPr>
          <a:xfrm>
            <a:off x="822960" y="1600200"/>
            <a:ext cx="731520" cy="819302"/>
          </a:xfrm>
          <a:prstGeom prst="rect">
            <a:avLst/>
          </a:prstGeom>
          <a:noFill/>
          <a:ln/>
        </p:spPr>
        <p:txBody>
          <a:bodyPr wrap="square" lIns="0" tIns="0" rIns="0" bIns="0" rtlCol="0" anchor="ctr"/>
          <a:lstStyle/>
          <a:p>
            <a:pPr marL="0" indent="0">
              <a:buNone/>
            </a:pPr>
            <a:r>
              <a:rPr lang="en-US" sz="2000" b="1" dirty="0">
                <a:solidFill>
                  <a:srgbClr val="D7E4D2"/>
                </a:solidFill>
                <a:latin typeface="Cambria" pitchFamily="34" charset="0"/>
                <a:ea typeface="Cambria" pitchFamily="34" charset="-122"/>
                <a:cs typeface="Cambria" pitchFamily="34" charset="-120"/>
              </a:rPr>
              <a:t>01</a:t>
            </a:r>
            <a:endParaRPr lang="en-US" sz="2000" dirty="0"/>
          </a:p>
        </p:txBody>
      </p:sp>
      <p:sp>
        <p:nvSpPr>
          <p:cNvPr id="6" name="Text 4"/>
          <p:cNvSpPr/>
          <p:nvPr/>
        </p:nvSpPr>
        <p:spPr>
          <a:xfrm>
            <a:off x="1508760" y="1600200"/>
            <a:ext cx="4251960" cy="819302"/>
          </a:xfrm>
          <a:prstGeom prst="rect">
            <a:avLst/>
          </a:prstGeom>
          <a:noFill/>
          <a:ln/>
        </p:spPr>
        <p:txBody>
          <a:bodyPr wrap="square" lIns="0" tIns="0" rIns="0" bIns="0" rtlCol="0" anchor="ctr"/>
          <a:lstStyle/>
          <a:p>
            <a:pPr marL="0" indent="0">
              <a:buNone/>
            </a:pPr>
            <a:r>
              <a:rPr lang="en-US" sz="1500" b="1" dirty="0">
                <a:solidFill>
                  <a:srgbClr val="1C2B1E"/>
                </a:solidFill>
                <a:latin typeface="Calibri" pitchFamily="34" charset="0"/>
                <a:ea typeface="Calibri" pitchFamily="34" charset="-122"/>
                <a:cs typeface="Calibri" pitchFamily="34" charset="-120"/>
              </a:rPr>
              <a:t>Introduction</a:t>
            </a:r>
            <a:endParaRPr lang="en-US" sz="1500" dirty="0"/>
          </a:p>
        </p:txBody>
      </p:sp>
      <p:sp>
        <p:nvSpPr>
          <p:cNvPr id="7" name="Shape 5"/>
          <p:cNvSpPr/>
          <p:nvPr/>
        </p:nvSpPr>
        <p:spPr>
          <a:xfrm>
            <a:off x="640080" y="2584094"/>
            <a:ext cx="5257800" cy="819302"/>
          </a:xfrm>
          <a:prstGeom prst="roundRect">
            <a:avLst>
              <a:gd name="adj" fmla="val 6696"/>
            </a:avLst>
          </a:prstGeom>
          <a:solidFill>
            <a:srgbClr val="FFFFFF"/>
          </a:solidFill>
          <a:ln/>
          <a:effectLst>
            <a:outerShdw blurRad="76200" dist="25400" dir="5400000" algn="bl" rotWithShape="0">
              <a:srgbClr val="000000">
                <a:alpha val="8000"/>
              </a:srgbClr>
            </a:outerShdw>
          </a:effectLst>
        </p:spPr>
        <p:txBody>
          <a:bodyPr/>
          <a:lstStyle/>
          <a:p>
            <a:endParaRPr lang="en-IN"/>
          </a:p>
        </p:txBody>
      </p:sp>
      <p:sp>
        <p:nvSpPr>
          <p:cNvPr id="8" name="Text 6"/>
          <p:cNvSpPr/>
          <p:nvPr/>
        </p:nvSpPr>
        <p:spPr>
          <a:xfrm>
            <a:off x="822960" y="2584094"/>
            <a:ext cx="731520" cy="819302"/>
          </a:xfrm>
          <a:prstGeom prst="rect">
            <a:avLst/>
          </a:prstGeom>
          <a:noFill/>
          <a:ln/>
        </p:spPr>
        <p:txBody>
          <a:bodyPr wrap="square" lIns="0" tIns="0" rIns="0" bIns="0" rtlCol="0" anchor="ctr"/>
          <a:lstStyle/>
          <a:p>
            <a:pPr marL="0" indent="0">
              <a:buNone/>
            </a:pPr>
            <a:r>
              <a:rPr lang="en-US" sz="2000" b="1" dirty="0">
                <a:solidFill>
                  <a:srgbClr val="D7E4D2"/>
                </a:solidFill>
                <a:latin typeface="Cambria" pitchFamily="34" charset="0"/>
                <a:ea typeface="Cambria" pitchFamily="34" charset="-122"/>
                <a:cs typeface="Cambria" pitchFamily="34" charset="-120"/>
              </a:rPr>
              <a:t>02</a:t>
            </a:r>
            <a:endParaRPr lang="en-US" sz="2000" dirty="0"/>
          </a:p>
        </p:txBody>
      </p:sp>
      <p:sp>
        <p:nvSpPr>
          <p:cNvPr id="9" name="Text 7"/>
          <p:cNvSpPr/>
          <p:nvPr/>
        </p:nvSpPr>
        <p:spPr>
          <a:xfrm>
            <a:off x="1508760" y="2584094"/>
            <a:ext cx="4251960" cy="819302"/>
          </a:xfrm>
          <a:prstGeom prst="rect">
            <a:avLst/>
          </a:prstGeom>
          <a:noFill/>
          <a:ln/>
        </p:spPr>
        <p:txBody>
          <a:bodyPr wrap="square" lIns="0" tIns="0" rIns="0" bIns="0" rtlCol="0" anchor="ctr"/>
          <a:lstStyle/>
          <a:p>
            <a:pPr marL="0" indent="0">
              <a:buNone/>
            </a:pPr>
            <a:r>
              <a:rPr lang="en-US" sz="1500" b="1" dirty="0">
                <a:solidFill>
                  <a:srgbClr val="1C2B1E"/>
                </a:solidFill>
                <a:latin typeface="Calibri" pitchFamily="34" charset="0"/>
                <a:ea typeface="Calibri" pitchFamily="34" charset="-122"/>
                <a:cs typeface="Calibri" pitchFamily="34" charset="-120"/>
              </a:rPr>
              <a:t>Problem Statement</a:t>
            </a:r>
            <a:endParaRPr lang="en-US" sz="1500" dirty="0"/>
          </a:p>
        </p:txBody>
      </p:sp>
      <p:sp>
        <p:nvSpPr>
          <p:cNvPr id="10" name="Shape 8"/>
          <p:cNvSpPr/>
          <p:nvPr/>
        </p:nvSpPr>
        <p:spPr>
          <a:xfrm>
            <a:off x="640080" y="3567989"/>
            <a:ext cx="5257800" cy="819302"/>
          </a:xfrm>
          <a:prstGeom prst="roundRect">
            <a:avLst>
              <a:gd name="adj" fmla="val 6696"/>
            </a:avLst>
          </a:prstGeom>
          <a:solidFill>
            <a:srgbClr val="FFFFFF"/>
          </a:solidFill>
          <a:ln/>
          <a:effectLst>
            <a:outerShdw blurRad="76200" dist="25400" dir="5400000" algn="bl" rotWithShape="0">
              <a:srgbClr val="000000">
                <a:alpha val="8000"/>
              </a:srgbClr>
            </a:outerShdw>
          </a:effectLst>
        </p:spPr>
        <p:txBody>
          <a:bodyPr/>
          <a:lstStyle/>
          <a:p>
            <a:endParaRPr lang="en-IN"/>
          </a:p>
        </p:txBody>
      </p:sp>
      <p:sp>
        <p:nvSpPr>
          <p:cNvPr id="11" name="Text 9"/>
          <p:cNvSpPr/>
          <p:nvPr/>
        </p:nvSpPr>
        <p:spPr>
          <a:xfrm>
            <a:off x="822960" y="3567989"/>
            <a:ext cx="731520" cy="819302"/>
          </a:xfrm>
          <a:prstGeom prst="rect">
            <a:avLst/>
          </a:prstGeom>
          <a:noFill/>
          <a:ln/>
        </p:spPr>
        <p:txBody>
          <a:bodyPr wrap="square" lIns="0" tIns="0" rIns="0" bIns="0" rtlCol="0" anchor="ctr"/>
          <a:lstStyle/>
          <a:p>
            <a:pPr marL="0" indent="0">
              <a:buNone/>
            </a:pPr>
            <a:r>
              <a:rPr lang="en-US" sz="2000" b="1" dirty="0">
                <a:solidFill>
                  <a:srgbClr val="D7E4D2"/>
                </a:solidFill>
                <a:latin typeface="Cambria" pitchFamily="34" charset="0"/>
                <a:ea typeface="Cambria" pitchFamily="34" charset="-122"/>
                <a:cs typeface="Cambria" pitchFamily="34" charset="-120"/>
              </a:rPr>
              <a:t>03</a:t>
            </a:r>
            <a:endParaRPr lang="en-US" sz="2000" dirty="0"/>
          </a:p>
        </p:txBody>
      </p:sp>
      <p:sp>
        <p:nvSpPr>
          <p:cNvPr id="12" name="Text 10"/>
          <p:cNvSpPr/>
          <p:nvPr/>
        </p:nvSpPr>
        <p:spPr>
          <a:xfrm>
            <a:off x="1508760" y="3567989"/>
            <a:ext cx="4251960" cy="819302"/>
          </a:xfrm>
          <a:prstGeom prst="rect">
            <a:avLst/>
          </a:prstGeom>
          <a:noFill/>
          <a:ln/>
        </p:spPr>
        <p:txBody>
          <a:bodyPr wrap="square" lIns="0" tIns="0" rIns="0" bIns="0" rtlCol="0" anchor="ctr"/>
          <a:lstStyle/>
          <a:p>
            <a:pPr marL="0" indent="0">
              <a:buNone/>
            </a:pPr>
            <a:r>
              <a:rPr lang="en-US" sz="1500" b="1" dirty="0">
                <a:solidFill>
                  <a:srgbClr val="1C2B1E"/>
                </a:solidFill>
                <a:latin typeface="Calibri" pitchFamily="34" charset="0"/>
                <a:ea typeface="Calibri" pitchFamily="34" charset="-122"/>
                <a:cs typeface="Calibri" pitchFamily="34" charset="-120"/>
              </a:rPr>
              <a:t>Project Overview</a:t>
            </a:r>
            <a:endParaRPr lang="en-US" sz="1500" dirty="0"/>
          </a:p>
        </p:txBody>
      </p:sp>
      <p:sp>
        <p:nvSpPr>
          <p:cNvPr id="13" name="Shape 11"/>
          <p:cNvSpPr/>
          <p:nvPr/>
        </p:nvSpPr>
        <p:spPr>
          <a:xfrm>
            <a:off x="640080" y="4551883"/>
            <a:ext cx="5257800" cy="819302"/>
          </a:xfrm>
          <a:prstGeom prst="roundRect">
            <a:avLst>
              <a:gd name="adj" fmla="val 6696"/>
            </a:avLst>
          </a:prstGeom>
          <a:solidFill>
            <a:srgbClr val="FFFFFF"/>
          </a:solidFill>
          <a:ln/>
          <a:effectLst>
            <a:outerShdw blurRad="76200" dist="25400" dir="5400000" algn="bl" rotWithShape="0">
              <a:srgbClr val="000000">
                <a:alpha val="8000"/>
              </a:srgbClr>
            </a:outerShdw>
          </a:effectLst>
        </p:spPr>
        <p:txBody>
          <a:bodyPr/>
          <a:lstStyle/>
          <a:p>
            <a:endParaRPr lang="en-IN"/>
          </a:p>
        </p:txBody>
      </p:sp>
      <p:sp>
        <p:nvSpPr>
          <p:cNvPr id="14" name="Text 12"/>
          <p:cNvSpPr/>
          <p:nvPr/>
        </p:nvSpPr>
        <p:spPr>
          <a:xfrm>
            <a:off x="822960" y="4551883"/>
            <a:ext cx="731520" cy="819302"/>
          </a:xfrm>
          <a:prstGeom prst="rect">
            <a:avLst/>
          </a:prstGeom>
          <a:noFill/>
          <a:ln/>
        </p:spPr>
        <p:txBody>
          <a:bodyPr wrap="square" lIns="0" tIns="0" rIns="0" bIns="0" rtlCol="0" anchor="ctr"/>
          <a:lstStyle/>
          <a:p>
            <a:pPr marL="0" indent="0">
              <a:buNone/>
            </a:pPr>
            <a:r>
              <a:rPr lang="en-US" sz="2000" b="1" dirty="0">
                <a:solidFill>
                  <a:srgbClr val="D7E4D2"/>
                </a:solidFill>
                <a:latin typeface="Cambria" pitchFamily="34" charset="0"/>
                <a:ea typeface="Cambria" pitchFamily="34" charset="-122"/>
                <a:cs typeface="Cambria" pitchFamily="34" charset="-120"/>
              </a:rPr>
              <a:t>04</a:t>
            </a:r>
            <a:endParaRPr lang="en-US" sz="2000" dirty="0"/>
          </a:p>
        </p:txBody>
      </p:sp>
      <p:sp>
        <p:nvSpPr>
          <p:cNvPr id="15" name="Text 13"/>
          <p:cNvSpPr/>
          <p:nvPr/>
        </p:nvSpPr>
        <p:spPr>
          <a:xfrm>
            <a:off x="1508760" y="4551883"/>
            <a:ext cx="4251960" cy="819302"/>
          </a:xfrm>
          <a:prstGeom prst="rect">
            <a:avLst/>
          </a:prstGeom>
          <a:noFill/>
          <a:ln/>
        </p:spPr>
        <p:txBody>
          <a:bodyPr wrap="square" lIns="0" tIns="0" rIns="0" bIns="0" rtlCol="0" anchor="ctr"/>
          <a:lstStyle/>
          <a:p>
            <a:pPr marL="0" indent="0">
              <a:buNone/>
            </a:pPr>
            <a:r>
              <a:rPr lang="en-US" sz="1500" b="1" dirty="0">
                <a:solidFill>
                  <a:srgbClr val="1C2B1E"/>
                </a:solidFill>
                <a:latin typeface="Calibri" pitchFamily="34" charset="0"/>
                <a:ea typeface="Calibri" pitchFamily="34" charset="-122"/>
                <a:cs typeface="Calibri" pitchFamily="34" charset="-120"/>
              </a:rPr>
              <a:t>Dataset Overview</a:t>
            </a:r>
            <a:endParaRPr lang="en-US" sz="1500" dirty="0"/>
          </a:p>
        </p:txBody>
      </p:sp>
      <p:sp>
        <p:nvSpPr>
          <p:cNvPr id="16" name="Shape 14"/>
          <p:cNvSpPr/>
          <p:nvPr/>
        </p:nvSpPr>
        <p:spPr>
          <a:xfrm>
            <a:off x="640080" y="5535778"/>
            <a:ext cx="5257800" cy="819302"/>
          </a:xfrm>
          <a:prstGeom prst="roundRect">
            <a:avLst>
              <a:gd name="adj" fmla="val 6696"/>
            </a:avLst>
          </a:prstGeom>
          <a:solidFill>
            <a:srgbClr val="FFFFFF"/>
          </a:solidFill>
          <a:ln/>
          <a:effectLst>
            <a:outerShdw blurRad="76200" dist="25400" dir="5400000" algn="bl" rotWithShape="0">
              <a:srgbClr val="000000">
                <a:alpha val="8000"/>
              </a:srgbClr>
            </a:outerShdw>
          </a:effectLst>
        </p:spPr>
        <p:txBody>
          <a:bodyPr/>
          <a:lstStyle/>
          <a:p>
            <a:endParaRPr lang="en-IN"/>
          </a:p>
        </p:txBody>
      </p:sp>
      <p:sp>
        <p:nvSpPr>
          <p:cNvPr id="17" name="Text 15"/>
          <p:cNvSpPr/>
          <p:nvPr/>
        </p:nvSpPr>
        <p:spPr>
          <a:xfrm>
            <a:off x="822960" y="5535778"/>
            <a:ext cx="731520" cy="819302"/>
          </a:xfrm>
          <a:prstGeom prst="rect">
            <a:avLst/>
          </a:prstGeom>
          <a:noFill/>
          <a:ln/>
        </p:spPr>
        <p:txBody>
          <a:bodyPr wrap="square" lIns="0" tIns="0" rIns="0" bIns="0" rtlCol="0" anchor="ctr"/>
          <a:lstStyle/>
          <a:p>
            <a:pPr marL="0" indent="0">
              <a:buNone/>
            </a:pPr>
            <a:r>
              <a:rPr lang="en-US" sz="2000" b="1" dirty="0">
                <a:solidFill>
                  <a:srgbClr val="D7E4D2"/>
                </a:solidFill>
                <a:latin typeface="Cambria" pitchFamily="34" charset="0"/>
                <a:ea typeface="Cambria" pitchFamily="34" charset="-122"/>
                <a:cs typeface="Cambria" pitchFamily="34" charset="-120"/>
              </a:rPr>
              <a:t>05</a:t>
            </a:r>
            <a:endParaRPr lang="en-US" sz="2000" dirty="0"/>
          </a:p>
        </p:txBody>
      </p:sp>
      <p:sp>
        <p:nvSpPr>
          <p:cNvPr id="18" name="Text 16"/>
          <p:cNvSpPr/>
          <p:nvPr/>
        </p:nvSpPr>
        <p:spPr>
          <a:xfrm>
            <a:off x="1508760" y="5535778"/>
            <a:ext cx="4251960" cy="819302"/>
          </a:xfrm>
          <a:prstGeom prst="rect">
            <a:avLst/>
          </a:prstGeom>
          <a:noFill/>
          <a:ln/>
        </p:spPr>
        <p:txBody>
          <a:bodyPr wrap="square" lIns="0" tIns="0" rIns="0" bIns="0" rtlCol="0" anchor="ctr"/>
          <a:lstStyle/>
          <a:p>
            <a:pPr marL="0" indent="0">
              <a:buNone/>
            </a:pPr>
            <a:r>
              <a:rPr lang="en-US" sz="1500" b="1" dirty="0">
                <a:solidFill>
                  <a:srgbClr val="1C2B1E"/>
                </a:solidFill>
                <a:latin typeface="Calibri" pitchFamily="34" charset="0"/>
                <a:ea typeface="Calibri" pitchFamily="34" charset="-122"/>
                <a:cs typeface="Calibri" pitchFamily="34" charset="-120"/>
              </a:rPr>
              <a:t>Technology Used</a:t>
            </a:r>
            <a:endParaRPr lang="en-US" sz="1500" dirty="0"/>
          </a:p>
        </p:txBody>
      </p:sp>
      <p:sp>
        <p:nvSpPr>
          <p:cNvPr id="19" name="Shape 17"/>
          <p:cNvSpPr/>
          <p:nvPr/>
        </p:nvSpPr>
        <p:spPr>
          <a:xfrm>
            <a:off x="6263640" y="1600200"/>
            <a:ext cx="5257800" cy="819302"/>
          </a:xfrm>
          <a:prstGeom prst="roundRect">
            <a:avLst>
              <a:gd name="adj" fmla="val 6696"/>
            </a:avLst>
          </a:prstGeom>
          <a:solidFill>
            <a:srgbClr val="FFFFFF"/>
          </a:solidFill>
          <a:ln/>
          <a:effectLst>
            <a:outerShdw blurRad="76200" dist="25400" dir="5400000" algn="bl" rotWithShape="0">
              <a:srgbClr val="000000">
                <a:alpha val="8000"/>
              </a:srgbClr>
            </a:outerShdw>
          </a:effectLst>
        </p:spPr>
        <p:txBody>
          <a:bodyPr/>
          <a:lstStyle/>
          <a:p>
            <a:endParaRPr lang="en-IN"/>
          </a:p>
        </p:txBody>
      </p:sp>
      <p:sp>
        <p:nvSpPr>
          <p:cNvPr id="20" name="Text 18"/>
          <p:cNvSpPr/>
          <p:nvPr/>
        </p:nvSpPr>
        <p:spPr>
          <a:xfrm>
            <a:off x="6446520" y="1600200"/>
            <a:ext cx="731520" cy="819302"/>
          </a:xfrm>
          <a:prstGeom prst="rect">
            <a:avLst/>
          </a:prstGeom>
          <a:noFill/>
          <a:ln/>
        </p:spPr>
        <p:txBody>
          <a:bodyPr wrap="square" lIns="0" tIns="0" rIns="0" bIns="0" rtlCol="0" anchor="ctr"/>
          <a:lstStyle/>
          <a:p>
            <a:pPr marL="0" indent="0">
              <a:buNone/>
            </a:pPr>
            <a:r>
              <a:rPr lang="en-US" sz="2000" b="1" dirty="0">
                <a:solidFill>
                  <a:srgbClr val="D7E4D2"/>
                </a:solidFill>
                <a:latin typeface="Cambria" pitchFamily="34" charset="0"/>
                <a:ea typeface="Cambria" pitchFamily="34" charset="-122"/>
                <a:cs typeface="Cambria" pitchFamily="34" charset="-120"/>
              </a:rPr>
              <a:t>06</a:t>
            </a:r>
            <a:endParaRPr lang="en-US" sz="2000" dirty="0"/>
          </a:p>
        </p:txBody>
      </p:sp>
      <p:sp>
        <p:nvSpPr>
          <p:cNvPr id="21" name="Text 19"/>
          <p:cNvSpPr/>
          <p:nvPr/>
        </p:nvSpPr>
        <p:spPr>
          <a:xfrm>
            <a:off x="7132320" y="1600200"/>
            <a:ext cx="4251960" cy="819302"/>
          </a:xfrm>
          <a:prstGeom prst="rect">
            <a:avLst/>
          </a:prstGeom>
          <a:noFill/>
          <a:ln/>
        </p:spPr>
        <p:txBody>
          <a:bodyPr wrap="square" lIns="0" tIns="0" rIns="0" bIns="0" rtlCol="0" anchor="ctr"/>
          <a:lstStyle/>
          <a:p>
            <a:pPr marL="0" indent="0">
              <a:buNone/>
            </a:pPr>
            <a:r>
              <a:rPr lang="en-US" sz="1500" b="1" dirty="0">
                <a:solidFill>
                  <a:srgbClr val="1C2B1E"/>
                </a:solidFill>
                <a:latin typeface="Calibri" pitchFamily="34" charset="0"/>
                <a:ea typeface="Calibri" pitchFamily="34" charset="-122"/>
                <a:cs typeface="Calibri" pitchFamily="34" charset="-120"/>
              </a:rPr>
              <a:t>Dashboard &amp; Visual Analysis</a:t>
            </a:r>
            <a:endParaRPr lang="en-US" sz="1500" dirty="0"/>
          </a:p>
        </p:txBody>
      </p:sp>
      <p:sp>
        <p:nvSpPr>
          <p:cNvPr id="22" name="Shape 20"/>
          <p:cNvSpPr/>
          <p:nvPr/>
        </p:nvSpPr>
        <p:spPr>
          <a:xfrm>
            <a:off x="6263640" y="2584094"/>
            <a:ext cx="5257800" cy="819302"/>
          </a:xfrm>
          <a:prstGeom prst="roundRect">
            <a:avLst>
              <a:gd name="adj" fmla="val 6696"/>
            </a:avLst>
          </a:prstGeom>
          <a:solidFill>
            <a:srgbClr val="FFFFFF"/>
          </a:solidFill>
          <a:ln/>
          <a:effectLst>
            <a:outerShdw blurRad="76200" dist="25400" dir="5400000" algn="bl" rotWithShape="0">
              <a:srgbClr val="000000">
                <a:alpha val="8000"/>
              </a:srgbClr>
            </a:outerShdw>
          </a:effectLst>
        </p:spPr>
        <p:txBody>
          <a:bodyPr/>
          <a:lstStyle/>
          <a:p>
            <a:endParaRPr lang="en-IN"/>
          </a:p>
        </p:txBody>
      </p:sp>
      <p:sp>
        <p:nvSpPr>
          <p:cNvPr id="23" name="Text 21"/>
          <p:cNvSpPr/>
          <p:nvPr/>
        </p:nvSpPr>
        <p:spPr>
          <a:xfrm>
            <a:off x="6446520" y="2584094"/>
            <a:ext cx="731520" cy="819302"/>
          </a:xfrm>
          <a:prstGeom prst="rect">
            <a:avLst/>
          </a:prstGeom>
          <a:noFill/>
          <a:ln/>
        </p:spPr>
        <p:txBody>
          <a:bodyPr wrap="square" lIns="0" tIns="0" rIns="0" bIns="0" rtlCol="0" anchor="ctr"/>
          <a:lstStyle/>
          <a:p>
            <a:pPr marL="0" indent="0">
              <a:buNone/>
            </a:pPr>
            <a:r>
              <a:rPr lang="en-US" sz="2000" b="1" dirty="0">
                <a:solidFill>
                  <a:srgbClr val="D7E4D2"/>
                </a:solidFill>
                <a:latin typeface="Cambria" pitchFamily="34" charset="0"/>
                <a:ea typeface="Cambria" pitchFamily="34" charset="-122"/>
                <a:cs typeface="Cambria" pitchFamily="34" charset="-120"/>
              </a:rPr>
              <a:t>07</a:t>
            </a:r>
            <a:endParaRPr lang="en-US" sz="2000" dirty="0"/>
          </a:p>
        </p:txBody>
      </p:sp>
      <p:sp>
        <p:nvSpPr>
          <p:cNvPr id="24" name="Text 22"/>
          <p:cNvSpPr/>
          <p:nvPr/>
        </p:nvSpPr>
        <p:spPr>
          <a:xfrm>
            <a:off x="7132320" y="2584094"/>
            <a:ext cx="4251960" cy="819302"/>
          </a:xfrm>
          <a:prstGeom prst="rect">
            <a:avLst/>
          </a:prstGeom>
          <a:noFill/>
          <a:ln/>
        </p:spPr>
        <p:txBody>
          <a:bodyPr wrap="square" lIns="0" tIns="0" rIns="0" bIns="0" rtlCol="0" anchor="ctr"/>
          <a:lstStyle/>
          <a:p>
            <a:pPr marL="0" indent="0">
              <a:buNone/>
            </a:pPr>
            <a:r>
              <a:rPr lang="en-US" sz="1500" b="1" dirty="0">
                <a:solidFill>
                  <a:srgbClr val="1C2B1E"/>
                </a:solidFill>
                <a:latin typeface="Calibri" pitchFamily="34" charset="0"/>
                <a:ea typeface="Calibri" pitchFamily="34" charset="-122"/>
                <a:cs typeface="Calibri" pitchFamily="34" charset="-120"/>
              </a:rPr>
              <a:t>Key Insights</a:t>
            </a:r>
            <a:endParaRPr lang="en-US" sz="1500" dirty="0"/>
          </a:p>
        </p:txBody>
      </p:sp>
      <p:sp>
        <p:nvSpPr>
          <p:cNvPr id="25" name="Shape 23"/>
          <p:cNvSpPr/>
          <p:nvPr/>
        </p:nvSpPr>
        <p:spPr>
          <a:xfrm>
            <a:off x="6263640" y="3567989"/>
            <a:ext cx="5257800" cy="819302"/>
          </a:xfrm>
          <a:prstGeom prst="roundRect">
            <a:avLst>
              <a:gd name="adj" fmla="val 6696"/>
            </a:avLst>
          </a:prstGeom>
          <a:solidFill>
            <a:srgbClr val="FFFFFF"/>
          </a:solidFill>
          <a:ln/>
          <a:effectLst>
            <a:outerShdw blurRad="76200" dist="25400" dir="5400000" algn="bl" rotWithShape="0">
              <a:srgbClr val="000000">
                <a:alpha val="8000"/>
              </a:srgbClr>
            </a:outerShdw>
          </a:effectLst>
        </p:spPr>
        <p:txBody>
          <a:bodyPr/>
          <a:lstStyle/>
          <a:p>
            <a:endParaRPr lang="en-IN"/>
          </a:p>
        </p:txBody>
      </p:sp>
      <p:sp>
        <p:nvSpPr>
          <p:cNvPr id="26" name="Text 24"/>
          <p:cNvSpPr/>
          <p:nvPr/>
        </p:nvSpPr>
        <p:spPr>
          <a:xfrm>
            <a:off x="6446520" y="3567989"/>
            <a:ext cx="731520" cy="819302"/>
          </a:xfrm>
          <a:prstGeom prst="rect">
            <a:avLst/>
          </a:prstGeom>
          <a:noFill/>
          <a:ln/>
        </p:spPr>
        <p:txBody>
          <a:bodyPr wrap="square" lIns="0" tIns="0" rIns="0" bIns="0" rtlCol="0" anchor="ctr"/>
          <a:lstStyle/>
          <a:p>
            <a:pPr marL="0" indent="0">
              <a:buNone/>
            </a:pPr>
            <a:r>
              <a:rPr lang="en-US" sz="2000" b="1" dirty="0">
                <a:solidFill>
                  <a:srgbClr val="D7E4D2"/>
                </a:solidFill>
                <a:latin typeface="Cambria" pitchFamily="34" charset="0"/>
                <a:ea typeface="Cambria" pitchFamily="34" charset="-122"/>
                <a:cs typeface="Cambria" pitchFamily="34" charset="-120"/>
              </a:rPr>
              <a:t>08</a:t>
            </a:r>
            <a:endParaRPr lang="en-US" sz="2000" dirty="0"/>
          </a:p>
        </p:txBody>
      </p:sp>
      <p:sp>
        <p:nvSpPr>
          <p:cNvPr id="27" name="Text 25"/>
          <p:cNvSpPr/>
          <p:nvPr/>
        </p:nvSpPr>
        <p:spPr>
          <a:xfrm>
            <a:off x="7132320" y="3567989"/>
            <a:ext cx="4251960" cy="819302"/>
          </a:xfrm>
          <a:prstGeom prst="rect">
            <a:avLst/>
          </a:prstGeom>
          <a:noFill/>
          <a:ln/>
        </p:spPr>
        <p:txBody>
          <a:bodyPr wrap="square" lIns="0" tIns="0" rIns="0" bIns="0" rtlCol="0" anchor="ctr"/>
          <a:lstStyle/>
          <a:p>
            <a:pPr marL="0" indent="0">
              <a:buNone/>
            </a:pPr>
            <a:r>
              <a:rPr lang="en-US" sz="1500" b="1" dirty="0">
                <a:solidFill>
                  <a:srgbClr val="1C2B1E"/>
                </a:solidFill>
                <a:latin typeface="Calibri" pitchFamily="34" charset="0"/>
                <a:ea typeface="Calibri" pitchFamily="34" charset="-122"/>
                <a:cs typeface="Calibri" pitchFamily="34" charset="-120"/>
              </a:rPr>
              <a:t>Conclusion</a:t>
            </a:r>
            <a:endParaRPr lang="en-US" sz="1500" dirty="0"/>
          </a:p>
        </p:txBody>
      </p:sp>
      <p:sp>
        <p:nvSpPr>
          <p:cNvPr id="28" name="Shape 26"/>
          <p:cNvSpPr/>
          <p:nvPr/>
        </p:nvSpPr>
        <p:spPr>
          <a:xfrm>
            <a:off x="6263640" y="4551883"/>
            <a:ext cx="5257800" cy="819302"/>
          </a:xfrm>
          <a:prstGeom prst="roundRect">
            <a:avLst>
              <a:gd name="adj" fmla="val 6696"/>
            </a:avLst>
          </a:prstGeom>
          <a:solidFill>
            <a:srgbClr val="FFFFFF"/>
          </a:solidFill>
          <a:ln/>
          <a:effectLst>
            <a:outerShdw blurRad="76200" dist="25400" dir="5400000" algn="bl" rotWithShape="0">
              <a:srgbClr val="000000">
                <a:alpha val="8000"/>
              </a:srgbClr>
            </a:outerShdw>
          </a:effectLst>
        </p:spPr>
        <p:txBody>
          <a:bodyPr/>
          <a:lstStyle/>
          <a:p>
            <a:endParaRPr lang="en-IN"/>
          </a:p>
        </p:txBody>
      </p:sp>
      <p:sp>
        <p:nvSpPr>
          <p:cNvPr id="29" name="Text 27"/>
          <p:cNvSpPr/>
          <p:nvPr/>
        </p:nvSpPr>
        <p:spPr>
          <a:xfrm>
            <a:off x="6446520" y="4551883"/>
            <a:ext cx="731520" cy="819302"/>
          </a:xfrm>
          <a:prstGeom prst="rect">
            <a:avLst/>
          </a:prstGeom>
          <a:noFill/>
          <a:ln/>
        </p:spPr>
        <p:txBody>
          <a:bodyPr wrap="square" lIns="0" tIns="0" rIns="0" bIns="0" rtlCol="0" anchor="ctr"/>
          <a:lstStyle/>
          <a:p>
            <a:pPr marL="0" indent="0">
              <a:buNone/>
            </a:pPr>
            <a:r>
              <a:rPr lang="en-US" sz="2000" b="1" dirty="0">
                <a:solidFill>
                  <a:srgbClr val="D7E4D2"/>
                </a:solidFill>
                <a:latin typeface="Cambria" pitchFamily="34" charset="0"/>
                <a:ea typeface="Cambria" pitchFamily="34" charset="-122"/>
                <a:cs typeface="Cambria" pitchFamily="34" charset="-120"/>
              </a:rPr>
              <a:t>09</a:t>
            </a:r>
            <a:endParaRPr lang="en-US" sz="2000" dirty="0"/>
          </a:p>
        </p:txBody>
      </p:sp>
      <p:sp>
        <p:nvSpPr>
          <p:cNvPr id="30" name="Text 28"/>
          <p:cNvSpPr/>
          <p:nvPr/>
        </p:nvSpPr>
        <p:spPr>
          <a:xfrm>
            <a:off x="7132320" y="4551883"/>
            <a:ext cx="4251960" cy="819302"/>
          </a:xfrm>
          <a:prstGeom prst="rect">
            <a:avLst/>
          </a:prstGeom>
          <a:noFill/>
          <a:ln/>
        </p:spPr>
        <p:txBody>
          <a:bodyPr wrap="square" lIns="0" tIns="0" rIns="0" bIns="0" rtlCol="0" anchor="ctr"/>
          <a:lstStyle/>
          <a:p>
            <a:pPr marL="0" indent="0">
              <a:buNone/>
            </a:pPr>
            <a:r>
              <a:rPr lang="en-US" sz="1500" b="1" dirty="0">
                <a:solidFill>
                  <a:srgbClr val="1C2B1E"/>
                </a:solidFill>
                <a:latin typeface="Calibri" pitchFamily="34" charset="0"/>
                <a:ea typeface="Calibri" pitchFamily="34" charset="-122"/>
                <a:cs typeface="Calibri" pitchFamily="34" charset="-120"/>
              </a:rPr>
              <a:t>Future Scope</a:t>
            </a:r>
            <a:endParaRPr lang="en-US" sz="1500" dirty="0"/>
          </a:p>
        </p:txBody>
      </p:sp>
      <p:sp>
        <p:nvSpPr>
          <p:cNvPr id="31" name="Text 29"/>
          <p:cNvSpPr/>
          <p:nvPr/>
        </p:nvSpPr>
        <p:spPr>
          <a:xfrm>
            <a:off x="11365992" y="6355080"/>
            <a:ext cx="548640" cy="320040"/>
          </a:xfrm>
          <a:prstGeom prst="rect">
            <a:avLst/>
          </a:prstGeom>
          <a:noFill/>
          <a:ln/>
        </p:spPr>
        <p:txBody>
          <a:bodyPr wrap="square" lIns="0" tIns="0" rIns="0" bIns="0" rtlCol="0" anchor="ctr"/>
          <a:lstStyle/>
          <a:p>
            <a:pPr marL="0" indent="0" algn="r">
              <a:buNone/>
            </a:pPr>
            <a:r>
              <a:rPr lang="en-US" sz="1100" dirty="0">
                <a:solidFill>
                  <a:srgbClr val="5B6B5E"/>
                </a:solidFill>
                <a:latin typeface="Calibri" pitchFamily="34" charset="0"/>
                <a:ea typeface="Calibri" pitchFamily="34" charset="-122"/>
                <a:cs typeface="Calibri" pitchFamily="34" charset="-120"/>
              </a:rPr>
              <a:t>3</a:t>
            </a:r>
            <a:endParaRPr lang="en-US" sz="1100" dirty="0"/>
          </a:p>
        </p:txBody>
      </p:sp>
      <p:sp>
        <p:nvSpPr>
          <p:cNvPr id="32" name="Text 30"/>
          <p:cNvSpPr/>
          <p:nvPr/>
        </p:nvSpPr>
        <p:spPr>
          <a:xfrm>
            <a:off x="457200" y="6355080"/>
            <a:ext cx="4572000" cy="320040"/>
          </a:xfrm>
          <a:prstGeom prst="rect">
            <a:avLst/>
          </a:prstGeom>
          <a:noFill/>
          <a:ln/>
        </p:spPr>
        <p:txBody>
          <a:bodyPr wrap="square" lIns="0" tIns="0" rIns="0" bIns="0" rtlCol="0" anchor="ctr"/>
          <a:lstStyle/>
          <a:p>
            <a:pPr marL="0" indent="0" algn="l">
              <a:buNone/>
            </a:pPr>
            <a:r>
              <a:rPr lang="en-US" sz="900" dirty="0">
                <a:solidFill>
                  <a:srgbClr val="5B6B5E"/>
                </a:solidFill>
                <a:latin typeface="Calibri" pitchFamily="34" charset="0"/>
                <a:ea typeface="Calibri" pitchFamily="34" charset="-122"/>
                <a:cs typeface="Calibri" pitchFamily="34" charset="-120"/>
              </a:rPr>
              <a:t>Greenhouse Crop Production</a:t>
            </a:r>
            <a:endParaRPr lang="en-US" sz="900" dirty="0"/>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curtains"/>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9F5"/>
        </a:solidFill>
        <a:effectLst/>
      </p:bgPr>
    </p:bg>
    <p:spTree>
      <p:nvGrpSpPr>
        <p:cNvPr id="1" name=""/>
        <p:cNvGrpSpPr/>
        <p:nvPr/>
      </p:nvGrpSpPr>
      <p:grpSpPr>
        <a:xfrm>
          <a:off x="0" y="0"/>
          <a:ext cx="0" cy="0"/>
          <a:chOff x="0" y="0"/>
          <a:chExt cx="0" cy="0"/>
        </a:xfrm>
      </p:grpSpPr>
      <p:sp>
        <p:nvSpPr>
          <p:cNvPr id="2" name="Text 0"/>
          <p:cNvSpPr/>
          <p:nvPr/>
        </p:nvSpPr>
        <p:spPr>
          <a:xfrm>
            <a:off x="548640" y="384048"/>
            <a:ext cx="8229600" cy="320040"/>
          </a:xfrm>
          <a:prstGeom prst="rect">
            <a:avLst/>
          </a:prstGeom>
          <a:noFill/>
          <a:ln/>
        </p:spPr>
        <p:txBody>
          <a:bodyPr wrap="square" lIns="0" tIns="0" rIns="0" bIns="0" rtlCol="0" anchor="ctr"/>
          <a:lstStyle/>
          <a:p>
            <a:pPr marL="0" indent="0">
              <a:buNone/>
            </a:pPr>
            <a:r>
              <a:rPr lang="en-US" sz="1300" b="1" kern="0" spc="200" dirty="0">
                <a:solidFill>
                  <a:srgbClr val="6FA95E"/>
                </a:solidFill>
                <a:latin typeface="Calibri" pitchFamily="34" charset="0"/>
                <a:ea typeface="Calibri" pitchFamily="34" charset="-122"/>
                <a:cs typeface="Calibri" pitchFamily="34" charset="-120"/>
              </a:rPr>
              <a:t>GETTING STARTED</a:t>
            </a:r>
            <a:endParaRPr lang="en-US" sz="1300" dirty="0"/>
          </a:p>
        </p:txBody>
      </p:sp>
      <p:sp>
        <p:nvSpPr>
          <p:cNvPr id="3" name="Text 1"/>
          <p:cNvSpPr/>
          <p:nvPr/>
        </p:nvSpPr>
        <p:spPr>
          <a:xfrm>
            <a:off x="548640" y="658368"/>
            <a:ext cx="10515600" cy="685800"/>
          </a:xfrm>
          <a:prstGeom prst="rect">
            <a:avLst/>
          </a:prstGeom>
          <a:noFill/>
          <a:ln/>
        </p:spPr>
        <p:txBody>
          <a:bodyPr wrap="square" lIns="0" tIns="0" rIns="0" bIns="0" rtlCol="0" anchor="ctr"/>
          <a:lstStyle/>
          <a:p>
            <a:pPr marL="0" indent="0">
              <a:buNone/>
            </a:pPr>
            <a:r>
              <a:rPr lang="en-US" sz="3200" b="1" dirty="0">
                <a:solidFill>
                  <a:srgbClr val="163A20"/>
                </a:solidFill>
                <a:latin typeface="Cambria" pitchFamily="34" charset="0"/>
                <a:ea typeface="Cambria" pitchFamily="34" charset="-122"/>
                <a:cs typeface="Cambria" pitchFamily="34" charset="-120"/>
              </a:rPr>
              <a:t>Introduction</a:t>
            </a:r>
            <a:endParaRPr lang="en-US" sz="3200" dirty="0"/>
          </a:p>
        </p:txBody>
      </p:sp>
      <p:sp>
        <p:nvSpPr>
          <p:cNvPr id="4" name="Text 2"/>
          <p:cNvSpPr/>
          <p:nvPr/>
        </p:nvSpPr>
        <p:spPr>
          <a:xfrm>
            <a:off x="594360" y="1554480"/>
            <a:ext cx="5943600" cy="2103120"/>
          </a:xfrm>
          <a:prstGeom prst="rect">
            <a:avLst/>
          </a:prstGeom>
          <a:noFill/>
          <a:ln/>
        </p:spPr>
        <p:txBody>
          <a:bodyPr wrap="square" lIns="0" tIns="0" rIns="0" bIns="0" rtlCol="0" anchor="ctr"/>
          <a:lstStyle/>
          <a:p>
            <a:pPr>
              <a:lnSpc>
                <a:spcPct val="125000"/>
              </a:lnSpc>
            </a:pPr>
            <a:r>
              <a:rPr lang="en-IN" sz="2800" dirty="0"/>
              <a:t>Why we use greenhouse crop data ?</a:t>
            </a:r>
          </a:p>
          <a:p>
            <a:pPr>
              <a:lnSpc>
                <a:spcPct val="125000"/>
              </a:lnSpc>
            </a:pPr>
            <a:r>
              <a:rPr lang="en-IN" dirty="0"/>
              <a:t>Greenhouse crop data helps farmers make smarter decisions by using sensor information to control water, temperature, humidity, and fertilizer. Proper use of this data reduces waste, improves crop quality, and increases overall production and profit</a:t>
            </a:r>
            <a:r>
              <a:rPr lang="en-US" sz="1450" dirty="0">
                <a:solidFill>
                  <a:srgbClr val="1C2B1E"/>
                </a:solidFill>
                <a:latin typeface="Calibri" pitchFamily="34" charset="0"/>
                <a:ea typeface="Calibri" pitchFamily="34" charset="-122"/>
                <a:cs typeface="Calibri" pitchFamily="34" charset="-120"/>
              </a:rPr>
              <a:t>.</a:t>
            </a:r>
            <a:endParaRPr lang="en-US" sz="1450" dirty="0"/>
          </a:p>
        </p:txBody>
      </p:sp>
      <p:sp>
        <p:nvSpPr>
          <p:cNvPr id="5" name="Shape 3"/>
          <p:cNvSpPr/>
          <p:nvPr/>
        </p:nvSpPr>
        <p:spPr>
          <a:xfrm>
            <a:off x="632460" y="3781304"/>
            <a:ext cx="457200" cy="457200"/>
          </a:xfrm>
          <a:prstGeom prst="ellipse">
            <a:avLst/>
          </a:prstGeom>
          <a:solidFill>
            <a:srgbClr val="6FA95E"/>
          </a:solidFill>
          <a:ln/>
        </p:spPr>
        <p:txBody>
          <a:bodyPr/>
          <a:lstStyle/>
          <a:p>
            <a:endParaRPr lang="en-IN"/>
          </a:p>
        </p:txBody>
      </p:sp>
      <p:pic>
        <p:nvPicPr>
          <p:cNvPr id="6" name="Image 0" descr="preencoded.png"/>
          <p:cNvPicPr>
            <a:picLocks noChangeAspect="1"/>
          </p:cNvPicPr>
          <p:nvPr/>
        </p:nvPicPr>
        <p:blipFill>
          <a:blip r:embed="rId3"/>
          <a:stretch>
            <a:fillRect/>
          </a:stretch>
        </p:blipFill>
        <p:spPr>
          <a:xfrm>
            <a:off x="737616" y="3890893"/>
            <a:ext cx="219456" cy="219456"/>
          </a:xfrm>
          <a:prstGeom prst="rect">
            <a:avLst/>
          </a:prstGeom>
        </p:spPr>
      </p:pic>
      <p:sp>
        <p:nvSpPr>
          <p:cNvPr id="7" name="Text 4"/>
          <p:cNvSpPr/>
          <p:nvPr/>
        </p:nvSpPr>
        <p:spPr>
          <a:xfrm>
            <a:off x="1249680" y="3751355"/>
            <a:ext cx="5394960" cy="722376"/>
          </a:xfrm>
          <a:prstGeom prst="rect">
            <a:avLst/>
          </a:prstGeom>
          <a:noFill/>
          <a:ln/>
        </p:spPr>
        <p:txBody>
          <a:bodyPr wrap="square" lIns="0" tIns="0" rIns="0" bIns="0" rtlCol="0" anchor="ctr"/>
          <a:lstStyle/>
          <a:p>
            <a:r>
              <a:rPr lang="en-IN" b="1" u="sng" dirty="0"/>
              <a:t>Sensor data is collected but not fully used -&gt;</a:t>
            </a:r>
          </a:p>
          <a:p>
            <a:r>
              <a:rPr lang="en-IN" sz="1600" dirty="0"/>
              <a:t>For example, sensors measure temperature, humidity, and soil moisture, but farmers may not </a:t>
            </a:r>
            <a:r>
              <a:rPr lang="en-IN" sz="1600" dirty="0" err="1"/>
              <a:t>analyze</a:t>
            </a:r>
            <a:r>
              <a:rPr lang="en-IN" sz="1600" dirty="0"/>
              <a:t> all the information.</a:t>
            </a:r>
          </a:p>
        </p:txBody>
      </p:sp>
      <p:sp>
        <p:nvSpPr>
          <p:cNvPr id="8" name="Shape 5"/>
          <p:cNvSpPr/>
          <p:nvPr/>
        </p:nvSpPr>
        <p:spPr>
          <a:xfrm>
            <a:off x="632460" y="4777740"/>
            <a:ext cx="457200" cy="457200"/>
          </a:xfrm>
          <a:prstGeom prst="ellipse">
            <a:avLst/>
          </a:prstGeom>
          <a:solidFill>
            <a:srgbClr val="6FA95E"/>
          </a:solidFill>
          <a:ln/>
        </p:spPr>
        <p:txBody>
          <a:bodyPr/>
          <a:lstStyle/>
          <a:p>
            <a:endParaRPr lang="en-IN"/>
          </a:p>
        </p:txBody>
      </p:sp>
      <p:sp>
        <p:nvSpPr>
          <p:cNvPr id="10" name="Text 6"/>
          <p:cNvSpPr/>
          <p:nvPr/>
        </p:nvSpPr>
        <p:spPr>
          <a:xfrm>
            <a:off x="1234440" y="5416081"/>
            <a:ext cx="5394960" cy="408605"/>
          </a:xfrm>
          <a:prstGeom prst="rect">
            <a:avLst/>
          </a:prstGeom>
          <a:noFill/>
          <a:ln/>
        </p:spPr>
        <p:txBody>
          <a:bodyPr wrap="square" lIns="0" tIns="0" rIns="0" bIns="0" rtlCol="0" anchor="ctr"/>
          <a:lstStyle/>
          <a:p>
            <a:r>
              <a:rPr lang="en-IN" b="1" u="sng" dirty="0"/>
              <a:t>Chances to improve the greenhouse are missed -&gt;</a:t>
            </a:r>
          </a:p>
          <a:p>
            <a:r>
              <a:rPr lang="en-IN" sz="1600" dirty="0"/>
              <a:t>Because the collected data is not used properly.</a:t>
            </a:r>
          </a:p>
          <a:p>
            <a:r>
              <a:rPr lang="en-IN" sz="1600" dirty="0"/>
              <a:t>Water may be given when plants do not need it.</a:t>
            </a:r>
          </a:p>
          <a:p>
            <a:r>
              <a:rPr lang="en-IN" sz="1600" dirty="0"/>
              <a:t>Temperature settings may not be adjusted at the right time.</a:t>
            </a:r>
          </a:p>
          <a:p>
            <a:r>
              <a:rPr lang="en-IN" sz="1600" dirty="0"/>
              <a:t>Fertilizer may be used more than required.</a:t>
            </a:r>
          </a:p>
          <a:p>
            <a:endParaRPr lang="en-IN" sz="1600" dirty="0"/>
          </a:p>
          <a:p>
            <a:endParaRPr lang="en-IN" sz="1600" dirty="0"/>
          </a:p>
        </p:txBody>
      </p:sp>
      <p:sp>
        <p:nvSpPr>
          <p:cNvPr id="13" name="Text 8"/>
          <p:cNvSpPr/>
          <p:nvPr/>
        </p:nvSpPr>
        <p:spPr>
          <a:xfrm>
            <a:off x="1325880" y="5737278"/>
            <a:ext cx="5394960" cy="457200"/>
          </a:xfrm>
          <a:prstGeom prst="rect">
            <a:avLst/>
          </a:prstGeom>
          <a:noFill/>
          <a:ln/>
        </p:spPr>
        <p:txBody>
          <a:bodyPr wrap="square" lIns="0" tIns="0" rIns="0" bIns="0" rtlCol="0" anchor="ctr"/>
          <a:lstStyle/>
          <a:p>
            <a:endParaRPr lang="en-US" sz="1400" dirty="0">
              <a:solidFill>
                <a:schemeClr val="accent1">
                  <a:lumMod val="75000"/>
                </a:schemeClr>
              </a:solidFill>
            </a:endParaRPr>
          </a:p>
        </p:txBody>
      </p:sp>
      <p:sp>
        <p:nvSpPr>
          <p:cNvPr id="14" name="Shape 9"/>
          <p:cNvSpPr/>
          <p:nvPr/>
        </p:nvSpPr>
        <p:spPr>
          <a:xfrm>
            <a:off x="6858000" y="1554480"/>
            <a:ext cx="4754880" cy="4617720"/>
          </a:xfrm>
          <a:prstGeom prst="roundRect">
            <a:avLst>
              <a:gd name="adj" fmla="val 1584"/>
            </a:avLst>
          </a:prstGeom>
          <a:solidFill>
            <a:srgbClr val="1F4D2C"/>
          </a:solidFill>
          <a:ln/>
          <a:effectLst>
            <a:outerShdw blurRad="101600" dist="38100" dir="5400000" algn="bl" rotWithShape="0">
              <a:srgbClr val="000000">
                <a:alpha val="15000"/>
              </a:srgbClr>
            </a:outerShdw>
          </a:effectLst>
        </p:spPr>
        <p:txBody>
          <a:bodyPr/>
          <a:lstStyle/>
          <a:p>
            <a:endParaRPr lang="en-IN"/>
          </a:p>
        </p:txBody>
      </p:sp>
      <p:sp>
        <p:nvSpPr>
          <p:cNvPr id="15" name="Text 10"/>
          <p:cNvSpPr/>
          <p:nvPr/>
        </p:nvSpPr>
        <p:spPr>
          <a:xfrm>
            <a:off x="7223760" y="1920240"/>
            <a:ext cx="4023360" cy="1554480"/>
          </a:xfrm>
          <a:prstGeom prst="rect">
            <a:avLst/>
          </a:prstGeom>
          <a:noFill/>
          <a:ln/>
        </p:spPr>
        <p:txBody>
          <a:bodyPr wrap="square" lIns="0" tIns="0" rIns="0" bIns="0" rtlCol="0" anchor="t"/>
          <a:lstStyle/>
          <a:p>
            <a:pPr marL="0" indent="0">
              <a:buNone/>
            </a:pPr>
            <a:r>
              <a:rPr lang="en-US" sz="1400" i="1" dirty="0">
                <a:solidFill>
                  <a:srgbClr val="FFFFFF"/>
                </a:solidFill>
                <a:latin typeface="Calibri" pitchFamily="34" charset="0"/>
                <a:ea typeface="Calibri" pitchFamily="34" charset="-122"/>
                <a:cs typeface="Calibri" pitchFamily="34" charset="-120"/>
              </a:rPr>
              <a:t>This project analyzes real greenhouse operations data to understand how environmental and nutritional factors shape crop yield.</a:t>
            </a:r>
            <a:endParaRPr lang="en-US" sz="1400" dirty="0"/>
          </a:p>
        </p:txBody>
      </p:sp>
      <p:sp>
        <p:nvSpPr>
          <p:cNvPr id="16" name="Shape 11"/>
          <p:cNvSpPr/>
          <p:nvPr/>
        </p:nvSpPr>
        <p:spPr>
          <a:xfrm>
            <a:off x="7223760" y="3657600"/>
            <a:ext cx="640080" cy="640080"/>
          </a:xfrm>
          <a:prstGeom prst="ellipse">
            <a:avLst/>
          </a:prstGeom>
          <a:solidFill>
            <a:srgbClr val="6FA95E"/>
          </a:solidFill>
          <a:ln/>
        </p:spPr>
        <p:txBody>
          <a:bodyPr/>
          <a:lstStyle/>
          <a:p>
            <a:endParaRPr lang="en-IN"/>
          </a:p>
        </p:txBody>
      </p:sp>
      <p:pic>
        <p:nvPicPr>
          <p:cNvPr id="17" name="Image 3" descr="preencoded.png"/>
          <p:cNvPicPr>
            <a:picLocks noChangeAspect="1"/>
          </p:cNvPicPr>
          <p:nvPr/>
        </p:nvPicPr>
        <p:blipFill>
          <a:blip r:embed="rId4"/>
          <a:stretch>
            <a:fillRect/>
          </a:stretch>
        </p:blipFill>
        <p:spPr>
          <a:xfrm>
            <a:off x="7390181" y="3824021"/>
            <a:ext cx="307238" cy="307238"/>
          </a:xfrm>
          <a:prstGeom prst="rect">
            <a:avLst/>
          </a:prstGeom>
        </p:spPr>
      </p:pic>
      <p:sp>
        <p:nvSpPr>
          <p:cNvPr id="18" name="Text 12"/>
          <p:cNvSpPr/>
          <p:nvPr/>
        </p:nvSpPr>
        <p:spPr>
          <a:xfrm>
            <a:off x="8001000" y="3749040"/>
            <a:ext cx="3383280" cy="274320"/>
          </a:xfrm>
          <a:prstGeom prst="rect">
            <a:avLst/>
          </a:prstGeom>
          <a:noFill/>
          <a:ln/>
        </p:spPr>
        <p:txBody>
          <a:bodyPr wrap="square" lIns="0" tIns="0" rIns="0" bIns="0" rtlCol="0" anchor="ctr"/>
          <a:lstStyle/>
          <a:p>
            <a:pPr marL="0" indent="0">
              <a:buNone/>
            </a:pPr>
            <a:r>
              <a:rPr lang="en-US" sz="1200" b="1" dirty="0">
                <a:solidFill>
                  <a:srgbClr val="D7E8D3"/>
                </a:solidFill>
                <a:latin typeface="Calibri" pitchFamily="34" charset="0"/>
                <a:ea typeface="Calibri" pitchFamily="34" charset="-122"/>
                <a:cs typeface="Calibri" pitchFamily="34" charset="-120"/>
              </a:rPr>
              <a:t>Focus Crops</a:t>
            </a:r>
            <a:endParaRPr lang="en-US" sz="1200" dirty="0"/>
          </a:p>
        </p:txBody>
      </p:sp>
      <p:sp>
        <p:nvSpPr>
          <p:cNvPr id="19" name="Text 13"/>
          <p:cNvSpPr/>
          <p:nvPr/>
        </p:nvSpPr>
        <p:spPr>
          <a:xfrm>
            <a:off x="8001000" y="4041648"/>
            <a:ext cx="3383280" cy="365760"/>
          </a:xfrm>
          <a:prstGeom prst="rect">
            <a:avLst/>
          </a:prstGeom>
          <a:noFill/>
          <a:ln/>
        </p:spPr>
        <p:txBody>
          <a:bodyPr wrap="square" lIns="0" tIns="0" rIns="0" bIns="0" rtlCol="0" anchor="ctr"/>
          <a:lstStyle/>
          <a:p>
            <a:pPr marL="0" indent="0">
              <a:buNone/>
            </a:pPr>
            <a:r>
              <a:rPr lang="en-US" sz="1400" b="1" dirty="0">
                <a:solidFill>
                  <a:srgbClr val="FFFFFF"/>
                </a:solidFill>
                <a:latin typeface="Calibri" pitchFamily="34" charset="0"/>
                <a:ea typeface="Calibri" pitchFamily="34" charset="-122"/>
                <a:cs typeface="Calibri" pitchFamily="34" charset="-120"/>
              </a:rPr>
              <a:t>Tomato  •  Cucumber  •  Pepper  •  Lettuce</a:t>
            </a:r>
            <a:endParaRPr lang="en-US" sz="1400" dirty="0"/>
          </a:p>
        </p:txBody>
      </p:sp>
      <p:sp>
        <p:nvSpPr>
          <p:cNvPr id="20" name="Shape 14"/>
          <p:cNvSpPr/>
          <p:nvPr/>
        </p:nvSpPr>
        <p:spPr>
          <a:xfrm>
            <a:off x="7223760" y="4663440"/>
            <a:ext cx="4023360" cy="0"/>
          </a:xfrm>
          <a:prstGeom prst="line">
            <a:avLst/>
          </a:prstGeom>
          <a:noFill/>
          <a:ln w="12700">
            <a:solidFill>
              <a:srgbClr val="3E6A4A"/>
            </a:solidFill>
            <a:prstDash val="solid"/>
          </a:ln>
        </p:spPr>
        <p:txBody>
          <a:bodyPr/>
          <a:lstStyle/>
          <a:p>
            <a:endParaRPr lang="en-IN"/>
          </a:p>
        </p:txBody>
      </p:sp>
      <p:sp>
        <p:nvSpPr>
          <p:cNvPr id="21" name="Text 15"/>
          <p:cNvSpPr/>
          <p:nvPr/>
        </p:nvSpPr>
        <p:spPr>
          <a:xfrm>
            <a:off x="7223760" y="4846320"/>
            <a:ext cx="1188720" cy="548640"/>
          </a:xfrm>
          <a:prstGeom prst="rect">
            <a:avLst/>
          </a:prstGeom>
          <a:noFill/>
          <a:ln/>
        </p:spPr>
        <p:txBody>
          <a:bodyPr wrap="square" lIns="0" tIns="0" rIns="0" bIns="0" rtlCol="0" anchor="ctr"/>
          <a:lstStyle/>
          <a:p>
            <a:pPr marL="0" indent="0">
              <a:buNone/>
            </a:pPr>
            <a:r>
              <a:rPr lang="en-US" sz="2600" b="1" dirty="0">
                <a:solidFill>
                  <a:srgbClr val="E8A33D"/>
                </a:solidFill>
                <a:latin typeface="Cambria" pitchFamily="34" charset="0"/>
                <a:ea typeface="Cambria" pitchFamily="34" charset="-122"/>
                <a:cs typeface="Cambria" pitchFamily="34" charset="-120"/>
              </a:rPr>
              <a:t>5</a:t>
            </a:r>
            <a:endParaRPr lang="en-US" sz="2600" dirty="0"/>
          </a:p>
        </p:txBody>
      </p:sp>
      <p:sp>
        <p:nvSpPr>
          <p:cNvPr id="22" name="Text 16"/>
          <p:cNvSpPr/>
          <p:nvPr/>
        </p:nvSpPr>
        <p:spPr>
          <a:xfrm>
            <a:off x="7223760" y="5394960"/>
            <a:ext cx="1828800" cy="548640"/>
          </a:xfrm>
          <a:prstGeom prst="rect">
            <a:avLst/>
          </a:prstGeom>
          <a:noFill/>
          <a:ln/>
        </p:spPr>
        <p:txBody>
          <a:bodyPr wrap="square" lIns="0" tIns="0" rIns="0" bIns="0" rtlCol="0" anchor="ctr"/>
          <a:lstStyle/>
          <a:p>
            <a:pPr marL="0" indent="0">
              <a:buNone/>
            </a:pPr>
            <a:r>
              <a:rPr lang="en-US" sz="1050" dirty="0">
                <a:solidFill>
                  <a:srgbClr val="D7E8D3"/>
                </a:solidFill>
                <a:latin typeface="Calibri" pitchFamily="34" charset="0"/>
                <a:ea typeface="Calibri" pitchFamily="34" charset="-122"/>
                <a:cs typeface="Calibri" pitchFamily="34" charset="-120"/>
              </a:rPr>
              <a:t>Greenhouses studied</a:t>
            </a:r>
            <a:endParaRPr lang="en-US" sz="1050" dirty="0"/>
          </a:p>
        </p:txBody>
      </p:sp>
      <p:sp>
        <p:nvSpPr>
          <p:cNvPr id="23" name="Text 17"/>
          <p:cNvSpPr/>
          <p:nvPr/>
        </p:nvSpPr>
        <p:spPr>
          <a:xfrm>
            <a:off x="8686800" y="4846320"/>
            <a:ext cx="1554480" cy="548640"/>
          </a:xfrm>
          <a:prstGeom prst="rect">
            <a:avLst/>
          </a:prstGeom>
          <a:noFill/>
          <a:ln/>
        </p:spPr>
        <p:txBody>
          <a:bodyPr wrap="square" lIns="0" tIns="0" rIns="0" bIns="0" rtlCol="0" anchor="ctr"/>
          <a:lstStyle/>
          <a:p>
            <a:pPr marL="0" indent="0">
              <a:buNone/>
            </a:pPr>
            <a:r>
              <a:rPr lang="en-US" sz="2600" b="1" dirty="0">
                <a:solidFill>
                  <a:srgbClr val="E8A33D"/>
                </a:solidFill>
                <a:latin typeface="Cambria" pitchFamily="34" charset="0"/>
                <a:ea typeface="Cambria" pitchFamily="34" charset="-122"/>
                <a:cs typeface="Cambria" pitchFamily="34" charset="-120"/>
              </a:rPr>
              <a:t>10,400</a:t>
            </a:r>
            <a:endParaRPr lang="en-US" sz="2600" dirty="0"/>
          </a:p>
        </p:txBody>
      </p:sp>
      <p:sp>
        <p:nvSpPr>
          <p:cNvPr id="24" name="Text 18"/>
          <p:cNvSpPr/>
          <p:nvPr/>
        </p:nvSpPr>
        <p:spPr>
          <a:xfrm>
            <a:off x="8686800" y="5394960"/>
            <a:ext cx="2194560" cy="548640"/>
          </a:xfrm>
          <a:prstGeom prst="rect">
            <a:avLst/>
          </a:prstGeom>
          <a:noFill/>
          <a:ln/>
        </p:spPr>
        <p:txBody>
          <a:bodyPr wrap="square" lIns="0" tIns="0" rIns="0" bIns="0" rtlCol="0" anchor="ctr"/>
          <a:lstStyle/>
          <a:p>
            <a:pPr marL="0" indent="0">
              <a:buNone/>
            </a:pPr>
            <a:r>
              <a:rPr lang="en-US" sz="1050" dirty="0">
                <a:solidFill>
                  <a:srgbClr val="D7E8D3"/>
                </a:solidFill>
                <a:latin typeface="Calibri" pitchFamily="34" charset="0"/>
                <a:ea typeface="Calibri" pitchFamily="34" charset="-122"/>
                <a:cs typeface="Calibri" pitchFamily="34" charset="-120"/>
              </a:rPr>
              <a:t>Crop growth records</a:t>
            </a:r>
            <a:endParaRPr lang="en-US" sz="1050" dirty="0"/>
          </a:p>
        </p:txBody>
      </p:sp>
      <p:sp>
        <p:nvSpPr>
          <p:cNvPr id="25" name="Text 19"/>
          <p:cNvSpPr/>
          <p:nvPr/>
        </p:nvSpPr>
        <p:spPr>
          <a:xfrm>
            <a:off x="11365992" y="6355080"/>
            <a:ext cx="548640" cy="320040"/>
          </a:xfrm>
          <a:prstGeom prst="rect">
            <a:avLst/>
          </a:prstGeom>
          <a:noFill/>
          <a:ln/>
        </p:spPr>
        <p:txBody>
          <a:bodyPr wrap="square" lIns="0" tIns="0" rIns="0" bIns="0" rtlCol="0" anchor="ctr"/>
          <a:lstStyle/>
          <a:p>
            <a:pPr marL="0" indent="0" algn="r">
              <a:buNone/>
            </a:pPr>
            <a:r>
              <a:rPr lang="en-US" sz="1100" dirty="0">
                <a:solidFill>
                  <a:srgbClr val="5B6B5E"/>
                </a:solidFill>
                <a:latin typeface="Calibri" pitchFamily="34" charset="0"/>
                <a:ea typeface="Calibri" pitchFamily="34" charset="-122"/>
                <a:cs typeface="Calibri" pitchFamily="34" charset="-120"/>
              </a:rPr>
              <a:t>4</a:t>
            </a:r>
            <a:endParaRPr lang="en-US" sz="1100" dirty="0"/>
          </a:p>
        </p:txBody>
      </p:sp>
      <p:sp>
        <p:nvSpPr>
          <p:cNvPr id="26" name="Text 20"/>
          <p:cNvSpPr/>
          <p:nvPr/>
        </p:nvSpPr>
        <p:spPr>
          <a:xfrm>
            <a:off x="457200" y="6355080"/>
            <a:ext cx="4572000" cy="320040"/>
          </a:xfrm>
          <a:prstGeom prst="rect">
            <a:avLst/>
          </a:prstGeom>
          <a:noFill/>
          <a:ln/>
        </p:spPr>
        <p:txBody>
          <a:bodyPr wrap="square" lIns="0" tIns="0" rIns="0" bIns="0" rtlCol="0" anchor="ctr"/>
          <a:lstStyle/>
          <a:p>
            <a:pPr marL="0" indent="0" algn="l">
              <a:buNone/>
            </a:pPr>
            <a:r>
              <a:rPr lang="en-US" sz="900" dirty="0">
                <a:solidFill>
                  <a:srgbClr val="5B6B5E"/>
                </a:solidFill>
                <a:latin typeface="Calibri" pitchFamily="34" charset="0"/>
                <a:ea typeface="Calibri" pitchFamily="34" charset="-122"/>
                <a:cs typeface="Calibri" pitchFamily="34" charset="-120"/>
              </a:rPr>
              <a:t>Greenhouse Crop Production</a:t>
            </a:r>
            <a:endParaRPr lang="en-US" sz="900" dirty="0"/>
          </a:p>
        </p:txBody>
      </p:sp>
      <p:pic>
        <p:nvPicPr>
          <p:cNvPr id="32" name="Image 1" descr="preencoded.png">
            <a:extLst>
              <a:ext uri="{FF2B5EF4-FFF2-40B4-BE49-F238E27FC236}">
                <a16:creationId xmlns:a16="http://schemas.microsoft.com/office/drawing/2014/main" id="{63DD3E63-C5A3-D4B8-D6AD-1AD97D906BF4}"/>
              </a:ext>
            </a:extLst>
          </p:cNvPr>
          <p:cNvPicPr>
            <a:picLocks noChangeAspect="1"/>
          </p:cNvPicPr>
          <p:nvPr/>
        </p:nvPicPr>
        <p:blipFill>
          <a:blip r:embed="rId5"/>
          <a:stretch>
            <a:fillRect/>
          </a:stretch>
        </p:blipFill>
        <p:spPr>
          <a:xfrm>
            <a:off x="746582" y="4940998"/>
            <a:ext cx="210490" cy="237196"/>
          </a:xfrm>
          <a:prstGeom prst="rect">
            <a:avLst/>
          </a:prstGeom>
        </p:spPr>
      </p:pic>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curtains"/>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163A20"/>
        </a:solidFill>
        <a:effectLst/>
      </p:bgPr>
    </p:bg>
    <p:spTree>
      <p:nvGrpSpPr>
        <p:cNvPr id="1" name=""/>
        <p:cNvGrpSpPr/>
        <p:nvPr/>
      </p:nvGrpSpPr>
      <p:grpSpPr>
        <a:xfrm>
          <a:off x="0" y="0"/>
          <a:ext cx="0" cy="0"/>
          <a:chOff x="0" y="0"/>
          <a:chExt cx="0" cy="0"/>
        </a:xfrm>
      </p:grpSpPr>
      <p:sp>
        <p:nvSpPr>
          <p:cNvPr id="2" name="Shape 0"/>
          <p:cNvSpPr/>
          <p:nvPr/>
        </p:nvSpPr>
        <p:spPr>
          <a:xfrm>
            <a:off x="9144000" y="-1828800"/>
            <a:ext cx="6400800" cy="6400800"/>
          </a:xfrm>
          <a:prstGeom prst="ellipse">
            <a:avLst/>
          </a:prstGeom>
          <a:solidFill>
            <a:srgbClr val="1F4D2C">
              <a:alpha val="45000"/>
            </a:srgbClr>
          </a:solidFill>
          <a:ln/>
        </p:spPr>
        <p:txBody>
          <a:bodyPr/>
          <a:lstStyle/>
          <a:p>
            <a:endParaRPr lang="en-IN"/>
          </a:p>
        </p:txBody>
      </p:sp>
      <p:sp>
        <p:nvSpPr>
          <p:cNvPr id="3" name="Text 1"/>
          <p:cNvSpPr/>
          <p:nvPr/>
        </p:nvSpPr>
        <p:spPr>
          <a:xfrm>
            <a:off x="548640" y="457200"/>
            <a:ext cx="8229600" cy="320040"/>
          </a:xfrm>
          <a:prstGeom prst="rect">
            <a:avLst/>
          </a:prstGeom>
          <a:noFill/>
          <a:ln/>
        </p:spPr>
        <p:txBody>
          <a:bodyPr wrap="square" lIns="0" tIns="0" rIns="0" bIns="0" rtlCol="0" anchor="ctr"/>
          <a:lstStyle/>
          <a:p>
            <a:pPr marL="0" indent="0">
              <a:buNone/>
            </a:pPr>
            <a:r>
              <a:rPr lang="en-US" sz="1300" b="1" kern="0" spc="200" dirty="0">
                <a:solidFill>
                  <a:srgbClr val="6FA95E"/>
                </a:solidFill>
                <a:latin typeface="Calibri" pitchFamily="34" charset="0"/>
                <a:ea typeface="Calibri" pitchFamily="34" charset="-122"/>
                <a:cs typeface="Calibri" pitchFamily="34" charset="-120"/>
              </a:rPr>
              <a:t>THE CHALLENGE</a:t>
            </a:r>
            <a:endParaRPr lang="en-US" sz="1300" dirty="0"/>
          </a:p>
        </p:txBody>
      </p:sp>
      <p:sp>
        <p:nvSpPr>
          <p:cNvPr id="4" name="Text 2"/>
          <p:cNvSpPr/>
          <p:nvPr/>
        </p:nvSpPr>
        <p:spPr>
          <a:xfrm>
            <a:off x="548640" y="731520"/>
            <a:ext cx="10515600" cy="685800"/>
          </a:xfrm>
          <a:prstGeom prst="rect">
            <a:avLst/>
          </a:prstGeom>
          <a:noFill/>
          <a:ln/>
        </p:spPr>
        <p:txBody>
          <a:bodyPr wrap="square" lIns="0" tIns="0" rIns="0" bIns="0" rtlCol="0" anchor="ctr"/>
          <a:lstStyle/>
          <a:p>
            <a:pPr marL="0" indent="0">
              <a:buNone/>
            </a:pPr>
            <a:r>
              <a:rPr lang="en-US" sz="3200" b="1" dirty="0">
                <a:solidFill>
                  <a:srgbClr val="FFFFFF"/>
                </a:solidFill>
                <a:latin typeface="Cambria" pitchFamily="34" charset="0"/>
                <a:ea typeface="Cambria" pitchFamily="34" charset="-122"/>
                <a:cs typeface="Cambria" pitchFamily="34" charset="-120"/>
              </a:rPr>
              <a:t>Problem Statement</a:t>
            </a:r>
            <a:endParaRPr lang="en-US" sz="3200" dirty="0"/>
          </a:p>
        </p:txBody>
      </p:sp>
      <p:sp>
        <p:nvSpPr>
          <p:cNvPr id="5" name="Text 3"/>
          <p:cNvSpPr/>
          <p:nvPr/>
        </p:nvSpPr>
        <p:spPr>
          <a:xfrm>
            <a:off x="594360" y="1691640"/>
            <a:ext cx="10515600" cy="1280160"/>
          </a:xfrm>
          <a:prstGeom prst="rect">
            <a:avLst/>
          </a:prstGeom>
          <a:noFill/>
          <a:ln/>
        </p:spPr>
        <p:txBody>
          <a:bodyPr wrap="square" lIns="0" tIns="0" rIns="0" bIns="0" rtlCol="0" anchor="ctr"/>
          <a:lstStyle/>
          <a:p>
            <a:pPr marL="0" indent="0">
              <a:lnSpc>
                <a:spcPct val="130000"/>
              </a:lnSpc>
              <a:buNone/>
            </a:pPr>
            <a:r>
              <a:rPr lang="en-US" sz="1500" dirty="0">
                <a:solidFill>
                  <a:srgbClr val="E3EEE0"/>
                </a:solidFill>
                <a:latin typeface="Calibri" pitchFamily="34" charset="0"/>
                <a:ea typeface="Calibri" pitchFamily="34" charset="-122"/>
                <a:cs typeface="Calibri" pitchFamily="34" charset="-120"/>
              </a:rPr>
              <a:t>Greenhouse growers manage dozens of interacting variables — temperature, humidity, CO2, light, irrigation and fertilizer dosage — often relying on experience rather than data. Without a clear understanding of which factors most influence yield, resources are wasted and yield potential is left on the table.</a:t>
            </a:r>
            <a:endParaRPr lang="en-US" sz="1500" dirty="0"/>
          </a:p>
        </p:txBody>
      </p:sp>
      <p:sp>
        <p:nvSpPr>
          <p:cNvPr id="6" name="Shape 4"/>
          <p:cNvSpPr/>
          <p:nvPr/>
        </p:nvSpPr>
        <p:spPr>
          <a:xfrm>
            <a:off x="594360" y="3246120"/>
            <a:ext cx="3429000" cy="2788920"/>
          </a:xfrm>
          <a:prstGeom prst="roundRect">
            <a:avLst>
              <a:gd name="adj" fmla="val 2623"/>
            </a:avLst>
          </a:prstGeom>
          <a:solidFill>
            <a:srgbClr val="1F4D2C"/>
          </a:solidFill>
          <a:ln/>
        </p:spPr>
        <p:txBody>
          <a:bodyPr/>
          <a:lstStyle/>
          <a:p>
            <a:endParaRPr lang="en-IN"/>
          </a:p>
        </p:txBody>
      </p:sp>
      <p:sp>
        <p:nvSpPr>
          <p:cNvPr id="7" name="Shape 5"/>
          <p:cNvSpPr/>
          <p:nvPr/>
        </p:nvSpPr>
        <p:spPr>
          <a:xfrm>
            <a:off x="868680" y="3520440"/>
            <a:ext cx="594360" cy="594360"/>
          </a:xfrm>
          <a:prstGeom prst="ellipse">
            <a:avLst/>
          </a:prstGeom>
          <a:solidFill>
            <a:srgbClr val="E8A33D"/>
          </a:solidFill>
          <a:ln/>
        </p:spPr>
        <p:txBody>
          <a:bodyPr/>
          <a:lstStyle/>
          <a:p>
            <a:endParaRPr lang="en-IN"/>
          </a:p>
        </p:txBody>
      </p:sp>
      <p:pic>
        <p:nvPicPr>
          <p:cNvPr id="8" name="Image 0" descr="preencoded.png"/>
          <p:cNvPicPr>
            <a:picLocks noChangeAspect="1"/>
          </p:cNvPicPr>
          <p:nvPr/>
        </p:nvPicPr>
        <p:blipFill>
          <a:blip r:embed="rId3"/>
          <a:stretch>
            <a:fillRect/>
          </a:stretch>
        </p:blipFill>
        <p:spPr>
          <a:xfrm>
            <a:off x="1023214" y="3674974"/>
            <a:ext cx="285293" cy="285293"/>
          </a:xfrm>
          <a:prstGeom prst="rect">
            <a:avLst/>
          </a:prstGeom>
        </p:spPr>
      </p:pic>
      <p:sp>
        <p:nvSpPr>
          <p:cNvPr id="9" name="Text 6"/>
          <p:cNvSpPr/>
          <p:nvPr/>
        </p:nvSpPr>
        <p:spPr>
          <a:xfrm>
            <a:off x="868680" y="4297680"/>
            <a:ext cx="2880360" cy="457200"/>
          </a:xfrm>
          <a:prstGeom prst="rect">
            <a:avLst/>
          </a:prstGeom>
          <a:noFill/>
          <a:ln/>
        </p:spPr>
        <p:txBody>
          <a:bodyPr wrap="square" lIns="0" tIns="0" rIns="0" bIns="0" rtlCol="0" anchor="ctr"/>
          <a:lstStyle/>
          <a:p>
            <a:pPr marL="0" indent="0">
              <a:buNone/>
            </a:pPr>
            <a:r>
              <a:rPr lang="en-US" sz="1550" b="1" dirty="0">
                <a:solidFill>
                  <a:srgbClr val="FFFFFF"/>
                </a:solidFill>
                <a:latin typeface="Cambria" pitchFamily="34" charset="0"/>
                <a:ea typeface="Cambria" pitchFamily="34" charset="-122"/>
                <a:cs typeface="Cambria" pitchFamily="34" charset="-120"/>
              </a:rPr>
              <a:t>Inconsistent Yields</a:t>
            </a:r>
            <a:endParaRPr lang="en-US" sz="1550" dirty="0"/>
          </a:p>
        </p:txBody>
      </p:sp>
      <p:sp>
        <p:nvSpPr>
          <p:cNvPr id="10" name="Text 7"/>
          <p:cNvSpPr/>
          <p:nvPr/>
        </p:nvSpPr>
        <p:spPr>
          <a:xfrm>
            <a:off x="868680" y="4754880"/>
            <a:ext cx="2880360" cy="1188720"/>
          </a:xfrm>
          <a:prstGeom prst="rect">
            <a:avLst/>
          </a:prstGeom>
          <a:noFill/>
          <a:ln/>
        </p:spPr>
        <p:txBody>
          <a:bodyPr wrap="square" lIns="0" tIns="0" rIns="0" bIns="0" rtlCol="0" anchor="ctr"/>
          <a:lstStyle/>
          <a:p>
            <a:pPr>
              <a:lnSpc>
                <a:spcPct val="120000"/>
              </a:lnSpc>
            </a:pPr>
            <a:r>
              <a:rPr lang="en-IN" sz="1300" dirty="0">
                <a:solidFill>
                  <a:schemeClr val="accent2">
                    <a:lumMod val="60000"/>
                    <a:lumOff val="40000"/>
                  </a:schemeClr>
                </a:solidFill>
              </a:rPr>
              <a:t>Two greenhouses set up almost the same way can produce wildly different harvests — as little as 0.1 kg or as much as 30.6 kg of produce per square meter</a:t>
            </a:r>
            <a:r>
              <a:rPr lang="en-IN" sz="1200" dirty="0"/>
              <a:t>.</a:t>
            </a:r>
            <a:endParaRPr lang="en-US" sz="1200" dirty="0"/>
          </a:p>
        </p:txBody>
      </p:sp>
      <p:sp>
        <p:nvSpPr>
          <p:cNvPr id="11" name="Shape 8"/>
          <p:cNvSpPr/>
          <p:nvPr/>
        </p:nvSpPr>
        <p:spPr>
          <a:xfrm>
            <a:off x="4343400" y="3246120"/>
            <a:ext cx="3429000" cy="2788920"/>
          </a:xfrm>
          <a:prstGeom prst="roundRect">
            <a:avLst>
              <a:gd name="adj" fmla="val 2623"/>
            </a:avLst>
          </a:prstGeom>
          <a:solidFill>
            <a:srgbClr val="1F4D2C"/>
          </a:solidFill>
          <a:ln/>
        </p:spPr>
        <p:txBody>
          <a:bodyPr/>
          <a:lstStyle/>
          <a:p>
            <a:endParaRPr lang="en-IN"/>
          </a:p>
        </p:txBody>
      </p:sp>
      <p:sp>
        <p:nvSpPr>
          <p:cNvPr id="12" name="Shape 9"/>
          <p:cNvSpPr/>
          <p:nvPr/>
        </p:nvSpPr>
        <p:spPr>
          <a:xfrm>
            <a:off x="4617720" y="3520440"/>
            <a:ext cx="594360" cy="594360"/>
          </a:xfrm>
          <a:prstGeom prst="ellipse">
            <a:avLst/>
          </a:prstGeom>
          <a:solidFill>
            <a:srgbClr val="E8A33D"/>
          </a:solidFill>
          <a:ln/>
        </p:spPr>
        <p:txBody>
          <a:bodyPr/>
          <a:lstStyle/>
          <a:p>
            <a:endParaRPr lang="en-IN"/>
          </a:p>
        </p:txBody>
      </p:sp>
      <p:pic>
        <p:nvPicPr>
          <p:cNvPr id="13" name="Image 1" descr="preencoded.png"/>
          <p:cNvPicPr>
            <a:picLocks noChangeAspect="1"/>
          </p:cNvPicPr>
          <p:nvPr/>
        </p:nvPicPr>
        <p:blipFill>
          <a:blip r:embed="rId4"/>
          <a:stretch>
            <a:fillRect/>
          </a:stretch>
        </p:blipFill>
        <p:spPr>
          <a:xfrm>
            <a:off x="4772254" y="3674974"/>
            <a:ext cx="285293" cy="285293"/>
          </a:xfrm>
          <a:prstGeom prst="rect">
            <a:avLst/>
          </a:prstGeom>
        </p:spPr>
      </p:pic>
      <p:sp>
        <p:nvSpPr>
          <p:cNvPr id="14" name="Text 10"/>
          <p:cNvSpPr/>
          <p:nvPr/>
        </p:nvSpPr>
        <p:spPr>
          <a:xfrm>
            <a:off x="4617720" y="4297680"/>
            <a:ext cx="2880360" cy="457200"/>
          </a:xfrm>
          <a:prstGeom prst="rect">
            <a:avLst/>
          </a:prstGeom>
          <a:noFill/>
          <a:ln/>
        </p:spPr>
        <p:txBody>
          <a:bodyPr wrap="square" lIns="0" tIns="0" rIns="0" bIns="0" rtlCol="0" anchor="ctr"/>
          <a:lstStyle/>
          <a:p>
            <a:pPr marL="0" indent="0">
              <a:buNone/>
            </a:pPr>
            <a:r>
              <a:rPr lang="en-US" sz="1550" b="1" dirty="0">
                <a:solidFill>
                  <a:srgbClr val="FFFFFF"/>
                </a:solidFill>
                <a:latin typeface="Cambria" pitchFamily="34" charset="0"/>
                <a:ea typeface="Cambria" pitchFamily="34" charset="-122"/>
                <a:cs typeface="Cambria" pitchFamily="34" charset="-120"/>
              </a:rPr>
              <a:t>Pest &amp; Climate Risk</a:t>
            </a:r>
            <a:endParaRPr lang="en-US" sz="1550" dirty="0"/>
          </a:p>
        </p:txBody>
      </p:sp>
      <p:sp>
        <p:nvSpPr>
          <p:cNvPr id="15" name="Text 11"/>
          <p:cNvSpPr/>
          <p:nvPr/>
        </p:nvSpPr>
        <p:spPr>
          <a:xfrm>
            <a:off x="4617720" y="4754880"/>
            <a:ext cx="2880360" cy="1188720"/>
          </a:xfrm>
          <a:prstGeom prst="rect">
            <a:avLst/>
          </a:prstGeom>
          <a:noFill/>
          <a:ln/>
        </p:spPr>
        <p:txBody>
          <a:bodyPr wrap="square" lIns="0" tIns="0" rIns="0" bIns="0" rtlCol="0" anchor="ctr"/>
          <a:lstStyle/>
          <a:p>
            <a:pPr>
              <a:lnSpc>
                <a:spcPct val="120000"/>
              </a:lnSpc>
            </a:pPr>
            <a:r>
              <a:rPr lang="en-IN" sz="1300" dirty="0">
                <a:solidFill>
                  <a:schemeClr val="accent2">
                    <a:lumMod val="60000"/>
                    <a:lumOff val="40000"/>
                  </a:schemeClr>
                </a:solidFill>
              </a:rPr>
              <a:t>When bugs show up or the temperature swings, nobody's really tracking </a:t>
            </a:r>
            <a:r>
              <a:rPr lang="en-IN" sz="1300" i="1" dirty="0">
                <a:solidFill>
                  <a:schemeClr val="accent2">
                    <a:lumMod val="60000"/>
                    <a:lumOff val="40000"/>
                  </a:schemeClr>
                </a:solidFill>
              </a:rPr>
              <a:t>how much</a:t>
            </a:r>
            <a:r>
              <a:rPr lang="en-IN" sz="1300" dirty="0">
                <a:solidFill>
                  <a:schemeClr val="accent2">
                    <a:lumMod val="60000"/>
                    <a:lumOff val="40000"/>
                  </a:schemeClr>
                </a:solidFill>
              </a:rPr>
              <a:t> that actually hurts the harvest. So growers can't tell which risks matter most.</a:t>
            </a:r>
            <a:endParaRPr lang="en-US" sz="1300" dirty="0">
              <a:solidFill>
                <a:schemeClr val="accent2">
                  <a:lumMod val="60000"/>
                  <a:lumOff val="40000"/>
                </a:schemeClr>
              </a:solidFill>
            </a:endParaRPr>
          </a:p>
        </p:txBody>
      </p:sp>
      <p:sp>
        <p:nvSpPr>
          <p:cNvPr id="16" name="Shape 12"/>
          <p:cNvSpPr/>
          <p:nvPr/>
        </p:nvSpPr>
        <p:spPr>
          <a:xfrm>
            <a:off x="7993380" y="3268980"/>
            <a:ext cx="3429000" cy="2788920"/>
          </a:xfrm>
          <a:prstGeom prst="roundRect">
            <a:avLst>
              <a:gd name="adj" fmla="val 2623"/>
            </a:avLst>
          </a:prstGeom>
          <a:solidFill>
            <a:srgbClr val="1F4D2C"/>
          </a:solidFill>
          <a:ln/>
        </p:spPr>
        <p:txBody>
          <a:bodyPr/>
          <a:lstStyle/>
          <a:p>
            <a:endParaRPr lang="en-IN"/>
          </a:p>
        </p:txBody>
      </p:sp>
      <p:sp>
        <p:nvSpPr>
          <p:cNvPr id="17" name="Shape 13"/>
          <p:cNvSpPr/>
          <p:nvPr/>
        </p:nvSpPr>
        <p:spPr>
          <a:xfrm>
            <a:off x="8366760" y="3520440"/>
            <a:ext cx="594360" cy="594360"/>
          </a:xfrm>
          <a:prstGeom prst="ellipse">
            <a:avLst/>
          </a:prstGeom>
          <a:solidFill>
            <a:srgbClr val="E8A33D"/>
          </a:solidFill>
          <a:ln/>
        </p:spPr>
        <p:txBody>
          <a:bodyPr/>
          <a:lstStyle/>
          <a:p>
            <a:endParaRPr lang="en-IN"/>
          </a:p>
        </p:txBody>
      </p:sp>
      <p:pic>
        <p:nvPicPr>
          <p:cNvPr id="18" name="Image 2" descr="preencoded.png"/>
          <p:cNvPicPr>
            <a:picLocks noChangeAspect="1"/>
          </p:cNvPicPr>
          <p:nvPr/>
        </p:nvPicPr>
        <p:blipFill>
          <a:blip r:embed="rId5"/>
          <a:stretch>
            <a:fillRect/>
          </a:stretch>
        </p:blipFill>
        <p:spPr>
          <a:xfrm>
            <a:off x="8521294" y="3674974"/>
            <a:ext cx="285293" cy="285293"/>
          </a:xfrm>
          <a:prstGeom prst="rect">
            <a:avLst/>
          </a:prstGeom>
        </p:spPr>
      </p:pic>
      <p:sp>
        <p:nvSpPr>
          <p:cNvPr id="19" name="Text 14"/>
          <p:cNvSpPr/>
          <p:nvPr/>
        </p:nvSpPr>
        <p:spPr>
          <a:xfrm>
            <a:off x="8366760" y="4297680"/>
            <a:ext cx="2880360" cy="457200"/>
          </a:xfrm>
          <a:prstGeom prst="rect">
            <a:avLst/>
          </a:prstGeom>
          <a:noFill/>
          <a:ln/>
        </p:spPr>
        <p:txBody>
          <a:bodyPr wrap="square" lIns="0" tIns="0" rIns="0" bIns="0" rtlCol="0" anchor="ctr"/>
          <a:lstStyle/>
          <a:p>
            <a:pPr marL="0" indent="0">
              <a:buNone/>
            </a:pPr>
            <a:r>
              <a:rPr lang="en-US" sz="1550" b="1" dirty="0">
                <a:solidFill>
                  <a:srgbClr val="FFFFFF"/>
                </a:solidFill>
                <a:latin typeface="Cambria" pitchFamily="34" charset="0"/>
                <a:ea typeface="Cambria" pitchFamily="34" charset="-122"/>
                <a:cs typeface="Cambria" pitchFamily="34" charset="-120"/>
              </a:rPr>
              <a:t>Fertilizer Guesswork</a:t>
            </a:r>
            <a:endParaRPr lang="en-US" sz="1550" dirty="0"/>
          </a:p>
        </p:txBody>
      </p:sp>
      <p:sp>
        <p:nvSpPr>
          <p:cNvPr id="20" name="Text 15"/>
          <p:cNvSpPr/>
          <p:nvPr/>
        </p:nvSpPr>
        <p:spPr>
          <a:xfrm>
            <a:off x="8366760" y="4754880"/>
            <a:ext cx="2880360" cy="1188720"/>
          </a:xfrm>
          <a:prstGeom prst="rect">
            <a:avLst/>
          </a:prstGeom>
          <a:noFill/>
          <a:ln/>
        </p:spPr>
        <p:txBody>
          <a:bodyPr wrap="square" lIns="0" tIns="0" rIns="0" bIns="0" rtlCol="0" anchor="ctr"/>
          <a:lstStyle/>
          <a:p>
            <a:pPr>
              <a:lnSpc>
                <a:spcPct val="120000"/>
              </a:lnSpc>
            </a:pPr>
            <a:r>
              <a:rPr lang="en-IN" sz="1300" dirty="0">
                <a:solidFill>
                  <a:schemeClr val="accent2">
                    <a:lumMod val="60000"/>
                    <a:lumOff val="40000"/>
                  </a:schemeClr>
                </a:solidFill>
              </a:rPr>
              <a:t>Instead of giving each crop the exact nutrient mix it needs to thrive, growers often just use a one-size-fits-all fertilizer plan — which wastes money and doesn't optimize growth.</a:t>
            </a:r>
            <a:endParaRPr lang="en-US" sz="1300" dirty="0">
              <a:solidFill>
                <a:schemeClr val="accent2">
                  <a:lumMod val="60000"/>
                  <a:lumOff val="40000"/>
                </a:schemeClr>
              </a:solidFill>
            </a:endParaRPr>
          </a:p>
        </p:txBody>
      </p:sp>
      <p:sp>
        <p:nvSpPr>
          <p:cNvPr id="21" name="Text 16"/>
          <p:cNvSpPr/>
          <p:nvPr/>
        </p:nvSpPr>
        <p:spPr>
          <a:xfrm>
            <a:off x="11365992" y="6355080"/>
            <a:ext cx="548640" cy="320040"/>
          </a:xfrm>
          <a:prstGeom prst="rect">
            <a:avLst/>
          </a:prstGeom>
          <a:noFill/>
          <a:ln/>
        </p:spPr>
        <p:txBody>
          <a:bodyPr wrap="square" lIns="0" tIns="0" rIns="0" bIns="0" rtlCol="0" anchor="ctr"/>
          <a:lstStyle/>
          <a:p>
            <a:pPr marL="0" indent="0" algn="r">
              <a:buNone/>
            </a:pPr>
            <a:r>
              <a:rPr lang="en-US" sz="1100" dirty="0">
                <a:solidFill>
                  <a:srgbClr val="FFFFFF"/>
                </a:solidFill>
                <a:latin typeface="Calibri" pitchFamily="34" charset="0"/>
                <a:ea typeface="Calibri" pitchFamily="34" charset="-122"/>
                <a:cs typeface="Calibri" pitchFamily="34" charset="-120"/>
              </a:rPr>
              <a:t>5</a:t>
            </a:r>
            <a:endParaRPr lang="en-US" sz="1100" dirty="0"/>
          </a:p>
        </p:txBody>
      </p:sp>
      <p:sp>
        <p:nvSpPr>
          <p:cNvPr id="22" name="Text 17"/>
          <p:cNvSpPr/>
          <p:nvPr/>
        </p:nvSpPr>
        <p:spPr>
          <a:xfrm>
            <a:off x="457200" y="6355080"/>
            <a:ext cx="4572000" cy="320040"/>
          </a:xfrm>
          <a:prstGeom prst="rect">
            <a:avLst/>
          </a:prstGeom>
          <a:noFill/>
          <a:ln/>
        </p:spPr>
        <p:txBody>
          <a:bodyPr wrap="square" lIns="0" tIns="0" rIns="0" bIns="0" rtlCol="0" anchor="ctr"/>
          <a:lstStyle/>
          <a:p>
            <a:pPr marL="0" indent="0" algn="l">
              <a:buNone/>
            </a:pPr>
            <a:r>
              <a:rPr lang="en-US" sz="900" dirty="0">
                <a:solidFill>
                  <a:srgbClr val="BFD8BF"/>
                </a:solidFill>
                <a:latin typeface="Calibri" pitchFamily="34" charset="0"/>
                <a:ea typeface="Calibri" pitchFamily="34" charset="-122"/>
                <a:cs typeface="Calibri" pitchFamily="34" charset="-120"/>
              </a:rPr>
              <a:t>Greenhouse Crop Production</a:t>
            </a:r>
            <a:endParaRPr lang="en-US" sz="900" dirty="0"/>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curtains"/>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9F5"/>
        </a:solidFill>
        <a:effectLst/>
      </p:bgPr>
    </p:bg>
    <p:spTree>
      <p:nvGrpSpPr>
        <p:cNvPr id="1" name=""/>
        <p:cNvGrpSpPr/>
        <p:nvPr/>
      </p:nvGrpSpPr>
      <p:grpSpPr>
        <a:xfrm>
          <a:off x="0" y="0"/>
          <a:ext cx="0" cy="0"/>
          <a:chOff x="0" y="0"/>
          <a:chExt cx="0" cy="0"/>
        </a:xfrm>
      </p:grpSpPr>
      <p:sp>
        <p:nvSpPr>
          <p:cNvPr id="2" name="Text 0"/>
          <p:cNvSpPr/>
          <p:nvPr/>
        </p:nvSpPr>
        <p:spPr>
          <a:xfrm>
            <a:off x="548640" y="384048"/>
            <a:ext cx="8229600" cy="320040"/>
          </a:xfrm>
          <a:prstGeom prst="rect">
            <a:avLst/>
          </a:prstGeom>
          <a:noFill/>
          <a:ln/>
        </p:spPr>
        <p:txBody>
          <a:bodyPr wrap="square" lIns="0" tIns="0" rIns="0" bIns="0" rtlCol="0" anchor="ctr"/>
          <a:lstStyle/>
          <a:p>
            <a:pPr marL="0" indent="0">
              <a:buNone/>
            </a:pPr>
            <a:r>
              <a:rPr lang="en-US" sz="1300" b="1" kern="0" spc="200" dirty="0">
                <a:solidFill>
                  <a:srgbClr val="6FA95E"/>
                </a:solidFill>
                <a:latin typeface="Calibri" pitchFamily="34" charset="0"/>
                <a:ea typeface="Calibri" pitchFamily="34" charset="-122"/>
                <a:cs typeface="Calibri" pitchFamily="34" charset="-120"/>
              </a:rPr>
              <a:t>THE APPROACH</a:t>
            </a:r>
            <a:endParaRPr lang="en-US" sz="1300" dirty="0"/>
          </a:p>
        </p:txBody>
      </p:sp>
      <p:sp>
        <p:nvSpPr>
          <p:cNvPr id="3" name="Text 1"/>
          <p:cNvSpPr/>
          <p:nvPr/>
        </p:nvSpPr>
        <p:spPr>
          <a:xfrm>
            <a:off x="548640" y="658368"/>
            <a:ext cx="10515600" cy="685800"/>
          </a:xfrm>
          <a:prstGeom prst="rect">
            <a:avLst/>
          </a:prstGeom>
          <a:noFill/>
          <a:ln/>
        </p:spPr>
        <p:txBody>
          <a:bodyPr wrap="square" lIns="0" tIns="0" rIns="0" bIns="0" rtlCol="0" anchor="ctr"/>
          <a:lstStyle/>
          <a:p>
            <a:pPr marL="0" indent="0">
              <a:buNone/>
            </a:pPr>
            <a:r>
              <a:rPr lang="en-US" sz="3200" b="1" dirty="0">
                <a:solidFill>
                  <a:srgbClr val="163A20"/>
                </a:solidFill>
                <a:latin typeface="Cambria" pitchFamily="34" charset="0"/>
                <a:ea typeface="Cambria" pitchFamily="34" charset="-122"/>
                <a:cs typeface="Cambria" pitchFamily="34" charset="-120"/>
              </a:rPr>
              <a:t>Project Overview</a:t>
            </a:r>
            <a:endParaRPr lang="en-US" sz="3200" dirty="0"/>
          </a:p>
        </p:txBody>
      </p:sp>
      <p:sp>
        <p:nvSpPr>
          <p:cNvPr id="4" name="Text 2"/>
          <p:cNvSpPr/>
          <p:nvPr/>
        </p:nvSpPr>
        <p:spPr>
          <a:xfrm>
            <a:off x="594360" y="1554480"/>
            <a:ext cx="10881360" cy="777240"/>
          </a:xfrm>
          <a:prstGeom prst="rect">
            <a:avLst/>
          </a:prstGeom>
          <a:noFill/>
          <a:ln/>
        </p:spPr>
        <p:txBody>
          <a:bodyPr wrap="square" lIns="0" tIns="0" rIns="0" bIns="0" rtlCol="0" anchor="ctr"/>
          <a:lstStyle/>
          <a:p>
            <a:pPr marL="0" indent="0">
              <a:lnSpc>
                <a:spcPct val="125000"/>
              </a:lnSpc>
              <a:buNone/>
            </a:pPr>
            <a:r>
              <a:rPr lang="en-US" sz="1450" dirty="0">
                <a:solidFill>
                  <a:srgbClr val="1C2B1E"/>
                </a:solidFill>
                <a:latin typeface="Calibri" pitchFamily="34" charset="0"/>
                <a:ea typeface="Calibri" pitchFamily="34" charset="-122"/>
                <a:cs typeface="Calibri" pitchFamily="34" charset="-120"/>
              </a:rPr>
              <a:t>This project applies data analysis to a real-world greenhouse operations dataset to uncover the relationships between environmental conditions, cultivation inputs, and final crop yield — turning raw sensor and farm-log data into actionable growing guidance.</a:t>
            </a:r>
            <a:endParaRPr lang="en-US" sz="1450" dirty="0"/>
          </a:p>
        </p:txBody>
      </p:sp>
      <p:sp>
        <p:nvSpPr>
          <p:cNvPr id="5" name="Shape 3"/>
          <p:cNvSpPr/>
          <p:nvPr/>
        </p:nvSpPr>
        <p:spPr>
          <a:xfrm>
            <a:off x="594360" y="2697480"/>
            <a:ext cx="1993392" cy="2651760"/>
          </a:xfrm>
          <a:prstGeom prst="roundRect">
            <a:avLst>
              <a:gd name="adj" fmla="val 3670"/>
            </a:avLst>
          </a:prstGeom>
          <a:solidFill>
            <a:srgbClr val="FFFFFF"/>
          </a:solidFill>
          <a:ln/>
          <a:effectLst>
            <a:outerShdw blurRad="76200" dist="25400" dir="5400000" algn="bl" rotWithShape="0">
              <a:srgbClr val="000000">
                <a:alpha val="8000"/>
              </a:srgbClr>
            </a:outerShdw>
          </a:effectLst>
        </p:spPr>
        <p:txBody>
          <a:bodyPr/>
          <a:lstStyle/>
          <a:p>
            <a:endParaRPr lang="en-IN"/>
          </a:p>
        </p:txBody>
      </p:sp>
      <p:sp>
        <p:nvSpPr>
          <p:cNvPr id="6" name="Shape 4"/>
          <p:cNvSpPr/>
          <p:nvPr/>
        </p:nvSpPr>
        <p:spPr>
          <a:xfrm>
            <a:off x="1307592" y="2953512"/>
            <a:ext cx="566928" cy="566928"/>
          </a:xfrm>
          <a:prstGeom prst="ellipse">
            <a:avLst/>
          </a:prstGeom>
          <a:solidFill>
            <a:srgbClr val="1F4D2C"/>
          </a:solidFill>
          <a:ln/>
        </p:spPr>
        <p:txBody>
          <a:bodyPr/>
          <a:lstStyle/>
          <a:p>
            <a:endParaRPr lang="en-IN"/>
          </a:p>
        </p:txBody>
      </p:sp>
      <p:pic>
        <p:nvPicPr>
          <p:cNvPr id="7" name="Image 0" descr="preencoded.png"/>
          <p:cNvPicPr>
            <a:picLocks noChangeAspect="1"/>
          </p:cNvPicPr>
          <p:nvPr/>
        </p:nvPicPr>
        <p:blipFill>
          <a:blip r:embed="rId3"/>
          <a:stretch>
            <a:fillRect/>
          </a:stretch>
        </p:blipFill>
        <p:spPr>
          <a:xfrm>
            <a:off x="1454993" y="3100913"/>
            <a:ext cx="272125" cy="272125"/>
          </a:xfrm>
          <a:prstGeom prst="rect">
            <a:avLst/>
          </a:prstGeom>
        </p:spPr>
      </p:pic>
      <p:sp>
        <p:nvSpPr>
          <p:cNvPr id="8" name="Text 5"/>
          <p:cNvSpPr/>
          <p:nvPr/>
        </p:nvSpPr>
        <p:spPr>
          <a:xfrm>
            <a:off x="2084832" y="2788920"/>
            <a:ext cx="365760" cy="320040"/>
          </a:xfrm>
          <a:prstGeom prst="rect">
            <a:avLst/>
          </a:prstGeom>
          <a:noFill/>
          <a:ln/>
        </p:spPr>
        <p:txBody>
          <a:bodyPr wrap="square" lIns="0" tIns="0" rIns="0" bIns="0" rtlCol="0" anchor="ctr"/>
          <a:lstStyle/>
          <a:p>
            <a:pPr marL="0" indent="0" algn="r">
              <a:buNone/>
            </a:pPr>
            <a:r>
              <a:rPr lang="en-US" sz="1300" b="1" dirty="0">
                <a:solidFill>
                  <a:srgbClr val="E8A33D"/>
                </a:solidFill>
                <a:latin typeface="Cambria" pitchFamily="34" charset="0"/>
                <a:ea typeface="Cambria" pitchFamily="34" charset="-122"/>
                <a:cs typeface="Cambria" pitchFamily="34" charset="-120"/>
              </a:rPr>
              <a:t>1</a:t>
            </a:r>
            <a:endParaRPr lang="en-US" sz="1300" dirty="0"/>
          </a:p>
        </p:txBody>
      </p:sp>
      <p:sp>
        <p:nvSpPr>
          <p:cNvPr id="9" name="Text 6"/>
          <p:cNvSpPr/>
          <p:nvPr/>
        </p:nvSpPr>
        <p:spPr>
          <a:xfrm>
            <a:off x="731520" y="3657600"/>
            <a:ext cx="1719072" cy="365760"/>
          </a:xfrm>
          <a:prstGeom prst="rect">
            <a:avLst/>
          </a:prstGeom>
          <a:noFill/>
          <a:ln/>
        </p:spPr>
        <p:txBody>
          <a:bodyPr wrap="square" lIns="0" tIns="0" rIns="0" bIns="0" rtlCol="0" anchor="ctr"/>
          <a:lstStyle/>
          <a:p>
            <a:pPr marL="0" indent="0" algn="ctr">
              <a:buNone/>
            </a:pPr>
            <a:r>
              <a:rPr lang="en-US" sz="1400" b="1" dirty="0">
                <a:solidFill>
                  <a:srgbClr val="1C2B1E"/>
                </a:solidFill>
                <a:latin typeface="Cambria" pitchFamily="34" charset="0"/>
                <a:ea typeface="Cambria" pitchFamily="34" charset="-122"/>
                <a:cs typeface="Cambria" pitchFamily="34" charset="-120"/>
              </a:rPr>
              <a:t>Collect</a:t>
            </a:r>
            <a:endParaRPr lang="en-US" sz="1400" dirty="0"/>
          </a:p>
        </p:txBody>
      </p:sp>
      <p:sp>
        <p:nvSpPr>
          <p:cNvPr id="10" name="Text 7"/>
          <p:cNvSpPr/>
          <p:nvPr/>
        </p:nvSpPr>
        <p:spPr>
          <a:xfrm>
            <a:off x="758952" y="4069080"/>
            <a:ext cx="1664208" cy="1188720"/>
          </a:xfrm>
          <a:prstGeom prst="rect">
            <a:avLst/>
          </a:prstGeom>
          <a:noFill/>
          <a:ln/>
        </p:spPr>
        <p:txBody>
          <a:bodyPr wrap="square" lIns="0" tIns="0" rIns="0" bIns="0" rtlCol="0" anchor="ctr"/>
          <a:lstStyle/>
          <a:p>
            <a:pPr marL="0" indent="0" algn="ctr">
              <a:lnSpc>
                <a:spcPct val="115000"/>
              </a:lnSpc>
              <a:buNone/>
            </a:pPr>
            <a:r>
              <a:rPr lang="en-US" sz="1050" dirty="0">
                <a:solidFill>
                  <a:srgbClr val="5B6B5E"/>
                </a:solidFill>
                <a:latin typeface="Calibri" pitchFamily="34" charset="0"/>
                <a:ea typeface="Calibri" pitchFamily="34" charset="-122"/>
                <a:cs typeface="Calibri" pitchFamily="34" charset="-120"/>
              </a:rPr>
              <a:t>Consolidate 10,400 greenhouse growth records across 4 crops</a:t>
            </a:r>
            <a:endParaRPr lang="en-US" sz="1050" dirty="0"/>
          </a:p>
        </p:txBody>
      </p:sp>
      <p:sp>
        <p:nvSpPr>
          <p:cNvPr id="11" name="Text 8"/>
          <p:cNvSpPr/>
          <p:nvPr/>
        </p:nvSpPr>
        <p:spPr>
          <a:xfrm>
            <a:off x="2587752" y="3749040"/>
            <a:ext cx="228600" cy="365760"/>
          </a:xfrm>
          <a:prstGeom prst="rect">
            <a:avLst/>
          </a:prstGeom>
          <a:noFill/>
          <a:ln/>
        </p:spPr>
        <p:txBody>
          <a:bodyPr wrap="square" lIns="0" tIns="0" rIns="0" bIns="0" rtlCol="0" anchor="ctr"/>
          <a:lstStyle/>
          <a:p>
            <a:pPr marL="0" indent="0" algn="ctr">
              <a:buNone/>
            </a:pPr>
            <a:r>
              <a:rPr lang="en-US" sz="1600" b="1" dirty="0">
                <a:solidFill>
                  <a:srgbClr val="6FA95E"/>
                </a:solidFill>
                <a:latin typeface="Calibri" pitchFamily="34" charset="0"/>
                <a:ea typeface="Calibri" pitchFamily="34" charset="-122"/>
                <a:cs typeface="Calibri" pitchFamily="34" charset="-120"/>
              </a:rPr>
              <a:t>&gt;</a:t>
            </a:r>
            <a:endParaRPr lang="en-US" sz="1600" dirty="0"/>
          </a:p>
        </p:txBody>
      </p:sp>
      <p:sp>
        <p:nvSpPr>
          <p:cNvPr id="12" name="Shape 9"/>
          <p:cNvSpPr/>
          <p:nvPr/>
        </p:nvSpPr>
        <p:spPr>
          <a:xfrm>
            <a:off x="2816352" y="2697480"/>
            <a:ext cx="1993392" cy="2651760"/>
          </a:xfrm>
          <a:prstGeom prst="roundRect">
            <a:avLst>
              <a:gd name="adj" fmla="val 3670"/>
            </a:avLst>
          </a:prstGeom>
          <a:solidFill>
            <a:srgbClr val="FFFFFF"/>
          </a:solidFill>
          <a:ln/>
          <a:effectLst>
            <a:outerShdw blurRad="76200" dist="25400" dir="5400000" algn="bl" rotWithShape="0">
              <a:srgbClr val="000000">
                <a:alpha val="8000"/>
              </a:srgbClr>
            </a:outerShdw>
          </a:effectLst>
        </p:spPr>
        <p:txBody>
          <a:bodyPr/>
          <a:lstStyle/>
          <a:p>
            <a:endParaRPr lang="en-IN"/>
          </a:p>
        </p:txBody>
      </p:sp>
      <p:sp>
        <p:nvSpPr>
          <p:cNvPr id="13" name="Shape 10"/>
          <p:cNvSpPr/>
          <p:nvPr/>
        </p:nvSpPr>
        <p:spPr>
          <a:xfrm>
            <a:off x="3529584" y="2953512"/>
            <a:ext cx="566928" cy="566928"/>
          </a:xfrm>
          <a:prstGeom prst="ellipse">
            <a:avLst/>
          </a:prstGeom>
          <a:solidFill>
            <a:srgbClr val="1F4D2C"/>
          </a:solidFill>
          <a:ln/>
        </p:spPr>
        <p:txBody>
          <a:bodyPr/>
          <a:lstStyle/>
          <a:p>
            <a:endParaRPr lang="en-IN"/>
          </a:p>
        </p:txBody>
      </p:sp>
      <p:pic>
        <p:nvPicPr>
          <p:cNvPr id="14" name="Image 1" descr="preencoded.png"/>
          <p:cNvPicPr>
            <a:picLocks noChangeAspect="1"/>
          </p:cNvPicPr>
          <p:nvPr/>
        </p:nvPicPr>
        <p:blipFill>
          <a:blip r:embed="rId4"/>
          <a:stretch>
            <a:fillRect/>
          </a:stretch>
        </p:blipFill>
        <p:spPr>
          <a:xfrm>
            <a:off x="3676985" y="3100913"/>
            <a:ext cx="272125" cy="272125"/>
          </a:xfrm>
          <a:prstGeom prst="rect">
            <a:avLst/>
          </a:prstGeom>
        </p:spPr>
      </p:pic>
      <p:sp>
        <p:nvSpPr>
          <p:cNvPr id="15" name="Text 11"/>
          <p:cNvSpPr/>
          <p:nvPr/>
        </p:nvSpPr>
        <p:spPr>
          <a:xfrm>
            <a:off x="4306824" y="2788920"/>
            <a:ext cx="365760" cy="320040"/>
          </a:xfrm>
          <a:prstGeom prst="rect">
            <a:avLst/>
          </a:prstGeom>
          <a:noFill/>
          <a:ln/>
        </p:spPr>
        <p:txBody>
          <a:bodyPr wrap="square" lIns="0" tIns="0" rIns="0" bIns="0" rtlCol="0" anchor="ctr"/>
          <a:lstStyle/>
          <a:p>
            <a:pPr marL="0" indent="0" algn="r">
              <a:buNone/>
            </a:pPr>
            <a:r>
              <a:rPr lang="en-US" sz="1300" b="1" dirty="0">
                <a:solidFill>
                  <a:srgbClr val="E8A33D"/>
                </a:solidFill>
                <a:latin typeface="Cambria" pitchFamily="34" charset="0"/>
                <a:ea typeface="Cambria" pitchFamily="34" charset="-122"/>
                <a:cs typeface="Cambria" pitchFamily="34" charset="-120"/>
              </a:rPr>
              <a:t>2</a:t>
            </a:r>
            <a:endParaRPr lang="en-US" sz="1300" dirty="0"/>
          </a:p>
        </p:txBody>
      </p:sp>
      <p:sp>
        <p:nvSpPr>
          <p:cNvPr id="16" name="Text 12"/>
          <p:cNvSpPr/>
          <p:nvPr/>
        </p:nvSpPr>
        <p:spPr>
          <a:xfrm>
            <a:off x="2953512" y="3657600"/>
            <a:ext cx="1719072" cy="365760"/>
          </a:xfrm>
          <a:prstGeom prst="rect">
            <a:avLst/>
          </a:prstGeom>
          <a:noFill/>
          <a:ln/>
        </p:spPr>
        <p:txBody>
          <a:bodyPr wrap="square" lIns="0" tIns="0" rIns="0" bIns="0" rtlCol="0" anchor="ctr"/>
          <a:lstStyle/>
          <a:p>
            <a:pPr marL="0" indent="0" algn="ctr">
              <a:buNone/>
            </a:pPr>
            <a:r>
              <a:rPr lang="en-US" sz="1400" b="1" dirty="0">
                <a:solidFill>
                  <a:srgbClr val="1C2B1E"/>
                </a:solidFill>
                <a:latin typeface="Cambria" pitchFamily="34" charset="0"/>
                <a:ea typeface="Cambria" pitchFamily="34" charset="-122"/>
                <a:cs typeface="Cambria" pitchFamily="34" charset="-120"/>
              </a:rPr>
              <a:t>Clean &amp; Process</a:t>
            </a:r>
            <a:endParaRPr lang="en-US" sz="1400" dirty="0"/>
          </a:p>
        </p:txBody>
      </p:sp>
      <p:sp>
        <p:nvSpPr>
          <p:cNvPr id="17" name="Text 13"/>
          <p:cNvSpPr/>
          <p:nvPr/>
        </p:nvSpPr>
        <p:spPr>
          <a:xfrm>
            <a:off x="2980944" y="4069080"/>
            <a:ext cx="1664208" cy="1188720"/>
          </a:xfrm>
          <a:prstGeom prst="rect">
            <a:avLst/>
          </a:prstGeom>
          <a:noFill/>
          <a:ln/>
        </p:spPr>
        <p:txBody>
          <a:bodyPr wrap="square" lIns="0" tIns="0" rIns="0" bIns="0" rtlCol="0" anchor="ctr"/>
          <a:lstStyle/>
          <a:p>
            <a:pPr marL="0" indent="0" algn="ctr">
              <a:lnSpc>
                <a:spcPct val="115000"/>
              </a:lnSpc>
              <a:buNone/>
            </a:pPr>
            <a:r>
              <a:rPr lang="en-US" sz="1050" dirty="0">
                <a:solidFill>
                  <a:srgbClr val="5B6B5E"/>
                </a:solidFill>
                <a:latin typeface="Calibri" pitchFamily="34" charset="0"/>
                <a:ea typeface="Calibri" pitchFamily="34" charset="-122"/>
                <a:cs typeface="Calibri" pitchFamily="34" charset="-120"/>
              </a:rPr>
              <a:t>Handle missing values, standardize units, engineer features</a:t>
            </a:r>
            <a:endParaRPr lang="en-US" sz="1050" dirty="0"/>
          </a:p>
        </p:txBody>
      </p:sp>
      <p:sp>
        <p:nvSpPr>
          <p:cNvPr id="18" name="Text 14"/>
          <p:cNvSpPr/>
          <p:nvPr/>
        </p:nvSpPr>
        <p:spPr>
          <a:xfrm>
            <a:off x="4809744" y="3749040"/>
            <a:ext cx="228600" cy="365760"/>
          </a:xfrm>
          <a:prstGeom prst="rect">
            <a:avLst/>
          </a:prstGeom>
          <a:noFill/>
          <a:ln/>
        </p:spPr>
        <p:txBody>
          <a:bodyPr wrap="square" lIns="0" tIns="0" rIns="0" bIns="0" rtlCol="0" anchor="ctr"/>
          <a:lstStyle/>
          <a:p>
            <a:pPr marL="0" indent="0" algn="ctr">
              <a:buNone/>
            </a:pPr>
            <a:r>
              <a:rPr lang="en-US" sz="1600" b="1" dirty="0">
                <a:solidFill>
                  <a:srgbClr val="6FA95E"/>
                </a:solidFill>
                <a:latin typeface="Calibri" pitchFamily="34" charset="0"/>
                <a:ea typeface="Calibri" pitchFamily="34" charset="-122"/>
                <a:cs typeface="Calibri" pitchFamily="34" charset="-120"/>
              </a:rPr>
              <a:t>&gt;</a:t>
            </a:r>
            <a:endParaRPr lang="en-US" sz="1600" dirty="0"/>
          </a:p>
        </p:txBody>
      </p:sp>
      <p:sp>
        <p:nvSpPr>
          <p:cNvPr id="19" name="Shape 15"/>
          <p:cNvSpPr/>
          <p:nvPr/>
        </p:nvSpPr>
        <p:spPr>
          <a:xfrm>
            <a:off x="5038344" y="2697480"/>
            <a:ext cx="1993392" cy="2651760"/>
          </a:xfrm>
          <a:prstGeom prst="roundRect">
            <a:avLst>
              <a:gd name="adj" fmla="val 3670"/>
            </a:avLst>
          </a:prstGeom>
          <a:solidFill>
            <a:srgbClr val="FFFFFF"/>
          </a:solidFill>
          <a:ln/>
          <a:effectLst>
            <a:outerShdw blurRad="76200" dist="25400" dir="5400000" algn="bl" rotWithShape="0">
              <a:srgbClr val="000000">
                <a:alpha val="8000"/>
              </a:srgbClr>
            </a:outerShdw>
          </a:effectLst>
        </p:spPr>
        <p:txBody>
          <a:bodyPr/>
          <a:lstStyle/>
          <a:p>
            <a:endParaRPr lang="en-IN"/>
          </a:p>
        </p:txBody>
      </p:sp>
      <p:sp>
        <p:nvSpPr>
          <p:cNvPr id="20" name="Shape 16"/>
          <p:cNvSpPr/>
          <p:nvPr/>
        </p:nvSpPr>
        <p:spPr>
          <a:xfrm>
            <a:off x="5751576" y="2953512"/>
            <a:ext cx="566928" cy="566928"/>
          </a:xfrm>
          <a:prstGeom prst="ellipse">
            <a:avLst/>
          </a:prstGeom>
          <a:solidFill>
            <a:srgbClr val="1F4D2C"/>
          </a:solidFill>
          <a:ln/>
        </p:spPr>
        <p:txBody>
          <a:bodyPr/>
          <a:lstStyle/>
          <a:p>
            <a:endParaRPr lang="en-IN"/>
          </a:p>
        </p:txBody>
      </p:sp>
      <p:pic>
        <p:nvPicPr>
          <p:cNvPr id="21" name="Image 2" descr="preencoded.png"/>
          <p:cNvPicPr>
            <a:picLocks noChangeAspect="1"/>
          </p:cNvPicPr>
          <p:nvPr/>
        </p:nvPicPr>
        <p:blipFill>
          <a:blip r:embed="rId5"/>
          <a:stretch>
            <a:fillRect/>
          </a:stretch>
        </p:blipFill>
        <p:spPr>
          <a:xfrm>
            <a:off x="5898977" y="3100913"/>
            <a:ext cx="272125" cy="272125"/>
          </a:xfrm>
          <a:prstGeom prst="rect">
            <a:avLst/>
          </a:prstGeom>
        </p:spPr>
      </p:pic>
      <p:sp>
        <p:nvSpPr>
          <p:cNvPr id="22" name="Text 17"/>
          <p:cNvSpPr/>
          <p:nvPr/>
        </p:nvSpPr>
        <p:spPr>
          <a:xfrm>
            <a:off x="6528816" y="2788920"/>
            <a:ext cx="365760" cy="320040"/>
          </a:xfrm>
          <a:prstGeom prst="rect">
            <a:avLst/>
          </a:prstGeom>
          <a:noFill/>
          <a:ln/>
        </p:spPr>
        <p:txBody>
          <a:bodyPr wrap="square" lIns="0" tIns="0" rIns="0" bIns="0" rtlCol="0" anchor="ctr"/>
          <a:lstStyle/>
          <a:p>
            <a:pPr marL="0" indent="0" algn="r">
              <a:buNone/>
            </a:pPr>
            <a:r>
              <a:rPr lang="en-US" sz="1300" b="1" dirty="0">
                <a:solidFill>
                  <a:srgbClr val="E8A33D"/>
                </a:solidFill>
                <a:latin typeface="Cambria" pitchFamily="34" charset="0"/>
                <a:ea typeface="Cambria" pitchFamily="34" charset="-122"/>
                <a:cs typeface="Cambria" pitchFamily="34" charset="-120"/>
              </a:rPr>
              <a:t>3</a:t>
            </a:r>
            <a:endParaRPr lang="en-US" sz="1300" dirty="0"/>
          </a:p>
        </p:txBody>
      </p:sp>
      <p:sp>
        <p:nvSpPr>
          <p:cNvPr id="23" name="Text 18"/>
          <p:cNvSpPr/>
          <p:nvPr/>
        </p:nvSpPr>
        <p:spPr>
          <a:xfrm>
            <a:off x="5175504" y="3657600"/>
            <a:ext cx="1719072" cy="365760"/>
          </a:xfrm>
          <a:prstGeom prst="rect">
            <a:avLst/>
          </a:prstGeom>
          <a:noFill/>
          <a:ln/>
        </p:spPr>
        <p:txBody>
          <a:bodyPr wrap="square" lIns="0" tIns="0" rIns="0" bIns="0" rtlCol="0" anchor="ctr"/>
          <a:lstStyle/>
          <a:p>
            <a:pPr marL="0" indent="0" algn="ctr">
              <a:buNone/>
            </a:pPr>
            <a:r>
              <a:rPr lang="en-US" sz="1400" b="1" dirty="0">
                <a:solidFill>
                  <a:srgbClr val="1C2B1E"/>
                </a:solidFill>
                <a:latin typeface="Cambria" pitchFamily="34" charset="0"/>
                <a:ea typeface="Cambria" pitchFamily="34" charset="-122"/>
                <a:cs typeface="Cambria" pitchFamily="34" charset="-120"/>
              </a:rPr>
              <a:t>Analyze</a:t>
            </a:r>
            <a:endParaRPr lang="en-US" sz="1400" dirty="0"/>
          </a:p>
        </p:txBody>
      </p:sp>
      <p:sp>
        <p:nvSpPr>
          <p:cNvPr id="24" name="Text 19"/>
          <p:cNvSpPr/>
          <p:nvPr/>
        </p:nvSpPr>
        <p:spPr>
          <a:xfrm>
            <a:off x="5202936" y="4069080"/>
            <a:ext cx="1664208" cy="1188720"/>
          </a:xfrm>
          <a:prstGeom prst="rect">
            <a:avLst/>
          </a:prstGeom>
          <a:noFill/>
          <a:ln/>
        </p:spPr>
        <p:txBody>
          <a:bodyPr wrap="square" lIns="0" tIns="0" rIns="0" bIns="0" rtlCol="0" anchor="ctr"/>
          <a:lstStyle/>
          <a:p>
            <a:pPr marL="0" indent="0" algn="ctr">
              <a:lnSpc>
                <a:spcPct val="115000"/>
              </a:lnSpc>
              <a:buNone/>
            </a:pPr>
            <a:r>
              <a:rPr lang="en-US" sz="1050" dirty="0">
                <a:solidFill>
                  <a:srgbClr val="5B6B5E"/>
                </a:solidFill>
                <a:latin typeface="Calibri" pitchFamily="34" charset="0"/>
                <a:ea typeface="Calibri" pitchFamily="34" charset="-122"/>
                <a:cs typeface="Calibri" pitchFamily="34" charset="-120"/>
              </a:rPr>
              <a:t>Correlate climate &amp; nutrient variables against yield</a:t>
            </a:r>
            <a:endParaRPr lang="en-US" sz="1050" dirty="0"/>
          </a:p>
        </p:txBody>
      </p:sp>
      <p:sp>
        <p:nvSpPr>
          <p:cNvPr id="25" name="Text 20"/>
          <p:cNvSpPr/>
          <p:nvPr/>
        </p:nvSpPr>
        <p:spPr>
          <a:xfrm>
            <a:off x="7031736" y="3749040"/>
            <a:ext cx="228600" cy="365760"/>
          </a:xfrm>
          <a:prstGeom prst="rect">
            <a:avLst/>
          </a:prstGeom>
          <a:noFill/>
          <a:ln/>
        </p:spPr>
        <p:txBody>
          <a:bodyPr wrap="square" lIns="0" tIns="0" rIns="0" bIns="0" rtlCol="0" anchor="ctr"/>
          <a:lstStyle/>
          <a:p>
            <a:pPr marL="0" indent="0" algn="ctr">
              <a:buNone/>
            </a:pPr>
            <a:r>
              <a:rPr lang="en-US" sz="1600" b="1" dirty="0">
                <a:solidFill>
                  <a:srgbClr val="6FA95E"/>
                </a:solidFill>
                <a:latin typeface="Calibri" pitchFamily="34" charset="0"/>
                <a:ea typeface="Calibri" pitchFamily="34" charset="-122"/>
                <a:cs typeface="Calibri" pitchFamily="34" charset="-120"/>
              </a:rPr>
              <a:t>&gt;</a:t>
            </a:r>
            <a:endParaRPr lang="en-US" sz="1600" dirty="0"/>
          </a:p>
        </p:txBody>
      </p:sp>
      <p:sp>
        <p:nvSpPr>
          <p:cNvPr id="26" name="Shape 21"/>
          <p:cNvSpPr/>
          <p:nvPr/>
        </p:nvSpPr>
        <p:spPr>
          <a:xfrm>
            <a:off x="7260336" y="2697480"/>
            <a:ext cx="1993392" cy="2651760"/>
          </a:xfrm>
          <a:prstGeom prst="roundRect">
            <a:avLst>
              <a:gd name="adj" fmla="val 3670"/>
            </a:avLst>
          </a:prstGeom>
          <a:solidFill>
            <a:srgbClr val="FFFFFF"/>
          </a:solidFill>
          <a:ln/>
          <a:effectLst>
            <a:outerShdw blurRad="76200" dist="25400" dir="5400000" algn="bl" rotWithShape="0">
              <a:srgbClr val="000000">
                <a:alpha val="8000"/>
              </a:srgbClr>
            </a:outerShdw>
          </a:effectLst>
        </p:spPr>
        <p:txBody>
          <a:bodyPr/>
          <a:lstStyle/>
          <a:p>
            <a:endParaRPr lang="en-IN"/>
          </a:p>
        </p:txBody>
      </p:sp>
      <p:sp>
        <p:nvSpPr>
          <p:cNvPr id="27" name="Shape 22"/>
          <p:cNvSpPr/>
          <p:nvPr/>
        </p:nvSpPr>
        <p:spPr>
          <a:xfrm>
            <a:off x="7973568" y="2953512"/>
            <a:ext cx="566928" cy="566928"/>
          </a:xfrm>
          <a:prstGeom prst="ellipse">
            <a:avLst/>
          </a:prstGeom>
          <a:solidFill>
            <a:srgbClr val="1F4D2C"/>
          </a:solidFill>
          <a:ln/>
        </p:spPr>
        <p:txBody>
          <a:bodyPr/>
          <a:lstStyle/>
          <a:p>
            <a:endParaRPr lang="en-IN"/>
          </a:p>
        </p:txBody>
      </p:sp>
      <p:pic>
        <p:nvPicPr>
          <p:cNvPr id="28" name="Image 3" descr="preencoded.png"/>
          <p:cNvPicPr>
            <a:picLocks noChangeAspect="1"/>
          </p:cNvPicPr>
          <p:nvPr/>
        </p:nvPicPr>
        <p:blipFill>
          <a:blip r:embed="rId6"/>
          <a:stretch>
            <a:fillRect/>
          </a:stretch>
        </p:blipFill>
        <p:spPr>
          <a:xfrm>
            <a:off x="8120969" y="3100913"/>
            <a:ext cx="272125" cy="272125"/>
          </a:xfrm>
          <a:prstGeom prst="rect">
            <a:avLst/>
          </a:prstGeom>
        </p:spPr>
      </p:pic>
      <p:sp>
        <p:nvSpPr>
          <p:cNvPr id="29" name="Text 23"/>
          <p:cNvSpPr/>
          <p:nvPr/>
        </p:nvSpPr>
        <p:spPr>
          <a:xfrm>
            <a:off x="8750808" y="2788920"/>
            <a:ext cx="365760" cy="320040"/>
          </a:xfrm>
          <a:prstGeom prst="rect">
            <a:avLst/>
          </a:prstGeom>
          <a:noFill/>
          <a:ln/>
        </p:spPr>
        <p:txBody>
          <a:bodyPr wrap="square" lIns="0" tIns="0" rIns="0" bIns="0" rtlCol="0" anchor="ctr"/>
          <a:lstStyle/>
          <a:p>
            <a:pPr marL="0" indent="0" algn="r">
              <a:buNone/>
            </a:pPr>
            <a:r>
              <a:rPr lang="en-US" sz="1300" b="1" dirty="0">
                <a:solidFill>
                  <a:srgbClr val="E8A33D"/>
                </a:solidFill>
                <a:latin typeface="Cambria" pitchFamily="34" charset="0"/>
                <a:ea typeface="Cambria" pitchFamily="34" charset="-122"/>
                <a:cs typeface="Cambria" pitchFamily="34" charset="-120"/>
              </a:rPr>
              <a:t>4</a:t>
            </a:r>
            <a:endParaRPr lang="en-US" sz="1300" dirty="0"/>
          </a:p>
        </p:txBody>
      </p:sp>
      <p:sp>
        <p:nvSpPr>
          <p:cNvPr id="30" name="Text 24"/>
          <p:cNvSpPr/>
          <p:nvPr/>
        </p:nvSpPr>
        <p:spPr>
          <a:xfrm>
            <a:off x="7397496" y="3657600"/>
            <a:ext cx="1719072" cy="365760"/>
          </a:xfrm>
          <a:prstGeom prst="rect">
            <a:avLst/>
          </a:prstGeom>
          <a:noFill/>
          <a:ln/>
        </p:spPr>
        <p:txBody>
          <a:bodyPr wrap="square" lIns="0" tIns="0" rIns="0" bIns="0" rtlCol="0" anchor="ctr"/>
          <a:lstStyle/>
          <a:p>
            <a:pPr marL="0" indent="0" algn="ctr">
              <a:buNone/>
            </a:pPr>
            <a:r>
              <a:rPr lang="en-US" sz="1400" b="1" dirty="0">
                <a:solidFill>
                  <a:srgbClr val="1C2B1E"/>
                </a:solidFill>
                <a:latin typeface="Cambria" pitchFamily="34" charset="0"/>
                <a:ea typeface="Cambria" pitchFamily="34" charset="-122"/>
                <a:cs typeface="Cambria" pitchFamily="34" charset="-120"/>
              </a:rPr>
              <a:t>Visualize</a:t>
            </a:r>
            <a:endParaRPr lang="en-US" sz="1400" dirty="0"/>
          </a:p>
        </p:txBody>
      </p:sp>
      <p:sp>
        <p:nvSpPr>
          <p:cNvPr id="31" name="Text 25"/>
          <p:cNvSpPr/>
          <p:nvPr/>
        </p:nvSpPr>
        <p:spPr>
          <a:xfrm>
            <a:off x="7424928" y="4069080"/>
            <a:ext cx="1664208" cy="1188720"/>
          </a:xfrm>
          <a:prstGeom prst="rect">
            <a:avLst/>
          </a:prstGeom>
          <a:noFill/>
          <a:ln/>
        </p:spPr>
        <p:txBody>
          <a:bodyPr wrap="square" lIns="0" tIns="0" rIns="0" bIns="0" rtlCol="0" anchor="ctr"/>
          <a:lstStyle/>
          <a:p>
            <a:pPr marL="0" indent="0" algn="ctr">
              <a:lnSpc>
                <a:spcPct val="115000"/>
              </a:lnSpc>
              <a:buNone/>
            </a:pPr>
            <a:r>
              <a:rPr lang="en-US" sz="1050" dirty="0">
                <a:solidFill>
                  <a:srgbClr val="5B6B5E"/>
                </a:solidFill>
                <a:latin typeface="Calibri" pitchFamily="34" charset="0"/>
                <a:ea typeface="Calibri" pitchFamily="34" charset="-122"/>
                <a:cs typeface="Calibri" pitchFamily="34" charset="-120"/>
              </a:rPr>
              <a:t>Build a dashboard of key production metrics</a:t>
            </a:r>
            <a:endParaRPr lang="en-US" sz="1050" dirty="0"/>
          </a:p>
        </p:txBody>
      </p:sp>
      <p:sp>
        <p:nvSpPr>
          <p:cNvPr id="32" name="Text 26"/>
          <p:cNvSpPr/>
          <p:nvPr/>
        </p:nvSpPr>
        <p:spPr>
          <a:xfrm>
            <a:off x="9253728" y="3749040"/>
            <a:ext cx="228600" cy="365760"/>
          </a:xfrm>
          <a:prstGeom prst="rect">
            <a:avLst/>
          </a:prstGeom>
          <a:noFill/>
          <a:ln/>
        </p:spPr>
        <p:txBody>
          <a:bodyPr wrap="square" lIns="0" tIns="0" rIns="0" bIns="0" rtlCol="0" anchor="ctr"/>
          <a:lstStyle/>
          <a:p>
            <a:pPr marL="0" indent="0" algn="ctr">
              <a:buNone/>
            </a:pPr>
            <a:r>
              <a:rPr lang="en-US" sz="1600" b="1" dirty="0">
                <a:solidFill>
                  <a:srgbClr val="6FA95E"/>
                </a:solidFill>
                <a:latin typeface="Calibri" pitchFamily="34" charset="0"/>
                <a:ea typeface="Calibri" pitchFamily="34" charset="-122"/>
                <a:cs typeface="Calibri" pitchFamily="34" charset="-120"/>
              </a:rPr>
              <a:t>&gt;</a:t>
            </a:r>
            <a:endParaRPr lang="en-US" sz="1600" dirty="0"/>
          </a:p>
        </p:txBody>
      </p:sp>
      <p:sp>
        <p:nvSpPr>
          <p:cNvPr id="33" name="Shape 27"/>
          <p:cNvSpPr/>
          <p:nvPr/>
        </p:nvSpPr>
        <p:spPr>
          <a:xfrm>
            <a:off x="9482328" y="2697480"/>
            <a:ext cx="1993392" cy="2651760"/>
          </a:xfrm>
          <a:prstGeom prst="roundRect">
            <a:avLst>
              <a:gd name="adj" fmla="val 3670"/>
            </a:avLst>
          </a:prstGeom>
          <a:solidFill>
            <a:srgbClr val="FFFFFF"/>
          </a:solidFill>
          <a:ln/>
          <a:effectLst>
            <a:outerShdw blurRad="76200" dist="25400" dir="5400000" algn="bl" rotWithShape="0">
              <a:srgbClr val="000000">
                <a:alpha val="8000"/>
              </a:srgbClr>
            </a:outerShdw>
          </a:effectLst>
        </p:spPr>
        <p:txBody>
          <a:bodyPr/>
          <a:lstStyle/>
          <a:p>
            <a:endParaRPr lang="en-IN"/>
          </a:p>
        </p:txBody>
      </p:sp>
      <p:sp>
        <p:nvSpPr>
          <p:cNvPr id="34" name="Shape 28"/>
          <p:cNvSpPr/>
          <p:nvPr/>
        </p:nvSpPr>
        <p:spPr>
          <a:xfrm>
            <a:off x="10195560" y="2953512"/>
            <a:ext cx="566928" cy="566928"/>
          </a:xfrm>
          <a:prstGeom prst="ellipse">
            <a:avLst/>
          </a:prstGeom>
          <a:solidFill>
            <a:srgbClr val="1F4D2C"/>
          </a:solidFill>
          <a:ln/>
        </p:spPr>
        <p:txBody>
          <a:bodyPr/>
          <a:lstStyle/>
          <a:p>
            <a:endParaRPr lang="en-IN"/>
          </a:p>
        </p:txBody>
      </p:sp>
      <p:pic>
        <p:nvPicPr>
          <p:cNvPr id="35" name="Image 4" descr="preencoded.png"/>
          <p:cNvPicPr>
            <a:picLocks noChangeAspect="1"/>
          </p:cNvPicPr>
          <p:nvPr/>
        </p:nvPicPr>
        <p:blipFill>
          <a:blip r:embed="rId7"/>
          <a:stretch>
            <a:fillRect/>
          </a:stretch>
        </p:blipFill>
        <p:spPr>
          <a:xfrm>
            <a:off x="10342961" y="3100913"/>
            <a:ext cx="272125" cy="272125"/>
          </a:xfrm>
          <a:prstGeom prst="rect">
            <a:avLst/>
          </a:prstGeom>
        </p:spPr>
      </p:pic>
      <p:sp>
        <p:nvSpPr>
          <p:cNvPr id="36" name="Text 29"/>
          <p:cNvSpPr/>
          <p:nvPr/>
        </p:nvSpPr>
        <p:spPr>
          <a:xfrm>
            <a:off x="10972800" y="2788920"/>
            <a:ext cx="365760" cy="320040"/>
          </a:xfrm>
          <a:prstGeom prst="rect">
            <a:avLst/>
          </a:prstGeom>
          <a:noFill/>
          <a:ln/>
        </p:spPr>
        <p:txBody>
          <a:bodyPr wrap="square" lIns="0" tIns="0" rIns="0" bIns="0" rtlCol="0" anchor="ctr"/>
          <a:lstStyle/>
          <a:p>
            <a:pPr marL="0" indent="0" algn="r">
              <a:buNone/>
            </a:pPr>
            <a:r>
              <a:rPr lang="en-US" sz="1300" b="1" dirty="0">
                <a:solidFill>
                  <a:srgbClr val="E8A33D"/>
                </a:solidFill>
                <a:latin typeface="Cambria" pitchFamily="34" charset="0"/>
                <a:ea typeface="Cambria" pitchFamily="34" charset="-122"/>
                <a:cs typeface="Cambria" pitchFamily="34" charset="-120"/>
              </a:rPr>
              <a:t>5</a:t>
            </a:r>
            <a:endParaRPr lang="en-US" sz="1300" dirty="0"/>
          </a:p>
        </p:txBody>
      </p:sp>
      <p:sp>
        <p:nvSpPr>
          <p:cNvPr id="37" name="Text 30"/>
          <p:cNvSpPr/>
          <p:nvPr/>
        </p:nvSpPr>
        <p:spPr>
          <a:xfrm>
            <a:off x="9619488" y="3657600"/>
            <a:ext cx="1719072" cy="365760"/>
          </a:xfrm>
          <a:prstGeom prst="rect">
            <a:avLst/>
          </a:prstGeom>
          <a:noFill/>
          <a:ln/>
        </p:spPr>
        <p:txBody>
          <a:bodyPr wrap="square" lIns="0" tIns="0" rIns="0" bIns="0" rtlCol="0" anchor="ctr"/>
          <a:lstStyle/>
          <a:p>
            <a:pPr marL="0" indent="0" algn="ctr">
              <a:buNone/>
            </a:pPr>
            <a:r>
              <a:rPr lang="en-US" sz="1400" b="1" dirty="0">
                <a:solidFill>
                  <a:srgbClr val="1C2B1E"/>
                </a:solidFill>
                <a:latin typeface="Cambria" pitchFamily="34" charset="0"/>
                <a:ea typeface="Cambria" pitchFamily="34" charset="-122"/>
                <a:cs typeface="Cambria" pitchFamily="34" charset="-120"/>
              </a:rPr>
              <a:t>Recommend</a:t>
            </a:r>
            <a:endParaRPr lang="en-US" sz="1400" dirty="0"/>
          </a:p>
        </p:txBody>
      </p:sp>
      <p:sp>
        <p:nvSpPr>
          <p:cNvPr id="38" name="Text 31"/>
          <p:cNvSpPr/>
          <p:nvPr/>
        </p:nvSpPr>
        <p:spPr>
          <a:xfrm>
            <a:off x="9646920" y="4069080"/>
            <a:ext cx="1664208" cy="1188720"/>
          </a:xfrm>
          <a:prstGeom prst="rect">
            <a:avLst/>
          </a:prstGeom>
          <a:noFill/>
          <a:ln/>
        </p:spPr>
        <p:txBody>
          <a:bodyPr wrap="square" lIns="0" tIns="0" rIns="0" bIns="0" rtlCol="0" anchor="ctr"/>
          <a:lstStyle/>
          <a:p>
            <a:pPr marL="0" indent="0" algn="ctr">
              <a:lnSpc>
                <a:spcPct val="115000"/>
              </a:lnSpc>
              <a:buNone/>
            </a:pPr>
            <a:r>
              <a:rPr lang="en-US" sz="1050" dirty="0">
                <a:solidFill>
                  <a:srgbClr val="5B6B5E"/>
                </a:solidFill>
                <a:latin typeface="Calibri" pitchFamily="34" charset="0"/>
                <a:ea typeface="Calibri" pitchFamily="34" charset="-122"/>
                <a:cs typeface="Calibri" pitchFamily="34" charset="-120"/>
              </a:rPr>
              <a:t>Translate insights into practical growing guidelines</a:t>
            </a:r>
            <a:endParaRPr lang="en-US" sz="1050" dirty="0"/>
          </a:p>
        </p:txBody>
      </p:sp>
      <p:sp>
        <p:nvSpPr>
          <p:cNvPr id="39" name="Text 32"/>
          <p:cNvSpPr/>
          <p:nvPr/>
        </p:nvSpPr>
        <p:spPr>
          <a:xfrm>
            <a:off x="594360" y="5623560"/>
            <a:ext cx="10881360" cy="457200"/>
          </a:xfrm>
          <a:prstGeom prst="rect">
            <a:avLst/>
          </a:prstGeom>
          <a:noFill/>
          <a:ln/>
        </p:spPr>
        <p:txBody>
          <a:bodyPr wrap="square" lIns="0" tIns="0" rIns="0" bIns="0" rtlCol="0" anchor="ctr"/>
          <a:lstStyle/>
          <a:p>
            <a:pPr marL="0" indent="0">
              <a:buNone/>
            </a:pPr>
            <a:r>
              <a:rPr lang="en-US" sz="1300" b="1" i="1" dirty="0">
                <a:solidFill>
                  <a:srgbClr val="1F4D2C"/>
                </a:solidFill>
                <a:latin typeface="Calibri" pitchFamily="34" charset="0"/>
                <a:ea typeface="Calibri" pitchFamily="34" charset="-122"/>
                <a:cs typeface="Calibri" pitchFamily="34" charset="-120"/>
              </a:rPr>
              <a:t>Objective:  Identify the factors that most strongly drive yield, and quantify their impact for each crop type.</a:t>
            </a:r>
            <a:endParaRPr lang="en-US" sz="1300" dirty="0"/>
          </a:p>
        </p:txBody>
      </p:sp>
      <p:sp>
        <p:nvSpPr>
          <p:cNvPr id="40" name="Text 33"/>
          <p:cNvSpPr/>
          <p:nvPr/>
        </p:nvSpPr>
        <p:spPr>
          <a:xfrm>
            <a:off x="11365992" y="6355080"/>
            <a:ext cx="548640" cy="320040"/>
          </a:xfrm>
          <a:prstGeom prst="rect">
            <a:avLst/>
          </a:prstGeom>
          <a:noFill/>
          <a:ln/>
        </p:spPr>
        <p:txBody>
          <a:bodyPr wrap="square" lIns="0" tIns="0" rIns="0" bIns="0" rtlCol="0" anchor="ctr"/>
          <a:lstStyle/>
          <a:p>
            <a:pPr marL="0" indent="0" algn="r">
              <a:buNone/>
            </a:pPr>
            <a:r>
              <a:rPr lang="en-US" sz="1100" dirty="0">
                <a:solidFill>
                  <a:srgbClr val="5B6B5E"/>
                </a:solidFill>
                <a:latin typeface="Calibri" pitchFamily="34" charset="0"/>
                <a:ea typeface="Calibri" pitchFamily="34" charset="-122"/>
                <a:cs typeface="Calibri" pitchFamily="34" charset="-120"/>
              </a:rPr>
              <a:t>6</a:t>
            </a:r>
            <a:endParaRPr lang="en-US" sz="1100" dirty="0"/>
          </a:p>
        </p:txBody>
      </p:sp>
      <p:sp>
        <p:nvSpPr>
          <p:cNvPr id="41" name="Text 34"/>
          <p:cNvSpPr/>
          <p:nvPr/>
        </p:nvSpPr>
        <p:spPr>
          <a:xfrm>
            <a:off x="457200" y="6355080"/>
            <a:ext cx="4572000" cy="320040"/>
          </a:xfrm>
          <a:prstGeom prst="rect">
            <a:avLst/>
          </a:prstGeom>
          <a:noFill/>
          <a:ln/>
        </p:spPr>
        <p:txBody>
          <a:bodyPr wrap="square" lIns="0" tIns="0" rIns="0" bIns="0" rtlCol="0" anchor="ctr"/>
          <a:lstStyle/>
          <a:p>
            <a:pPr marL="0" indent="0" algn="l">
              <a:buNone/>
            </a:pPr>
            <a:r>
              <a:rPr lang="en-US" sz="900" dirty="0">
                <a:solidFill>
                  <a:srgbClr val="5B6B5E"/>
                </a:solidFill>
                <a:latin typeface="Calibri" pitchFamily="34" charset="0"/>
                <a:ea typeface="Calibri" pitchFamily="34" charset="-122"/>
                <a:cs typeface="Calibri" pitchFamily="34" charset="-120"/>
              </a:rPr>
              <a:t>Greenhouse Crop Production</a:t>
            </a:r>
            <a:endParaRPr lang="en-US" sz="900" dirty="0"/>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curtains"/>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9F5"/>
        </a:solidFill>
        <a:effectLst/>
      </p:bgPr>
    </p:bg>
    <p:spTree>
      <p:nvGrpSpPr>
        <p:cNvPr id="1" name=""/>
        <p:cNvGrpSpPr/>
        <p:nvPr/>
      </p:nvGrpSpPr>
      <p:grpSpPr>
        <a:xfrm>
          <a:off x="0" y="0"/>
          <a:ext cx="0" cy="0"/>
          <a:chOff x="0" y="0"/>
          <a:chExt cx="0" cy="0"/>
        </a:xfrm>
      </p:grpSpPr>
      <p:sp>
        <p:nvSpPr>
          <p:cNvPr id="2" name="Text 0"/>
          <p:cNvSpPr/>
          <p:nvPr/>
        </p:nvSpPr>
        <p:spPr>
          <a:xfrm>
            <a:off x="548640" y="384048"/>
            <a:ext cx="8229600" cy="320040"/>
          </a:xfrm>
          <a:prstGeom prst="rect">
            <a:avLst/>
          </a:prstGeom>
          <a:noFill/>
          <a:ln/>
        </p:spPr>
        <p:txBody>
          <a:bodyPr wrap="square" lIns="0" tIns="0" rIns="0" bIns="0" rtlCol="0" anchor="ctr"/>
          <a:lstStyle/>
          <a:p>
            <a:pPr marL="0" indent="0">
              <a:buNone/>
            </a:pPr>
            <a:r>
              <a:rPr lang="en-US" sz="1300" b="1" kern="0" spc="200" dirty="0">
                <a:solidFill>
                  <a:srgbClr val="6FA95E"/>
                </a:solidFill>
                <a:latin typeface="Calibri" pitchFamily="34" charset="0"/>
                <a:ea typeface="Calibri" pitchFamily="34" charset="-122"/>
                <a:cs typeface="Calibri" pitchFamily="34" charset="-120"/>
              </a:rPr>
              <a:t>THE DATA</a:t>
            </a:r>
            <a:endParaRPr lang="en-US" sz="1300" dirty="0"/>
          </a:p>
        </p:txBody>
      </p:sp>
      <p:sp>
        <p:nvSpPr>
          <p:cNvPr id="3" name="Text 1"/>
          <p:cNvSpPr/>
          <p:nvPr/>
        </p:nvSpPr>
        <p:spPr>
          <a:xfrm>
            <a:off x="548640" y="658368"/>
            <a:ext cx="10515600" cy="685800"/>
          </a:xfrm>
          <a:prstGeom prst="rect">
            <a:avLst/>
          </a:prstGeom>
          <a:noFill/>
          <a:ln/>
        </p:spPr>
        <p:txBody>
          <a:bodyPr wrap="square" lIns="0" tIns="0" rIns="0" bIns="0" rtlCol="0" anchor="ctr"/>
          <a:lstStyle/>
          <a:p>
            <a:pPr marL="0" indent="0">
              <a:buNone/>
            </a:pPr>
            <a:r>
              <a:rPr lang="en-US" sz="3200" b="1" dirty="0">
                <a:solidFill>
                  <a:srgbClr val="163A20"/>
                </a:solidFill>
                <a:latin typeface="Cambria" pitchFamily="34" charset="0"/>
                <a:ea typeface="Cambria" pitchFamily="34" charset="-122"/>
                <a:cs typeface="Cambria" pitchFamily="34" charset="-120"/>
              </a:rPr>
              <a:t>Dataset Overview</a:t>
            </a:r>
            <a:endParaRPr lang="en-US" sz="3200" dirty="0"/>
          </a:p>
        </p:txBody>
      </p:sp>
      <p:sp>
        <p:nvSpPr>
          <p:cNvPr id="4" name="Shape 2"/>
          <p:cNvSpPr/>
          <p:nvPr/>
        </p:nvSpPr>
        <p:spPr>
          <a:xfrm>
            <a:off x="594360" y="1508760"/>
            <a:ext cx="2514600" cy="1051560"/>
          </a:xfrm>
          <a:prstGeom prst="roundRect">
            <a:avLst>
              <a:gd name="adj" fmla="val 6957"/>
            </a:avLst>
          </a:prstGeom>
          <a:solidFill>
            <a:srgbClr val="1F4D2C"/>
          </a:solidFill>
          <a:ln/>
        </p:spPr>
        <p:txBody>
          <a:bodyPr/>
          <a:lstStyle/>
          <a:p>
            <a:endParaRPr lang="en-IN"/>
          </a:p>
        </p:txBody>
      </p:sp>
      <p:sp>
        <p:nvSpPr>
          <p:cNvPr id="5" name="Text 3"/>
          <p:cNvSpPr/>
          <p:nvPr/>
        </p:nvSpPr>
        <p:spPr>
          <a:xfrm>
            <a:off x="777240" y="1600200"/>
            <a:ext cx="2148840" cy="548640"/>
          </a:xfrm>
          <a:prstGeom prst="rect">
            <a:avLst/>
          </a:prstGeom>
          <a:noFill/>
          <a:ln/>
        </p:spPr>
        <p:txBody>
          <a:bodyPr wrap="square" lIns="0" tIns="0" rIns="0" bIns="0" rtlCol="0" anchor="ctr"/>
          <a:lstStyle/>
          <a:p>
            <a:pPr marL="0" indent="0">
              <a:buNone/>
            </a:pPr>
            <a:r>
              <a:rPr lang="en-US" sz="2600" b="1" dirty="0">
                <a:solidFill>
                  <a:srgbClr val="E8A33D"/>
                </a:solidFill>
                <a:latin typeface="Cambria" pitchFamily="34" charset="0"/>
                <a:ea typeface="Cambria" pitchFamily="34" charset="-122"/>
                <a:cs typeface="Cambria" pitchFamily="34" charset="-120"/>
              </a:rPr>
              <a:t>10,400</a:t>
            </a:r>
            <a:endParaRPr lang="en-US" sz="2600" dirty="0"/>
          </a:p>
        </p:txBody>
      </p:sp>
      <p:sp>
        <p:nvSpPr>
          <p:cNvPr id="6" name="Text 4"/>
          <p:cNvSpPr/>
          <p:nvPr/>
        </p:nvSpPr>
        <p:spPr>
          <a:xfrm>
            <a:off x="777240" y="2167128"/>
            <a:ext cx="2148840" cy="320040"/>
          </a:xfrm>
          <a:prstGeom prst="rect">
            <a:avLst/>
          </a:prstGeom>
          <a:noFill/>
          <a:ln/>
        </p:spPr>
        <p:txBody>
          <a:bodyPr wrap="square" lIns="0" tIns="0" rIns="0" bIns="0" rtlCol="0" anchor="ctr"/>
          <a:lstStyle/>
          <a:p>
            <a:pPr marL="0" indent="0">
              <a:buNone/>
            </a:pPr>
            <a:r>
              <a:rPr lang="en-US" sz="1150" dirty="0">
                <a:solidFill>
                  <a:srgbClr val="D7E8D3"/>
                </a:solidFill>
                <a:latin typeface="Calibri" pitchFamily="34" charset="0"/>
                <a:ea typeface="Calibri" pitchFamily="34" charset="-122"/>
                <a:cs typeface="Calibri" pitchFamily="34" charset="-120"/>
              </a:rPr>
              <a:t>Total Records</a:t>
            </a:r>
            <a:endParaRPr lang="en-US" sz="1150" dirty="0"/>
          </a:p>
        </p:txBody>
      </p:sp>
      <p:sp>
        <p:nvSpPr>
          <p:cNvPr id="7" name="Shape 5"/>
          <p:cNvSpPr/>
          <p:nvPr/>
        </p:nvSpPr>
        <p:spPr>
          <a:xfrm>
            <a:off x="3337560" y="1508760"/>
            <a:ext cx="2514600" cy="1051560"/>
          </a:xfrm>
          <a:prstGeom prst="roundRect">
            <a:avLst>
              <a:gd name="adj" fmla="val 6957"/>
            </a:avLst>
          </a:prstGeom>
          <a:solidFill>
            <a:srgbClr val="1F4D2C"/>
          </a:solidFill>
          <a:ln/>
        </p:spPr>
        <p:txBody>
          <a:bodyPr/>
          <a:lstStyle/>
          <a:p>
            <a:endParaRPr lang="en-IN"/>
          </a:p>
        </p:txBody>
      </p:sp>
      <p:sp>
        <p:nvSpPr>
          <p:cNvPr id="8" name="Text 6"/>
          <p:cNvSpPr/>
          <p:nvPr/>
        </p:nvSpPr>
        <p:spPr>
          <a:xfrm>
            <a:off x="3520440" y="1600200"/>
            <a:ext cx="2148840" cy="548640"/>
          </a:xfrm>
          <a:prstGeom prst="rect">
            <a:avLst/>
          </a:prstGeom>
          <a:noFill/>
          <a:ln/>
        </p:spPr>
        <p:txBody>
          <a:bodyPr wrap="square" lIns="0" tIns="0" rIns="0" bIns="0" rtlCol="0" anchor="ctr"/>
          <a:lstStyle/>
          <a:p>
            <a:pPr marL="0" indent="0">
              <a:buNone/>
            </a:pPr>
            <a:r>
              <a:rPr lang="en-US" sz="2600" b="1" dirty="0">
                <a:solidFill>
                  <a:srgbClr val="E8A33D"/>
                </a:solidFill>
                <a:latin typeface="Cambria" pitchFamily="34" charset="0"/>
                <a:ea typeface="Cambria" pitchFamily="34" charset="-122"/>
                <a:cs typeface="Cambria" pitchFamily="34" charset="-120"/>
              </a:rPr>
              <a:t>20</a:t>
            </a:r>
            <a:endParaRPr lang="en-US" sz="2600" dirty="0"/>
          </a:p>
        </p:txBody>
      </p:sp>
      <p:sp>
        <p:nvSpPr>
          <p:cNvPr id="9" name="Text 7"/>
          <p:cNvSpPr/>
          <p:nvPr/>
        </p:nvSpPr>
        <p:spPr>
          <a:xfrm>
            <a:off x="3520440" y="2167128"/>
            <a:ext cx="2148840" cy="320040"/>
          </a:xfrm>
          <a:prstGeom prst="rect">
            <a:avLst/>
          </a:prstGeom>
          <a:noFill/>
          <a:ln/>
        </p:spPr>
        <p:txBody>
          <a:bodyPr wrap="square" lIns="0" tIns="0" rIns="0" bIns="0" rtlCol="0" anchor="ctr"/>
          <a:lstStyle/>
          <a:p>
            <a:pPr marL="0" indent="0">
              <a:buNone/>
            </a:pPr>
            <a:r>
              <a:rPr lang="en-US" sz="1150" dirty="0">
                <a:solidFill>
                  <a:srgbClr val="D7E8D3"/>
                </a:solidFill>
                <a:latin typeface="Calibri" pitchFamily="34" charset="0"/>
                <a:ea typeface="Calibri" pitchFamily="34" charset="-122"/>
                <a:cs typeface="Calibri" pitchFamily="34" charset="-120"/>
              </a:rPr>
              <a:t>Variables Tracked</a:t>
            </a:r>
            <a:endParaRPr lang="en-US" sz="1150" dirty="0"/>
          </a:p>
        </p:txBody>
      </p:sp>
      <p:sp>
        <p:nvSpPr>
          <p:cNvPr id="10" name="Shape 8"/>
          <p:cNvSpPr/>
          <p:nvPr/>
        </p:nvSpPr>
        <p:spPr>
          <a:xfrm>
            <a:off x="6080760" y="1508760"/>
            <a:ext cx="2514600" cy="1051560"/>
          </a:xfrm>
          <a:prstGeom prst="roundRect">
            <a:avLst>
              <a:gd name="adj" fmla="val 6957"/>
            </a:avLst>
          </a:prstGeom>
          <a:solidFill>
            <a:srgbClr val="1F4D2C"/>
          </a:solidFill>
          <a:ln/>
        </p:spPr>
        <p:txBody>
          <a:bodyPr/>
          <a:lstStyle/>
          <a:p>
            <a:endParaRPr lang="en-IN"/>
          </a:p>
        </p:txBody>
      </p:sp>
      <p:sp>
        <p:nvSpPr>
          <p:cNvPr id="11" name="Text 9"/>
          <p:cNvSpPr/>
          <p:nvPr/>
        </p:nvSpPr>
        <p:spPr>
          <a:xfrm>
            <a:off x="6263640" y="1600200"/>
            <a:ext cx="2148840" cy="548640"/>
          </a:xfrm>
          <a:prstGeom prst="rect">
            <a:avLst/>
          </a:prstGeom>
          <a:noFill/>
          <a:ln/>
        </p:spPr>
        <p:txBody>
          <a:bodyPr wrap="square" lIns="0" tIns="0" rIns="0" bIns="0" rtlCol="0" anchor="ctr"/>
          <a:lstStyle/>
          <a:p>
            <a:pPr marL="0" indent="0">
              <a:buNone/>
            </a:pPr>
            <a:r>
              <a:rPr lang="en-US" sz="2600" b="1" dirty="0">
                <a:solidFill>
                  <a:srgbClr val="E8A33D"/>
                </a:solidFill>
                <a:latin typeface="Cambria" pitchFamily="34" charset="0"/>
                <a:ea typeface="Cambria" pitchFamily="34" charset="-122"/>
                <a:cs typeface="Cambria" pitchFamily="34" charset="-120"/>
              </a:rPr>
              <a:t>4</a:t>
            </a:r>
            <a:endParaRPr lang="en-US" sz="2600" dirty="0"/>
          </a:p>
        </p:txBody>
      </p:sp>
      <p:sp>
        <p:nvSpPr>
          <p:cNvPr id="12" name="Text 10"/>
          <p:cNvSpPr/>
          <p:nvPr/>
        </p:nvSpPr>
        <p:spPr>
          <a:xfrm>
            <a:off x="6263640" y="2167128"/>
            <a:ext cx="2148840" cy="320040"/>
          </a:xfrm>
          <a:prstGeom prst="rect">
            <a:avLst/>
          </a:prstGeom>
          <a:noFill/>
          <a:ln/>
        </p:spPr>
        <p:txBody>
          <a:bodyPr wrap="square" lIns="0" tIns="0" rIns="0" bIns="0" rtlCol="0" anchor="ctr"/>
          <a:lstStyle/>
          <a:p>
            <a:pPr marL="0" indent="0">
              <a:buNone/>
            </a:pPr>
            <a:r>
              <a:rPr lang="en-US" sz="1150" dirty="0">
                <a:solidFill>
                  <a:srgbClr val="D7E8D3"/>
                </a:solidFill>
                <a:latin typeface="Calibri" pitchFamily="34" charset="0"/>
                <a:ea typeface="Calibri" pitchFamily="34" charset="-122"/>
                <a:cs typeface="Calibri" pitchFamily="34" charset="-120"/>
              </a:rPr>
              <a:t>Crop Types</a:t>
            </a:r>
            <a:endParaRPr lang="en-US" sz="1150" dirty="0"/>
          </a:p>
        </p:txBody>
      </p:sp>
      <p:sp>
        <p:nvSpPr>
          <p:cNvPr id="13" name="Shape 11"/>
          <p:cNvSpPr/>
          <p:nvPr/>
        </p:nvSpPr>
        <p:spPr>
          <a:xfrm>
            <a:off x="8823960" y="1508760"/>
            <a:ext cx="2514600" cy="1051560"/>
          </a:xfrm>
          <a:prstGeom prst="roundRect">
            <a:avLst>
              <a:gd name="adj" fmla="val 6957"/>
            </a:avLst>
          </a:prstGeom>
          <a:solidFill>
            <a:srgbClr val="1F4D2C"/>
          </a:solidFill>
          <a:ln/>
        </p:spPr>
        <p:txBody>
          <a:bodyPr/>
          <a:lstStyle/>
          <a:p>
            <a:endParaRPr lang="en-IN"/>
          </a:p>
        </p:txBody>
      </p:sp>
      <p:sp>
        <p:nvSpPr>
          <p:cNvPr id="14" name="Text 12"/>
          <p:cNvSpPr/>
          <p:nvPr/>
        </p:nvSpPr>
        <p:spPr>
          <a:xfrm>
            <a:off x="9006840" y="1600200"/>
            <a:ext cx="2148840" cy="548640"/>
          </a:xfrm>
          <a:prstGeom prst="rect">
            <a:avLst/>
          </a:prstGeom>
          <a:noFill/>
          <a:ln/>
        </p:spPr>
        <p:txBody>
          <a:bodyPr wrap="square" lIns="0" tIns="0" rIns="0" bIns="0" rtlCol="0" anchor="ctr"/>
          <a:lstStyle/>
          <a:p>
            <a:pPr marL="0" indent="0">
              <a:buNone/>
            </a:pPr>
            <a:r>
              <a:rPr lang="en-US" sz="2600" b="1" dirty="0">
                <a:solidFill>
                  <a:srgbClr val="E8A33D"/>
                </a:solidFill>
                <a:latin typeface="Cambria" pitchFamily="34" charset="0"/>
                <a:ea typeface="Cambria" pitchFamily="34" charset="-122"/>
                <a:cs typeface="Cambria" pitchFamily="34" charset="-120"/>
              </a:rPr>
              <a:t>5</a:t>
            </a:r>
            <a:endParaRPr lang="en-US" sz="2600" dirty="0"/>
          </a:p>
        </p:txBody>
      </p:sp>
      <p:sp>
        <p:nvSpPr>
          <p:cNvPr id="15" name="Text 13"/>
          <p:cNvSpPr/>
          <p:nvPr/>
        </p:nvSpPr>
        <p:spPr>
          <a:xfrm>
            <a:off x="9006840" y="2167128"/>
            <a:ext cx="2148840" cy="320040"/>
          </a:xfrm>
          <a:prstGeom prst="rect">
            <a:avLst/>
          </a:prstGeom>
          <a:noFill/>
          <a:ln/>
        </p:spPr>
        <p:txBody>
          <a:bodyPr wrap="square" lIns="0" tIns="0" rIns="0" bIns="0" rtlCol="0" anchor="ctr"/>
          <a:lstStyle/>
          <a:p>
            <a:pPr marL="0" indent="0">
              <a:buNone/>
            </a:pPr>
            <a:r>
              <a:rPr lang="en-US" sz="1150" dirty="0">
                <a:solidFill>
                  <a:srgbClr val="D7E8D3"/>
                </a:solidFill>
                <a:latin typeface="Calibri" pitchFamily="34" charset="0"/>
                <a:ea typeface="Calibri" pitchFamily="34" charset="-122"/>
                <a:cs typeface="Calibri" pitchFamily="34" charset="-120"/>
              </a:rPr>
              <a:t>Greenhouses</a:t>
            </a:r>
            <a:endParaRPr lang="en-US" sz="1150" dirty="0"/>
          </a:p>
        </p:txBody>
      </p:sp>
      <p:sp>
        <p:nvSpPr>
          <p:cNvPr id="16" name="Text 14"/>
          <p:cNvSpPr/>
          <p:nvPr/>
        </p:nvSpPr>
        <p:spPr>
          <a:xfrm>
            <a:off x="594360" y="2788920"/>
            <a:ext cx="5486400" cy="365760"/>
          </a:xfrm>
          <a:prstGeom prst="rect">
            <a:avLst/>
          </a:prstGeom>
          <a:noFill/>
          <a:ln/>
        </p:spPr>
        <p:txBody>
          <a:bodyPr wrap="square" lIns="0" tIns="0" rIns="0" bIns="0" rtlCol="0" anchor="ctr"/>
          <a:lstStyle/>
          <a:p>
            <a:pPr marL="0" indent="0">
              <a:buNone/>
            </a:pPr>
            <a:r>
              <a:rPr lang="en-US" sz="1600" b="1" dirty="0">
                <a:solidFill>
                  <a:srgbClr val="1C2B1E"/>
                </a:solidFill>
                <a:latin typeface="Cambria" pitchFamily="34" charset="0"/>
                <a:ea typeface="Cambria" pitchFamily="34" charset="-122"/>
                <a:cs typeface="Cambria" pitchFamily="34" charset="-120"/>
              </a:rPr>
              <a:t>Key Variables Captured</a:t>
            </a:r>
            <a:endParaRPr lang="en-US" sz="1600" dirty="0"/>
          </a:p>
        </p:txBody>
      </p:sp>
      <p:sp>
        <p:nvSpPr>
          <p:cNvPr id="17" name="Shape 15"/>
          <p:cNvSpPr/>
          <p:nvPr/>
        </p:nvSpPr>
        <p:spPr>
          <a:xfrm>
            <a:off x="594360" y="3300984"/>
            <a:ext cx="128016" cy="128016"/>
          </a:xfrm>
          <a:prstGeom prst="ellipse">
            <a:avLst/>
          </a:prstGeom>
          <a:solidFill>
            <a:srgbClr val="6FA95E"/>
          </a:solidFill>
          <a:ln/>
        </p:spPr>
        <p:txBody>
          <a:bodyPr/>
          <a:lstStyle/>
          <a:p>
            <a:endParaRPr lang="en-IN"/>
          </a:p>
        </p:txBody>
      </p:sp>
      <p:sp>
        <p:nvSpPr>
          <p:cNvPr id="18" name="Text 16"/>
          <p:cNvSpPr/>
          <p:nvPr/>
        </p:nvSpPr>
        <p:spPr>
          <a:xfrm>
            <a:off x="868680" y="3172968"/>
            <a:ext cx="5943600" cy="457200"/>
          </a:xfrm>
          <a:prstGeom prst="rect">
            <a:avLst/>
          </a:prstGeom>
          <a:noFill/>
          <a:ln/>
        </p:spPr>
        <p:txBody>
          <a:bodyPr wrap="square" lIns="0" tIns="0" rIns="0" bIns="0" rtlCol="0" anchor="ctr"/>
          <a:lstStyle/>
          <a:p>
            <a:pPr marL="0" indent="0">
              <a:buNone/>
            </a:pPr>
            <a:r>
              <a:rPr lang="en-US" sz="1250" b="1" dirty="0">
                <a:solidFill>
                  <a:srgbClr val="1F4D2C"/>
                </a:solidFill>
                <a:latin typeface="Calibri" pitchFamily="34" charset="0"/>
                <a:ea typeface="Calibri" pitchFamily="34" charset="-122"/>
                <a:cs typeface="Calibri" pitchFamily="34" charset="-120"/>
              </a:rPr>
              <a:t>Climate:  </a:t>
            </a:r>
            <a:r>
              <a:rPr lang="en-US" sz="1250" dirty="0">
                <a:solidFill>
                  <a:srgbClr val="1C2B1E"/>
                </a:solidFill>
                <a:latin typeface="Calibri" pitchFamily="34" charset="0"/>
                <a:ea typeface="Calibri" pitchFamily="34" charset="-122"/>
                <a:cs typeface="Calibri" pitchFamily="34" charset="-120"/>
              </a:rPr>
              <a:t>Avg / min / max temperature, humidity, CO2, light intensity, photoperiod</a:t>
            </a:r>
            <a:endParaRPr lang="en-US" sz="1250" dirty="0"/>
          </a:p>
        </p:txBody>
      </p:sp>
      <p:sp>
        <p:nvSpPr>
          <p:cNvPr id="19" name="Shape 17"/>
          <p:cNvSpPr/>
          <p:nvPr/>
        </p:nvSpPr>
        <p:spPr>
          <a:xfrm>
            <a:off x="594360" y="3831336"/>
            <a:ext cx="128016" cy="128016"/>
          </a:xfrm>
          <a:prstGeom prst="ellipse">
            <a:avLst/>
          </a:prstGeom>
          <a:solidFill>
            <a:srgbClr val="6FA95E"/>
          </a:solidFill>
          <a:ln/>
        </p:spPr>
        <p:txBody>
          <a:bodyPr/>
          <a:lstStyle/>
          <a:p>
            <a:endParaRPr lang="en-IN"/>
          </a:p>
        </p:txBody>
      </p:sp>
      <p:sp>
        <p:nvSpPr>
          <p:cNvPr id="20" name="Text 18"/>
          <p:cNvSpPr/>
          <p:nvPr/>
        </p:nvSpPr>
        <p:spPr>
          <a:xfrm>
            <a:off x="868680" y="3703320"/>
            <a:ext cx="5943600" cy="457200"/>
          </a:xfrm>
          <a:prstGeom prst="rect">
            <a:avLst/>
          </a:prstGeom>
          <a:noFill/>
          <a:ln/>
        </p:spPr>
        <p:txBody>
          <a:bodyPr wrap="square" lIns="0" tIns="0" rIns="0" bIns="0" rtlCol="0" anchor="ctr"/>
          <a:lstStyle/>
          <a:p>
            <a:pPr marL="0" indent="0">
              <a:buNone/>
            </a:pPr>
            <a:r>
              <a:rPr lang="en-US" sz="1250" b="1" dirty="0">
                <a:solidFill>
                  <a:srgbClr val="1F4D2C"/>
                </a:solidFill>
                <a:latin typeface="Calibri" pitchFamily="34" charset="0"/>
                <a:ea typeface="Calibri" pitchFamily="34" charset="-122"/>
                <a:cs typeface="Calibri" pitchFamily="34" charset="-120"/>
              </a:rPr>
              <a:t>Cultivation:  </a:t>
            </a:r>
            <a:r>
              <a:rPr lang="en-US" sz="1250" dirty="0">
                <a:solidFill>
                  <a:srgbClr val="1C2B1E"/>
                </a:solidFill>
                <a:latin typeface="Calibri" pitchFamily="34" charset="0"/>
                <a:ea typeface="Calibri" pitchFamily="34" charset="-122"/>
                <a:cs typeface="Calibri" pitchFamily="34" charset="-120"/>
              </a:rPr>
              <a:t>Planting &amp; harvest dates, days to maturity, irrigation (mm)</a:t>
            </a:r>
            <a:endParaRPr lang="en-US" sz="1250" dirty="0"/>
          </a:p>
        </p:txBody>
      </p:sp>
      <p:sp>
        <p:nvSpPr>
          <p:cNvPr id="21" name="Shape 19"/>
          <p:cNvSpPr/>
          <p:nvPr/>
        </p:nvSpPr>
        <p:spPr>
          <a:xfrm>
            <a:off x="594360" y="4361688"/>
            <a:ext cx="128016" cy="128016"/>
          </a:xfrm>
          <a:prstGeom prst="ellipse">
            <a:avLst/>
          </a:prstGeom>
          <a:solidFill>
            <a:srgbClr val="6FA95E"/>
          </a:solidFill>
          <a:ln/>
        </p:spPr>
        <p:txBody>
          <a:bodyPr/>
          <a:lstStyle/>
          <a:p>
            <a:endParaRPr lang="en-IN"/>
          </a:p>
        </p:txBody>
      </p:sp>
      <p:sp>
        <p:nvSpPr>
          <p:cNvPr id="22" name="Text 20"/>
          <p:cNvSpPr/>
          <p:nvPr/>
        </p:nvSpPr>
        <p:spPr>
          <a:xfrm>
            <a:off x="868680" y="4233672"/>
            <a:ext cx="5943600" cy="457200"/>
          </a:xfrm>
          <a:prstGeom prst="rect">
            <a:avLst/>
          </a:prstGeom>
          <a:noFill/>
          <a:ln/>
        </p:spPr>
        <p:txBody>
          <a:bodyPr wrap="square" lIns="0" tIns="0" rIns="0" bIns="0" rtlCol="0" anchor="ctr"/>
          <a:lstStyle/>
          <a:p>
            <a:pPr marL="0" indent="0">
              <a:buNone/>
            </a:pPr>
            <a:r>
              <a:rPr lang="en-US" sz="1250" b="1" dirty="0">
                <a:solidFill>
                  <a:srgbClr val="1F4D2C"/>
                </a:solidFill>
                <a:latin typeface="Calibri" pitchFamily="34" charset="0"/>
                <a:ea typeface="Calibri" pitchFamily="34" charset="-122"/>
                <a:cs typeface="Calibri" pitchFamily="34" charset="-120"/>
              </a:rPr>
              <a:t>Nutrition:  </a:t>
            </a:r>
            <a:r>
              <a:rPr lang="en-US" sz="1250" dirty="0">
                <a:solidFill>
                  <a:srgbClr val="1C2B1E"/>
                </a:solidFill>
                <a:latin typeface="Calibri" pitchFamily="34" charset="0"/>
                <a:ea typeface="Calibri" pitchFamily="34" charset="-122"/>
                <a:cs typeface="Calibri" pitchFamily="34" charset="-120"/>
              </a:rPr>
              <a:t>Fertilizer N, P, K dosage (kg/ha)</a:t>
            </a:r>
            <a:endParaRPr lang="en-US" sz="1250" dirty="0"/>
          </a:p>
        </p:txBody>
      </p:sp>
      <p:sp>
        <p:nvSpPr>
          <p:cNvPr id="23" name="Shape 21"/>
          <p:cNvSpPr/>
          <p:nvPr/>
        </p:nvSpPr>
        <p:spPr>
          <a:xfrm>
            <a:off x="594360" y="4892040"/>
            <a:ext cx="128016" cy="128016"/>
          </a:xfrm>
          <a:prstGeom prst="ellipse">
            <a:avLst/>
          </a:prstGeom>
          <a:solidFill>
            <a:srgbClr val="6FA95E"/>
          </a:solidFill>
          <a:ln/>
        </p:spPr>
        <p:txBody>
          <a:bodyPr/>
          <a:lstStyle/>
          <a:p>
            <a:endParaRPr lang="en-IN"/>
          </a:p>
        </p:txBody>
      </p:sp>
      <p:sp>
        <p:nvSpPr>
          <p:cNvPr id="24" name="Text 22"/>
          <p:cNvSpPr/>
          <p:nvPr/>
        </p:nvSpPr>
        <p:spPr>
          <a:xfrm>
            <a:off x="868680" y="4764024"/>
            <a:ext cx="5943600" cy="457200"/>
          </a:xfrm>
          <a:prstGeom prst="rect">
            <a:avLst/>
          </a:prstGeom>
          <a:noFill/>
          <a:ln/>
        </p:spPr>
        <p:txBody>
          <a:bodyPr wrap="square" lIns="0" tIns="0" rIns="0" bIns="0" rtlCol="0" anchor="ctr"/>
          <a:lstStyle/>
          <a:p>
            <a:pPr marL="0" indent="0">
              <a:buNone/>
            </a:pPr>
            <a:r>
              <a:rPr lang="en-US" sz="1250" b="1" dirty="0">
                <a:solidFill>
                  <a:srgbClr val="1F4D2C"/>
                </a:solidFill>
                <a:latin typeface="Calibri" pitchFamily="34" charset="0"/>
                <a:ea typeface="Calibri" pitchFamily="34" charset="-122"/>
                <a:cs typeface="Calibri" pitchFamily="34" charset="-120"/>
              </a:rPr>
              <a:t>Health &amp; Soil:  </a:t>
            </a:r>
            <a:r>
              <a:rPr lang="en-US" sz="1250" dirty="0">
                <a:solidFill>
                  <a:srgbClr val="1C2B1E"/>
                </a:solidFill>
                <a:latin typeface="Calibri" pitchFamily="34" charset="0"/>
                <a:ea typeface="Calibri" pitchFamily="34" charset="-122"/>
                <a:cs typeface="Calibri" pitchFamily="34" charset="-120"/>
              </a:rPr>
              <a:t>Pest severity index, soil pH</a:t>
            </a:r>
            <a:endParaRPr lang="en-US" sz="1250" dirty="0"/>
          </a:p>
        </p:txBody>
      </p:sp>
      <p:sp>
        <p:nvSpPr>
          <p:cNvPr id="25" name="Shape 23"/>
          <p:cNvSpPr/>
          <p:nvPr/>
        </p:nvSpPr>
        <p:spPr>
          <a:xfrm>
            <a:off x="594360" y="5422392"/>
            <a:ext cx="128016" cy="128016"/>
          </a:xfrm>
          <a:prstGeom prst="ellipse">
            <a:avLst/>
          </a:prstGeom>
          <a:solidFill>
            <a:srgbClr val="6FA95E"/>
          </a:solidFill>
          <a:ln/>
        </p:spPr>
        <p:txBody>
          <a:bodyPr/>
          <a:lstStyle/>
          <a:p>
            <a:endParaRPr lang="en-IN"/>
          </a:p>
        </p:txBody>
      </p:sp>
      <p:sp>
        <p:nvSpPr>
          <p:cNvPr id="26" name="Text 24"/>
          <p:cNvSpPr/>
          <p:nvPr/>
        </p:nvSpPr>
        <p:spPr>
          <a:xfrm>
            <a:off x="868680" y="5294376"/>
            <a:ext cx="5943600" cy="457200"/>
          </a:xfrm>
          <a:prstGeom prst="rect">
            <a:avLst/>
          </a:prstGeom>
          <a:noFill/>
          <a:ln/>
        </p:spPr>
        <p:txBody>
          <a:bodyPr wrap="square" lIns="0" tIns="0" rIns="0" bIns="0" rtlCol="0" anchor="ctr"/>
          <a:lstStyle/>
          <a:p>
            <a:pPr marL="0" indent="0">
              <a:buNone/>
            </a:pPr>
            <a:r>
              <a:rPr lang="en-US" sz="1250" b="1" dirty="0">
                <a:solidFill>
                  <a:srgbClr val="1F4D2C"/>
                </a:solidFill>
                <a:latin typeface="Calibri" pitchFamily="34" charset="0"/>
                <a:ea typeface="Calibri" pitchFamily="34" charset="-122"/>
                <a:cs typeface="Calibri" pitchFamily="34" charset="-120"/>
              </a:rPr>
              <a:t>Outcome:  </a:t>
            </a:r>
            <a:r>
              <a:rPr lang="en-US" sz="1250" dirty="0">
                <a:solidFill>
                  <a:srgbClr val="1C2B1E"/>
                </a:solidFill>
                <a:latin typeface="Calibri" pitchFamily="34" charset="0"/>
                <a:ea typeface="Calibri" pitchFamily="34" charset="-122"/>
                <a:cs typeface="Calibri" pitchFamily="34" charset="-120"/>
              </a:rPr>
              <a:t>Yield (kg per m²) — the target variable</a:t>
            </a:r>
            <a:endParaRPr lang="en-US" sz="1250" dirty="0"/>
          </a:p>
        </p:txBody>
      </p:sp>
      <p:graphicFrame>
        <p:nvGraphicFramePr>
          <p:cNvPr id="27" name="Chart 0"/>
          <p:cNvGraphicFramePr/>
          <p:nvPr/>
        </p:nvGraphicFramePr>
        <p:xfrm>
          <a:off x="7040880" y="2743200"/>
          <a:ext cx="4572000" cy="3291840"/>
        </p:xfrm>
        <a:graphic>
          <a:graphicData uri="http://schemas.openxmlformats.org/drawingml/2006/chart">
            <c:chart xmlns:c="http://schemas.openxmlformats.org/drawingml/2006/chart" xmlns:r="http://schemas.openxmlformats.org/officeDocument/2006/relationships" r:id="rId3"/>
          </a:graphicData>
        </a:graphic>
      </p:graphicFrame>
      <p:sp>
        <p:nvSpPr>
          <p:cNvPr id="28" name="Text 25"/>
          <p:cNvSpPr/>
          <p:nvPr/>
        </p:nvSpPr>
        <p:spPr>
          <a:xfrm>
            <a:off x="11365992" y="6355080"/>
            <a:ext cx="548640" cy="320040"/>
          </a:xfrm>
          <a:prstGeom prst="rect">
            <a:avLst/>
          </a:prstGeom>
          <a:noFill/>
          <a:ln/>
        </p:spPr>
        <p:txBody>
          <a:bodyPr wrap="square" lIns="0" tIns="0" rIns="0" bIns="0" rtlCol="0" anchor="ctr"/>
          <a:lstStyle/>
          <a:p>
            <a:pPr marL="0" indent="0" algn="r">
              <a:buNone/>
            </a:pPr>
            <a:r>
              <a:rPr lang="en-US" sz="1100" dirty="0">
                <a:solidFill>
                  <a:srgbClr val="5B6B5E"/>
                </a:solidFill>
                <a:latin typeface="Calibri" pitchFamily="34" charset="0"/>
                <a:ea typeface="Calibri" pitchFamily="34" charset="-122"/>
                <a:cs typeface="Calibri" pitchFamily="34" charset="-120"/>
              </a:rPr>
              <a:t>7</a:t>
            </a:r>
            <a:endParaRPr lang="en-US" sz="1100" dirty="0"/>
          </a:p>
        </p:txBody>
      </p:sp>
      <p:sp>
        <p:nvSpPr>
          <p:cNvPr id="29" name="Text 26"/>
          <p:cNvSpPr/>
          <p:nvPr/>
        </p:nvSpPr>
        <p:spPr>
          <a:xfrm>
            <a:off x="457200" y="6355080"/>
            <a:ext cx="4572000" cy="320040"/>
          </a:xfrm>
          <a:prstGeom prst="rect">
            <a:avLst/>
          </a:prstGeom>
          <a:noFill/>
          <a:ln/>
        </p:spPr>
        <p:txBody>
          <a:bodyPr wrap="square" lIns="0" tIns="0" rIns="0" bIns="0" rtlCol="0" anchor="ctr"/>
          <a:lstStyle/>
          <a:p>
            <a:pPr marL="0" indent="0" algn="l">
              <a:buNone/>
            </a:pPr>
            <a:r>
              <a:rPr lang="en-US" sz="900" dirty="0">
                <a:solidFill>
                  <a:srgbClr val="5B6B5E"/>
                </a:solidFill>
                <a:latin typeface="Calibri" pitchFamily="34" charset="0"/>
                <a:ea typeface="Calibri" pitchFamily="34" charset="-122"/>
                <a:cs typeface="Calibri" pitchFamily="34" charset="-120"/>
              </a:rPr>
              <a:t>Greenhouse Crop Production</a:t>
            </a:r>
            <a:endParaRPr lang="en-US" sz="900" dirty="0"/>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curtains"/>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name="Slide 11">
    <p:bg>
      <p:bgPr>
        <a:solidFill>
          <a:srgbClr val="163A20"/>
        </a:solidFill>
        <a:effectLst/>
      </p:bgPr>
    </p:bg>
    <p:spTree>
      <p:nvGrpSpPr>
        <p:cNvPr id="1" name=""/>
        <p:cNvGrpSpPr/>
        <p:nvPr/>
      </p:nvGrpSpPr>
      <p:grpSpPr>
        <a:xfrm>
          <a:off x="0" y="0"/>
          <a:ext cx="0" cy="0"/>
          <a:chOff x="0" y="0"/>
          <a:chExt cx="0" cy="0"/>
        </a:xfrm>
      </p:grpSpPr>
      <p:sp>
        <p:nvSpPr>
          <p:cNvPr id="3" name="Text 1"/>
          <p:cNvSpPr/>
          <p:nvPr/>
        </p:nvSpPr>
        <p:spPr>
          <a:xfrm>
            <a:off x="548640" y="457200"/>
            <a:ext cx="8229600" cy="320040"/>
          </a:xfrm>
          <a:prstGeom prst="rect">
            <a:avLst/>
          </a:prstGeom>
          <a:noFill/>
          <a:ln/>
        </p:spPr>
        <p:txBody>
          <a:bodyPr wrap="square" lIns="0" tIns="0" rIns="0" bIns="0" rtlCol="0" anchor="ctr"/>
          <a:lstStyle/>
          <a:p>
            <a:pPr marL="0" indent="0">
              <a:buNone/>
            </a:pPr>
            <a:endParaRPr lang="en-US" sz="1300" dirty="0"/>
          </a:p>
        </p:txBody>
      </p:sp>
      <p:sp>
        <p:nvSpPr>
          <p:cNvPr id="4" name="Text 2"/>
          <p:cNvSpPr/>
          <p:nvPr/>
        </p:nvSpPr>
        <p:spPr>
          <a:xfrm>
            <a:off x="548640" y="731520"/>
            <a:ext cx="10515600" cy="685800"/>
          </a:xfrm>
          <a:prstGeom prst="rect">
            <a:avLst/>
          </a:prstGeom>
          <a:noFill/>
          <a:ln/>
        </p:spPr>
        <p:txBody>
          <a:bodyPr wrap="square" lIns="0" tIns="0" rIns="0" bIns="0" rtlCol="0" anchor="ctr"/>
          <a:lstStyle/>
          <a:p>
            <a:r>
              <a:rPr lang="en-US" sz="3200" b="1" dirty="0">
                <a:solidFill>
                  <a:schemeClr val="accent3">
                    <a:lumMod val="60000"/>
                    <a:lumOff val="40000"/>
                  </a:schemeClr>
                </a:solidFill>
                <a:latin typeface="Cambria" pitchFamily="34" charset="0"/>
                <a:ea typeface="Cambria" pitchFamily="34" charset="-122"/>
                <a:cs typeface="Cambria" pitchFamily="34" charset="-120"/>
              </a:rPr>
              <a:t>What This Study Sets Out to Do?</a:t>
            </a:r>
            <a:endParaRPr lang="en-US" sz="3200" dirty="0">
              <a:solidFill>
                <a:schemeClr val="accent3">
                  <a:lumMod val="60000"/>
                  <a:lumOff val="40000"/>
                </a:schemeClr>
              </a:solidFill>
            </a:endParaRPr>
          </a:p>
        </p:txBody>
      </p:sp>
      <p:sp>
        <p:nvSpPr>
          <p:cNvPr id="5" name="Text 3"/>
          <p:cNvSpPr/>
          <p:nvPr/>
        </p:nvSpPr>
        <p:spPr>
          <a:xfrm>
            <a:off x="641798" y="1059142"/>
            <a:ext cx="6583680" cy="3291840"/>
          </a:xfrm>
          <a:prstGeom prst="rect">
            <a:avLst/>
          </a:prstGeom>
          <a:noFill/>
          <a:ln/>
        </p:spPr>
        <p:txBody>
          <a:bodyPr wrap="square" lIns="0" tIns="0" rIns="0" bIns="0" rtlCol="0" anchor="ctr"/>
          <a:lstStyle/>
          <a:p>
            <a:pPr marL="0" indent="0">
              <a:lnSpc>
                <a:spcPct val="135000"/>
              </a:lnSpc>
              <a:buNone/>
            </a:pPr>
            <a:endParaRPr lang="en-US" sz="1500" dirty="0"/>
          </a:p>
        </p:txBody>
      </p:sp>
      <p:sp>
        <p:nvSpPr>
          <p:cNvPr id="16" name="Text 11"/>
          <p:cNvSpPr/>
          <p:nvPr/>
        </p:nvSpPr>
        <p:spPr>
          <a:xfrm>
            <a:off x="7863840" y="2011680"/>
            <a:ext cx="3474720" cy="822960"/>
          </a:xfrm>
          <a:prstGeom prst="rect">
            <a:avLst/>
          </a:prstGeom>
          <a:noFill/>
          <a:ln/>
        </p:spPr>
        <p:txBody>
          <a:bodyPr wrap="square" lIns="0" tIns="0" rIns="0" bIns="0" rtlCol="0" anchor="ctr"/>
          <a:lstStyle/>
          <a:p>
            <a:pPr marL="0" indent="0">
              <a:buNone/>
            </a:pPr>
            <a:endParaRPr lang="en-US" sz="4000" dirty="0"/>
          </a:p>
        </p:txBody>
      </p:sp>
      <p:sp>
        <p:nvSpPr>
          <p:cNvPr id="17" name="Text 12"/>
          <p:cNvSpPr/>
          <p:nvPr/>
        </p:nvSpPr>
        <p:spPr>
          <a:xfrm>
            <a:off x="7863840" y="2788920"/>
            <a:ext cx="3474720" cy="548640"/>
          </a:xfrm>
          <a:prstGeom prst="rect">
            <a:avLst/>
          </a:prstGeom>
          <a:noFill/>
          <a:ln/>
        </p:spPr>
        <p:txBody>
          <a:bodyPr wrap="square" lIns="0" tIns="0" rIns="0" bIns="0" rtlCol="0" anchor="ctr"/>
          <a:lstStyle/>
          <a:p>
            <a:pPr marL="0" indent="0">
              <a:buNone/>
            </a:pPr>
            <a:endParaRPr lang="en-US" sz="1150" dirty="0"/>
          </a:p>
        </p:txBody>
      </p:sp>
      <p:sp>
        <p:nvSpPr>
          <p:cNvPr id="19" name="Text 14"/>
          <p:cNvSpPr/>
          <p:nvPr/>
        </p:nvSpPr>
        <p:spPr>
          <a:xfrm>
            <a:off x="7863840" y="3657600"/>
            <a:ext cx="3474720" cy="640080"/>
          </a:xfrm>
          <a:prstGeom prst="rect">
            <a:avLst/>
          </a:prstGeom>
          <a:noFill/>
          <a:ln/>
        </p:spPr>
        <p:txBody>
          <a:bodyPr wrap="square" lIns="0" tIns="0" rIns="0" bIns="0" rtlCol="0" anchor="ctr"/>
          <a:lstStyle/>
          <a:p>
            <a:pPr marL="0" indent="0">
              <a:buNone/>
            </a:pPr>
            <a:endParaRPr lang="en-US" sz="3200" dirty="0"/>
          </a:p>
        </p:txBody>
      </p:sp>
      <p:sp>
        <p:nvSpPr>
          <p:cNvPr id="20" name="Text 15"/>
          <p:cNvSpPr/>
          <p:nvPr/>
        </p:nvSpPr>
        <p:spPr>
          <a:xfrm>
            <a:off x="7863840" y="4251960"/>
            <a:ext cx="3474720" cy="1188720"/>
          </a:xfrm>
          <a:prstGeom prst="rect">
            <a:avLst/>
          </a:prstGeom>
          <a:noFill/>
          <a:ln/>
        </p:spPr>
        <p:txBody>
          <a:bodyPr wrap="square" lIns="0" tIns="0" rIns="0" bIns="0" rtlCol="0" anchor="ctr"/>
          <a:lstStyle/>
          <a:p>
            <a:pPr marL="0" indent="0">
              <a:lnSpc>
                <a:spcPct val="120000"/>
              </a:lnSpc>
              <a:buNone/>
            </a:pPr>
            <a:endParaRPr lang="en-US" sz="1150" dirty="0"/>
          </a:p>
        </p:txBody>
      </p:sp>
      <p:sp>
        <p:nvSpPr>
          <p:cNvPr id="21" name="Text 16"/>
          <p:cNvSpPr/>
          <p:nvPr/>
        </p:nvSpPr>
        <p:spPr>
          <a:xfrm>
            <a:off x="11365992" y="6355080"/>
            <a:ext cx="548640" cy="320040"/>
          </a:xfrm>
          <a:prstGeom prst="rect">
            <a:avLst/>
          </a:prstGeom>
          <a:noFill/>
          <a:ln/>
        </p:spPr>
        <p:txBody>
          <a:bodyPr wrap="square" lIns="0" tIns="0" rIns="0" bIns="0" rtlCol="0" anchor="ctr"/>
          <a:lstStyle/>
          <a:p>
            <a:pPr marL="0" indent="0" algn="r">
              <a:buNone/>
            </a:pPr>
            <a:r>
              <a:rPr lang="en-US" sz="1100" dirty="0">
                <a:solidFill>
                  <a:srgbClr val="FFFFFF"/>
                </a:solidFill>
                <a:latin typeface="Calibri" pitchFamily="34" charset="0"/>
                <a:ea typeface="Calibri" pitchFamily="34" charset="-122"/>
                <a:cs typeface="Calibri" pitchFamily="34" charset="-120"/>
              </a:rPr>
              <a:t>8</a:t>
            </a:r>
            <a:endParaRPr lang="en-US" sz="1100" dirty="0"/>
          </a:p>
        </p:txBody>
      </p:sp>
      <p:sp>
        <p:nvSpPr>
          <p:cNvPr id="22" name="Text 17"/>
          <p:cNvSpPr/>
          <p:nvPr/>
        </p:nvSpPr>
        <p:spPr>
          <a:xfrm>
            <a:off x="457200" y="6355080"/>
            <a:ext cx="4572000" cy="320040"/>
          </a:xfrm>
          <a:prstGeom prst="rect">
            <a:avLst/>
          </a:prstGeom>
          <a:noFill/>
          <a:ln/>
        </p:spPr>
        <p:txBody>
          <a:bodyPr wrap="square" lIns="0" tIns="0" rIns="0" bIns="0" rtlCol="0" anchor="ctr"/>
          <a:lstStyle/>
          <a:p>
            <a:pPr marL="0" indent="0" algn="l">
              <a:buNone/>
            </a:pPr>
            <a:r>
              <a:rPr lang="en-US" sz="900" dirty="0">
                <a:solidFill>
                  <a:srgbClr val="BFD8BF"/>
                </a:solidFill>
                <a:latin typeface="Calibri" pitchFamily="34" charset="0"/>
                <a:ea typeface="Calibri" pitchFamily="34" charset="-122"/>
                <a:cs typeface="Calibri" pitchFamily="34" charset="-120"/>
              </a:rPr>
              <a:t>Greenhouse Crop Production</a:t>
            </a:r>
            <a:endParaRPr lang="en-US" sz="900" dirty="0"/>
          </a:p>
        </p:txBody>
      </p:sp>
      <p:sp>
        <p:nvSpPr>
          <p:cNvPr id="26" name="Shape 2">
            <a:extLst>
              <a:ext uri="{FF2B5EF4-FFF2-40B4-BE49-F238E27FC236}">
                <a16:creationId xmlns:a16="http://schemas.microsoft.com/office/drawing/2014/main" id="{D64F3E22-831D-900F-EE3A-787825FC66D2}"/>
              </a:ext>
            </a:extLst>
          </p:cNvPr>
          <p:cNvSpPr/>
          <p:nvPr/>
        </p:nvSpPr>
        <p:spPr>
          <a:xfrm>
            <a:off x="548640" y="1996440"/>
            <a:ext cx="5059680" cy="2133600"/>
          </a:xfrm>
          <a:prstGeom prst="roundRect">
            <a:avLst>
              <a:gd name="adj" fmla="val 5714"/>
            </a:avLst>
          </a:prstGeom>
          <a:solidFill>
            <a:srgbClr val="F2F6F2"/>
          </a:solidFill>
          <a:ln/>
        </p:spPr>
        <p:txBody>
          <a:bodyPr/>
          <a:lstStyle/>
          <a:p>
            <a:endParaRPr lang="en-IN"/>
          </a:p>
        </p:txBody>
      </p:sp>
      <p:sp>
        <p:nvSpPr>
          <p:cNvPr id="28" name="Shape 2">
            <a:extLst>
              <a:ext uri="{FF2B5EF4-FFF2-40B4-BE49-F238E27FC236}">
                <a16:creationId xmlns:a16="http://schemas.microsoft.com/office/drawing/2014/main" id="{793D63AD-178F-528F-F9BE-382CEA00FE71}"/>
              </a:ext>
            </a:extLst>
          </p:cNvPr>
          <p:cNvSpPr/>
          <p:nvPr/>
        </p:nvSpPr>
        <p:spPr>
          <a:xfrm>
            <a:off x="6580632" y="1996440"/>
            <a:ext cx="5059680" cy="2133600"/>
          </a:xfrm>
          <a:prstGeom prst="roundRect">
            <a:avLst>
              <a:gd name="adj" fmla="val 5714"/>
            </a:avLst>
          </a:prstGeom>
          <a:solidFill>
            <a:srgbClr val="F2F6F2"/>
          </a:solidFill>
          <a:ln/>
        </p:spPr>
        <p:txBody>
          <a:bodyPr/>
          <a:lstStyle/>
          <a:p>
            <a:endParaRPr lang="en-IN"/>
          </a:p>
        </p:txBody>
      </p:sp>
      <p:sp>
        <p:nvSpPr>
          <p:cNvPr id="30" name="Shape 2">
            <a:extLst>
              <a:ext uri="{FF2B5EF4-FFF2-40B4-BE49-F238E27FC236}">
                <a16:creationId xmlns:a16="http://schemas.microsoft.com/office/drawing/2014/main" id="{D74E159F-50B6-392B-CDBB-203E2F86F23C}"/>
              </a:ext>
            </a:extLst>
          </p:cNvPr>
          <p:cNvSpPr/>
          <p:nvPr/>
        </p:nvSpPr>
        <p:spPr>
          <a:xfrm>
            <a:off x="548640" y="4297680"/>
            <a:ext cx="5059680" cy="2133600"/>
          </a:xfrm>
          <a:prstGeom prst="roundRect">
            <a:avLst>
              <a:gd name="adj" fmla="val 5714"/>
            </a:avLst>
          </a:prstGeom>
          <a:solidFill>
            <a:srgbClr val="F2F6F2"/>
          </a:solidFill>
          <a:ln/>
        </p:spPr>
        <p:txBody>
          <a:bodyPr/>
          <a:lstStyle/>
          <a:p>
            <a:endParaRPr lang="en-IN"/>
          </a:p>
        </p:txBody>
      </p:sp>
      <p:sp>
        <p:nvSpPr>
          <p:cNvPr id="32" name="Shape 2">
            <a:extLst>
              <a:ext uri="{FF2B5EF4-FFF2-40B4-BE49-F238E27FC236}">
                <a16:creationId xmlns:a16="http://schemas.microsoft.com/office/drawing/2014/main" id="{0F71C947-814C-BDDC-8CAB-D6C354A232DB}"/>
              </a:ext>
            </a:extLst>
          </p:cNvPr>
          <p:cNvSpPr/>
          <p:nvPr/>
        </p:nvSpPr>
        <p:spPr>
          <a:xfrm>
            <a:off x="6580632" y="4324331"/>
            <a:ext cx="5059680" cy="2133600"/>
          </a:xfrm>
          <a:prstGeom prst="roundRect">
            <a:avLst>
              <a:gd name="adj" fmla="val 5714"/>
            </a:avLst>
          </a:prstGeom>
          <a:solidFill>
            <a:srgbClr val="F2F6F2"/>
          </a:solidFill>
          <a:ln/>
        </p:spPr>
        <p:txBody>
          <a:bodyPr/>
          <a:lstStyle/>
          <a:p>
            <a:endParaRPr lang="en-IN"/>
          </a:p>
        </p:txBody>
      </p:sp>
      <p:pic>
        <p:nvPicPr>
          <p:cNvPr id="36" name="Image 0" descr="preencoded.png">
            <a:extLst>
              <a:ext uri="{FF2B5EF4-FFF2-40B4-BE49-F238E27FC236}">
                <a16:creationId xmlns:a16="http://schemas.microsoft.com/office/drawing/2014/main" id="{B01C6AE3-3A26-E6A2-F854-DDD4723B0192}"/>
              </a:ext>
            </a:extLst>
          </p:cNvPr>
          <p:cNvPicPr>
            <a:picLocks noChangeAspect="1"/>
          </p:cNvPicPr>
          <p:nvPr/>
        </p:nvPicPr>
        <p:blipFill>
          <a:blip r:embed="rId3"/>
          <a:stretch>
            <a:fillRect/>
          </a:stretch>
        </p:blipFill>
        <p:spPr>
          <a:xfrm>
            <a:off x="684920" y="2256571"/>
            <a:ext cx="380391" cy="380391"/>
          </a:xfrm>
          <a:prstGeom prst="rect">
            <a:avLst/>
          </a:prstGeom>
        </p:spPr>
      </p:pic>
      <p:sp>
        <p:nvSpPr>
          <p:cNvPr id="38" name="TextBox 37">
            <a:extLst>
              <a:ext uri="{FF2B5EF4-FFF2-40B4-BE49-F238E27FC236}">
                <a16:creationId xmlns:a16="http://schemas.microsoft.com/office/drawing/2014/main" id="{96C89992-5B6D-5076-A5A8-FABE8589637E}"/>
              </a:ext>
            </a:extLst>
          </p:cNvPr>
          <p:cNvSpPr txBox="1"/>
          <p:nvPr/>
        </p:nvSpPr>
        <p:spPr>
          <a:xfrm>
            <a:off x="641798" y="2835691"/>
            <a:ext cx="6096000" cy="923330"/>
          </a:xfrm>
          <a:prstGeom prst="rect">
            <a:avLst/>
          </a:prstGeom>
          <a:noFill/>
        </p:spPr>
        <p:txBody>
          <a:bodyPr wrap="square">
            <a:spAutoFit/>
          </a:bodyPr>
          <a:lstStyle/>
          <a:p>
            <a:r>
              <a:rPr lang="en-US" b="1" dirty="0">
                <a:solidFill>
                  <a:srgbClr val="1B2B22"/>
                </a:solidFill>
                <a:latin typeface="Calibri" pitchFamily="34" charset="0"/>
                <a:ea typeface="Calibri" pitchFamily="34" charset="-122"/>
                <a:cs typeface="Calibri" pitchFamily="34" charset="-120"/>
              </a:rPr>
              <a:t>Profile the Data</a:t>
            </a:r>
            <a:r>
              <a:rPr lang="en-US" b="1" dirty="0"/>
              <a:t>-&gt;</a:t>
            </a:r>
            <a:endParaRPr lang="en-US" dirty="0">
              <a:solidFill>
                <a:srgbClr val="5F6F64"/>
              </a:solidFill>
              <a:latin typeface="Calibri" pitchFamily="34" charset="0"/>
              <a:ea typeface="Calibri" pitchFamily="34" charset="-122"/>
              <a:cs typeface="Calibri" pitchFamily="34" charset="-120"/>
            </a:endParaRPr>
          </a:p>
          <a:p>
            <a:r>
              <a:rPr lang="en-US" dirty="0">
                <a:solidFill>
                  <a:srgbClr val="5F6F64"/>
                </a:solidFill>
                <a:latin typeface="Calibri" pitchFamily="34" charset="0"/>
                <a:ea typeface="Calibri" pitchFamily="34" charset="-122"/>
                <a:cs typeface="Calibri" pitchFamily="34" charset="-120"/>
              </a:rPr>
              <a:t>Summarize distributions and detect outliers across temperature, humidity, CO₂, light and yield readings</a:t>
            </a:r>
            <a:endParaRPr lang="en-US" sz="1800" dirty="0"/>
          </a:p>
        </p:txBody>
      </p:sp>
      <p:pic>
        <p:nvPicPr>
          <p:cNvPr id="40" name="Image 1" descr="preencoded.png">
            <a:extLst>
              <a:ext uri="{FF2B5EF4-FFF2-40B4-BE49-F238E27FC236}">
                <a16:creationId xmlns:a16="http://schemas.microsoft.com/office/drawing/2014/main" id="{475F9C4B-0C95-6168-1672-15CDA115FC19}"/>
              </a:ext>
            </a:extLst>
          </p:cNvPr>
          <p:cNvPicPr>
            <a:picLocks noChangeAspect="1"/>
          </p:cNvPicPr>
          <p:nvPr/>
        </p:nvPicPr>
        <p:blipFill>
          <a:blip r:embed="rId4"/>
          <a:stretch>
            <a:fillRect/>
          </a:stretch>
        </p:blipFill>
        <p:spPr>
          <a:xfrm>
            <a:off x="6845087" y="2245438"/>
            <a:ext cx="380391" cy="380391"/>
          </a:xfrm>
          <a:prstGeom prst="rect">
            <a:avLst/>
          </a:prstGeom>
        </p:spPr>
      </p:pic>
      <p:sp>
        <p:nvSpPr>
          <p:cNvPr id="42" name="TextBox 41">
            <a:extLst>
              <a:ext uri="{FF2B5EF4-FFF2-40B4-BE49-F238E27FC236}">
                <a16:creationId xmlns:a16="http://schemas.microsoft.com/office/drawing/2014/main" id="{F0EFB92B-2C77-F3D9-77FD-130120AD514A}"/>
              </a:ext>
            </a:extLst>
          </p:cNvPr>
          <p:cNvSpPr txBox="1"/>
          <p:nvPr/>
        </p:nvSpPr>
        <p:spPr>
          <a:xfrm>
            <a:off x="6830956" y="2956975"/>
            <a:ext cx="4275061" cy="923330"/>
          </a:xfrm>
          <a:prstGeom prst="rect">
            <a:avLst/>
          </a:prstGeom>
          <a:noFill/>
        </p:spPr>
        <p:txBody>
          <a:bodyPr wrap="square">
            <a:spAutoFit/>
          </a:bodyPr>
          <a:lstStyle/>
          <a:p>
            <a:r>
              <a:rPr lang="en-US" b="1" dirty="0">
                <a:solidFill>
                  <a:srgbClr val="1B2B22"/>
                </a:solidFill>
                <a:latin typeface="Calibri" pitchFamily="34" charset="0"/>
                <a:ea typeface="Calibri" pitchFamily="34" charset="-122"/>
                <a:cs typeface="Calibri" pitchFamily="34" charset="-120"/>
              </a:rPr>
              <a:t>Map Relationships</a:t>
            </a:r>
            <a:r>
              <a:rPr lang="en-US" b="1" dirty="0"/>
              <a:t> -&gt;</a:t>
            </a:r>
            <a:endParaRPr lang="en-US" sz="1800" dirty="0">
              <a:solidFill>
                <a:srgbClr val="5F6F64"/>
              </a:solidFill>
              <a:latin typeface="Calibri" pitchFamily="34" charset="0"/>
              <a:ea typeface="Calibri" pitchFamily="34" charset="-122"/>
              <a:cs typeface="Calibri" pitchFamily="34" charset="-120"/>
            </a:endParaRPr>
          </a:p>
          <a:p>
            <a:r>
              <a:rPr lang="en-US" sz="1800" dirty="0">
                <a:solidFill>
                  <a:srgbClr val="5F6F64"/>
                </a:solidFill>
                <a:latin typeface="Calibri" pitchFamily="34" charset="0"/>
                <a:ea typeface="Calibri" pitchFamily="34" charset="-122"/>
                <a:cs typeface="Calibri" pitchFamily="34" charset="-120"/>
              </a:rPr>
              <a:t>Examine correlations between climate variables and crop yield .</a:t>
            </a:r>
            <a:endParaRPr lang="en-US" sz="1800" dirty="0"/>
          </a:p>
        </p:txBody>
      </p:sp>
      <p:pic>
        <p:nvPicPr>
          <p:cNvPr id="44" name="Image 2" descr="preencoded.png">
            <a:extLst>
              <a:ext uri="{FF2B5EF4-FFF2-40B4-BE49-F238E27FC236}">
                <a16:creationId xmlns:a16="http://schemas.microsoft.com/office/drawing/2014/main" id="{817F4E69-3225-03AA-B0DC-9D9C610FB8AE}"/>
              </a:ext>
            </a:extLst>
          </p:cNvPr>
          <p:cNvPicPr>
            <a:picLocks noChangeAspect="1"/>
          </p:cNvPicPr>
          <p:nvPr/>
        </p:nvPicPr>
        <p:blipFill>
          <a:blip r:embed="rId5"/>
          <a:stretch>
            <a:fillRect/>
          </a:stretch>
        </p:blipFill>
        <p:spPr>
          <a:xfrm>
            <a:off x="684920" y="4518622"/>
            <a:ext cx="380391" cy="380391"/>
          </a:xfrm>
          <a:prstGeom prst="rect">
            <a:avLst/>
          </a:prstGeom>
        </p:spPr>
      </p:pic>
      <p:sp>
        <p:nvSpPr>
          <p:cNvPr id="46" name="TextBox 45">
            <a:extLst>
              <a:ext uri="{FF2B5EF4-FFF2-40B4-BE49-F238E27FC236}">
                <a16:creationId xmlns:a16="http://schemas.microsoft.com/office/drawing/2014/main" id="{E99352CA-0BDB-1D20-BAB7-04F45AAE3C41}"/>
              </a:ext>
            </a:extLst>
          </p:cNvPr>
          <p:cNvSpPr txBox="1"/>
          <p:nvPr/>
        </p:nvSpPr>
        <p:spPr>
          <a:xfrm>
            <a:off x="641798" y="5015615"/>
            <a:ext cx="4966522" cy="943785"/>
          </a:xfrm>
          <a:prstGeom prst="rect">
            <a:avLst/>
          </a:prstGeom>
          <a:noFill/>
        </p:spPr>
        <p:txBody>
          <a:bodyPr wrap="square">
            <a:spAutoFit/>
          </a:bodyPr>
          <a:lstStyle/>
          <a:p>
            <a:r>
              <a:rPr lang="en-US" b="1" dirty="0">
                <a:solidFill>
                  <a:srgbClr val="1B2B22"/>
                </a:solidFill>
                <a:latin typeface="Calibri" pitchFamily="34" charset="0"/>
                <a:ea typeface="Calibri" pitchFamily="34" charset="-122"/>
                <a:cs typeface="Calibri" pitchFamily="34" charset="-120"/>
              </a:rPr>
              <a:t>Identify Optimal Ranges-&gt;</a:t>
            </a:r>
            <a:endParaRPr lang="en-US" sz="1800" dirty="0">
              <a:solidFill>
                <a:srgbClr val="5F6F64"/>
              </a:solidFill>
              <a:latin typeface="Calibri" pitchFamily="34" charset="0"/>
              <a:ea typeface="Calibri" pitchFamily="34" charset="-122"/>
              <a:cs typeface="Calibri" pitchFamily="34" charset="-120"/>
            </a:endParaRPr>
          </a:p>
          <a:p>
            <a:r>
              <a:rPr lang="en-US" sz="1800" dirty="0">
                <a:solidFill>
                  <a:srgbClr val="5F6F64"/>
                </a:solidFill>
                <a:latin typeface="Calibri" pitchFamily="34" charset="0"/>
                <a:ea typeface="Calibri" pitchFamily="34" charset="-122"/>
                <a:cs typeface="Calibri" pitchFamily="34" charset="-120"/>
              </a:rPr>
              <a:t>Pinpoint the climate conditions associated with the highest recorded yields.</a:t>
            </a:r>
            <a:endParaRPr lang="en-US" sz="1800" dirty="0"/>
          </a:p>
        </p:txBody>
      </p:sp>
      <p:pic>
        <p:nvPicPr>
          <p:cNvPr id="50" name="Image 3" descr="preencoded.png">
            <a:extLst>
              <a:ext uri="{FF2B5EF4-FFF2-40B4-BE49-F238E27FC236}">
                <a16:creationId xmlns:a16="http://schemas.microsoft.com/office/drawing/2014/main" id="{604AB05A-336C-74B7-4E77-1C11557DFCD7}"/>
              </a:ext>
            </a:extLst>
          </p:cNvPr>
          <p:cNvPicPr>
            <a:picLocks noChangeAspect="1"/>
          </p:cNvPicPr>
          <p:nvPr/>
        </p:nvPicPr>
        <p:blipFill>
          <a:blip r:embed="rId6"/>
          <a:stretch>
            <a:fillRect/>
          </a:stretch>
        </p:blipFill>
        <p:spPr>
          <a:xfrm>
            <a:off x="6779361" y="4442688"/>
            <a:ext cx="380391" cy="380391"/>
          </a:xfrm>
          <a:prstGeom prst="rect">
            <a:avLst/>
          </a:prstGeom>
        </p:spPr>
      </p:pic>
      <p:sp>
        <p:nvSpPr>
          <p:cNvPr id="52" name="TextBox 51">
            <a:extLst>
              <a:ext uri="{FF2B5EF4-FFF2-40B4-BE49-F238E27FC236}">
                <a16:creationId xmlns:a16="http://schemas.microsoft.com/office/drawing/2014/main" id="{CFD50F60-EF90-5ADB-2B7A-77977C66BA2F}"/>
              </a:ext>
            </a:extLst>
          </p:cNvPr>
          <p:cNvSpPr txBox="1"/>
          <p:nvPr/>
        </p:nvSpPr>
        <p:spPr>
          <a:xfrm>
            <a:off x="6580632" y="4933900"/>
            <a:ext cx="6096000" cy="923330"/>
          </a:xfrm>
          <a:prstGeom prst="rect">
            <a:avLst/>
          </a:prstGeom>
          <a:noFill/>
        </p:spPr>
        <p:txBody>
          <a:bodyPr wrap="square">
            <a:spAutoFit/>
          </a:bodyPr>
          <a:lstStyle/>
          <a:p>
            <a:r>
              <a:rPr lang="en-US" b="1" dirty="0">
                <a:solidFill>
                  <a:srgbClr val="1B2B22"/>
                </a:solidFill>
                <a:latin typeface="Calibri" pitchFamily="34" charset="0"/>
                <a:ea typeface="Calibri" pitchFamily="34" charset="-122"/>
                <a:cs typeface="Calibri" pitchFamily="34" charset="-120"/>
              </a:rPr>
              <a:t>Generate Actionable Insight</a:t>
            </a:r>
            <a:r>
              <a:rPr lang="en-US" b="1" dirty="0"/>
              <a:t> -&gt;</a:t>
            </a:r>
            <a:endParaRPr lang="en-US" sz="1800" dirty="0">
              <a:solidFill>
                <a:srgbClr val="5F6F64"/>
              </a:solidFill>
              <a:latin typeface="Calibri" pitchFamily="34" charset="0"/>
              <a:ea typeface="Calibri" pitchFamily="34" charset="-122"/>
              <a:cs typeface="Calibri" pitchFamily="34" charset="-120"/>
            </a:endParaRPr>
          </a:p>
          <a:p>
            <a:r>
              <a:rPr lang="en-US" sz="1800" dirty="0">
                <a:solidFill>
                  <a:srgbClr val="5F6F64"/>
                </a:solidFill>
                <a:latin typeface="Calibri" pitchFamily="34" charset="0"/>
                <a:ea typeface="Calibri" pitchFamily="34" charset="-122"/>
                <a:cs typeface="Calibri" pitchFamily="34" charset="-120"/>
              </a:rPr>
              <a:t>Translate patterns into recommendations that inform greenhouse climate control strategy.</a:t>
            </a:r>
            <a:endParaRPr lang="en-US" sz="1800" dirty="0"/>
          </a:p>
        </p:txBody>
      </p:sp>
      <p:sp>
        <p:nvSpPr>
          <p:cNvPr id="54" name="TextBox 53">
            <a:extLst>
              <a:ext uri="{FF2B5EF4-FFF2-40B4-BE49-F238E27FC236}">
                <a16:creationId xmlns:a16="http://schemas.microsoft.com/office/drawing/2014/main" id="{D88A174B-4000-DBEF-A1A5-B558A883A558}"/>
              </a:ext>
            </a:extLst>
          </p:cNvPr>
          <p:cNvSpPr txBox="1"/>
          <p:nvPr/>
        </p:nvSpPr>
        <p:spPr>
          <a:xfrm>
            <a:off x="548640" y="329922"/>
            <a:ext cx="6416842" cy="369332"/>
          </a:xfrm>
          <a:prstGeom prst="rect">
            <a:avLst/>
          </a:prstGeom>
          <a:noFill/>
        </p:spPr>
        <p:txBody>
          <a:bodyPr wrap="square">
            <a:spAutoFit/>
          </a:bodyPr>
          <a:lstStyle/>
          <a:p>
            <a:r>
              <a:rPr lang="en-US" sz="1800" b="1" kern="0" spc="400" dirty="0">
                <a:solidFill>
                  <a:srgbClr val="E3A857"/>
                </a:solidFill>
                <a:latin typeface="Calibri" pitchFamily="34" charset="0"/>
                <a:ea typeface="Calibri" pitchFamily="34" charset="-122"/>
                <a:cs typeface="Calibri" pitchFamily="34" charset="-120"/>
              </a:rPr>
              <a:t>OBJECTIVES</a:t>
            </a:r>
            <a:endParaRPr lang="en-US" sz="1800" dirty="0"/>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curtains"/>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name="Slide 8">
    <p:bg>
      <p:bgPr>
        <a:solidFill>
          <a:srgbClr val="F7F9F5"/>
        </a:solidFill>
        <a:effectLst/>
      </p:bgPr>
    </p:bg>
    <p:spTree>
      <p:nvGrpSpPr>
        <p:cNvPr id="1" name=""/>
        <p:cNvGrpSpPr/>
        <p:nvPr/>
      </p:nvGrpSpPr>
      <p:grpSpPr>
        <a:xfrm>
          <a:off x="0" y="0"/>
          <a:ext cx="0" cy="0"/>
          <a:chOff x="0" y="0"/>
          <a:chExt cx="0" cy="0"/>
        </a:xfrm>
      </p:grpSpPr>
      <p:sp>
        <p:nvSpPr>
          <p:cNvPr id="2" name="Text 0"/>
          <p:cNvSpPr/>
          <p:nvPr/>
        </p:nvSpPr>
        <p:spPr>
          <a:xfrm>
            <a:off x="548640" y="384048"/>
            <a:ext cx="8229600" cy="320040"/>
          </a:xfrm>
          <a:prstGeom prst="rect">
            <a:avLst/>
          </a:prstGeom>
          <a:noFill/>
          <a:ln/>
        </p:spPr>
        <p:txBody>
          <a:bodyPr wrap="square" lIns="0" tIns="0" rIns="0" bIns="0" rtlCol="0" anchor="ctr"/>
          <a:lstStyle/>
          <a:p>
            <a:pPr marL="0" indent="0">
              <a:buNone/>
            </a:pPr>
            <a:r>
              <a:rPr lang="en-US" sz="1300" b="1" kern="0" spc="200" dirty="0">
                <a:solidFill>
                  <a:srgbClr val="6FA95E"/>
                </a:solidFill>
                <a:latin typeface="Calibri" pitchFamily="34" charset="0"/>
                <a:ea typeface="Calibri" pitchFamily="34" charset="-122"/>
                <a:cs typeface="Calibri" pitchFamily="34" charset="-120"/>
              </a:rPr>
              <a:t>TOOLKIT</a:t>
            </a:r>
            <a:endParaRPr lang="en-US" sz="1300" dirty="0"/>
          </a:p>
        </p:txBody>
      </p:sp>
      <p:sp>
        <p:nvSpPr>
          <p:cNvPr id="3" name="Text 1"/>
          <p:cNvSpPr/>
          <p:nvPr/>
        </p:nvSpPr>
        <p:spPr>
          <a:xfrm>
            <a:off x="548640" y="658368"/>
            <a:ext cx="10515600" cy="685800"/>
          </a:xfrm>
          <a:prstGeom prst="rect">
            <a:avLst/>
          </a:prstGeom>
          <a:noFill/>
          <a:ln/>
        </p:spPr>
        <p:txBody>
          <a:bodyPr wrap="square" lIns="0" tIns="0" rIns="0" bIns="0" rtlCol="0" anchor="ctr"/>
          <a:lstStyle/>
          <a:p>
            <a:pPr marL="0" indent="0">
              <a:buNone/>
            </a:pPr>
            <a:r>
              <a:rPr lang="en-US" sz="3200" b="1" dirty="0">
                <a:solidFill>
                  <a:srgbClr val="163A20"/>
                </a:solidFill>
                <a:latin typeface="Cambria" pitchFamily="34" charset="0"/>
                <a:ea typeface="Cambria" pitchFamily="34" charset="-122"/>
                <a:cs typeface="Cambria" pitchFamily="34" charset="-120"/>
              </a:rPr>
              <a:t>Technology Used</a:t>
            </a:r>
            <a:endParaRPr lang="en-US" sz="3200" dirty="0"/>
          </a:p>
        </p:txBody>
      </p:sp>
      <p:sp>
        <p:nvSpPr>
          <p:cNvPr id="4" name="Shape 2"/>
          <p:cNvSpPr/>
          <p:nvPr/>
        </p:nvSpPr>
        <p:spPr>
          <a:xfrm>
            <a:off x="594360" y="1600200"/>
            <a:ext cx="3444240" cy="1965960"/>
          </a:xfrm>
          <a:prstGeom prst="roundRect">
            <a:avLst>
              <a:gd name="adj" fmla="val 3721"/>
            </a:avLst>
          </a:prstGeom>
          <a:solidFill>
            <a:srgbClr val="FFFFFF"/>
          </a:solidFill>
          <a:ln/>
          <a:effectLst>
            <a:outerShdw blurRad="76200" dist="25400" dir="5400000" algn="bl" rotWithShape="0">
              <a:srgbClr val="000000">
                <a:alpha val="8000"/>
              </a:srgbClr>
            </a:outerShdw>
          </a:effectLst>
        </p:spPr>
        <p:txBody>
          <a:bodyPr/>
          <a:lstStyle/>
          <a:p>
            <a:endParaRPr lang="en-IN"/>
          </a:p>
        </p:txBody>
      </p:sp>
      <p:sp>
        <p:nvSpPr>
          <p:cNvPr id="5" name="Shape 3"/>
          <p:cNvSpPr/>
          <p:nvPr/>
        </p:nvSpPr>
        <p:spPr>
          <a:xfrm>
            <a:off x="822960" y="1828800"/>
            <a:ext cx="502920" cy="502920"/>
          </a:xfrm>
          <a:prstGeom prst="ellipse">
            <a:avLst/>
          </a:prstGeom>
          <a:solidFill>
            <a:srgbClr val="1F4D2C"/>
          </a:solidFill>
          <a:ln/>
        </p:spPr>
        <p:txBody>
          <a:bodyPr/>
          <a:lstStyle/>
          <a:p>
            <a:endParaRPr lang="en-IN"/>
          </a:p>
        </p:txBody>
      </p:sp>
      <p:pic>
        <p:nvPicPr>
          <p:cNvPr id="6" name="Image 0" descr="preencoded.png"/>
          <p:cNvPicPr>
            <a:picLocks noChangeAspect="1"/>
          </p:cNvPicPr>
          <p:nvPr/>
        </p:nvPicPr>
        <p:blipFill>
          <a:blip r:embed="rId3"/>
          <a:stretch>
            <a:fillRect/>
          </a:stretch>
        </p:blipFill>
        <p:spPr>
          <a:xfrm>
            <a:off x="953719" y="1959559"/>
            <a:ext cx="241402" cy="241402"/>
          </a:xfrm>
          <a:prstGeom prst="rect">
            <a:avLst/>
          </a:prstGeom>
        </p:spPr>
      </p:pic>
      <p:sp>
        <p:nvSpPr>
          <p:cNvPr id="7" name="Text 4"/>
          <p:cNvSpPr/>
          <p:nvPr/>
        </p:nvSpPr>
        <p:spPr>
          <a:xfrm>
            <a:off x="1463040" y="1801368"/>
            <a:ext cx="2392680" cy="365760"/>
          </a:xfrm>
          <a:prstGeom prst="rect">
            <a:avLst/>
          </a:prstGeom>
          <a:noFill/>
          <a:ln/>
        </p:spPr>
        <p:txBody>
          <a:bodyPr wrap="square" lIns="0" tIns="0" rIns="0" bIns="0" rtlCol="0" anchor="ctr"/>
          <a:lstStyle/>
          <a:p>
            <a:pPr marL="0" indent="0">
              <a:buNone/>
            </a:pPr>
            <a:r>
              <a:rPr lang="en-US" sz="1500" b="1" dirty="0">
                <a:solidFill>
                  <a:srgbClr val="1C2B1E"/>
                </a:solidFill>
                <a:latin typeface="Cambria" pitchFamily="34" charset="0"/>
                <a:ea typeface="Cambria" pitchFamily="34" charset="-122"/>
                <a:cs typeface="Cambria" pitchFamily="34" charset="-120"/>
              </a:rPr>
              <a:t>Python</a:t>
            </a:r>
            <a:endParaRPr lang="en-US" sz="1500" dirty="0"/>
          </a:p>
        </p:txBody>
      </p:sp>
      <p:sp>
        <p:nvSpPr>
          <p:cNvPr id="8" name="Text 5"/>
          <p:cNvSpPr/>
          <p:nvPr/>
        </p:nvSpPr>
        <p:spPr>
          <a:xfrm>
            <a:off x="822960" y="2377440"/>
            <a:ext cx="2987040" cy="914400"/>
          </a:xfrm>
          <a:prstGeom prst="rect">
            <a:avLst/>
          </a:prstGeom>
          <a:noFill/>
          <a:ln/>
        </p:spPr>
        <p:txBody>
          <a:bodyPr wrap="square" lIns="0" tIns="0" rIns="0" bIns="0" rtlCol="0" anchor="ctr"/>
          <a:lstStyle/>
          <a:p>
            <a:pPr marL="0" indent="0">
              <a:lnSpc>
                <a:spcPct val="120000"/>
              </a:lnSpc>
              <a:buNone/>
            </a:pPr>
            <a:r>
              <a:rPr lang="en-US" sz="1100" dirty="0">
                <a:solidFill>
                  <a:srgbClr val="5B6B5E"/>
                </a:solidFill>
                <a:latin typeface="Calibri" pitchFamily="34" charset="0"/>
                <a:ea typeface="Calibri" pitchFamily="34" charset="-122"/>
                <a:cs typeface="Calibri" pitchFamily="34" charset="-120"/>
              </a:rPr>
              <a:t>Core language for data cleaning, transformation and analysis</a:t>
            </a:r>
            <a:endParaRPr lang="en-US" sz="1100" dirty="0"/>
          </a:p>
        </p:txBody>
      </p:sp>
      <p:sp>
        <p:nvSpPr>
          <p:cNvPr id="9" name="Shape 6"/>
          <p:cNvSpPr/>
          <p:nvPr/>
        </p:nvSpPr>
        <p:spPr>
          <a:xfrm>
            <a:off x="4312920" y="1600200"/>
            <a:ext cx="3444240" cy="1965960"/>
          </a:xfrm>
          <a:prstGeom prst="roundRect">
            <a:avLst>
              <a:gd name="adj" fmla="val 3721"/>
            </a:avLst>
          </a:prstGeom>
          <a:solidFill>
            <a:srgbClr val="FFFFFF"/>
          </a:solidFill>
          <a:ln/>
          <a:effectLst>
            <a:outerShdw blurRad="76200" dist="25400" dir="5400000" algn="bl" rotWithShape="0">
              <a:srgbClr val="000000">
                <a:alpha val="8000"/>
              </a:srgbClr>
            </a:outerShdw>
          </a:effectLst>
        </p:spPr>
        <p:txBody>
          <a:bodyPr/>
          <a:lstStyle/>
          <a:p>
            <a:endParaRPr lang="en-IN"/>
          </a:p>
        </p:txBody>
      </p:sp>
      <p:sp>
        <p:nvSpPr>
          <p:cNvPr id="10" name="Shape 7"/>
          <p:cNvSpPr/>
          <p:nvPr/>
        </p:nvSpPr>
        <p:spPr>
          <a:xfrm>
            <a:off x="4541520" y="1828800"/>
            <a:ext cx="502920" cy="502920"/>
          </a:xfrm>
          <a:prstGeom prst="ellipse">
            <a:avLst/>
          </a:prstGeom>
          <a:solidFill>
            <a:srgbClr val="1F4D2C"/>
          </a:solidFill>
          <a:ln/>
        </p:spPr>
        <p:txBody>
          <a:bodyPr/>
          <a:lstStyle/>
          <a:p>
            <a:endParaRPr lang="en-IN"/>
          </a:p>
        </p:txBody>
      </p:sp>
      <p:pic>
        <p:nvPicPr>
          <p:cNvPr id="11" name="Image 1" descr="preencoded.png"/>
          <p:cNvPicPr>
            <a:picLocks noChangeAspect="1"/>
          </p:cNvPicPr>
          <p:nvPr/>
        </p:nvPicPr>
        <p:blipFill>
          <a:blip r:embed="rId4"/>
          <a:stretch>
            <a:fillRect/>
          </a:stretch>
        </p:blipFill>
        <p:spPr>
          <a:xfrm>
            <a:off x="4672279" y="1959559"/>
            <a:ext cx="241402" cy="241402"/>
          </a:xfrm>
          <a:prstGeom prst="rect">
            <a:avLst/>
          </a:prstGeom>
        </p:spPr>
      </p:pic>
      <p:sp>
        <p:nvSpPr>
          <p:cNvPr id="12" name="Text 8"/>
          <p:cNvSpPr/>
          <p:nvPr/>
        </p:nvSpPr>
        <p:spPr>
          <a:xfrm>
            <a:off x="5181600" y="1801368"/>
            <a:ext cx="2392680" cy="365760"/>
          </a:xfrm>
          <a:prstGeom prst="rect">
            <a:avLst/>
          </a:prstGeom>
          <a:noFill/>
          <a:ln/>
        </p:spPr>
        <p:txBody>
          <a:bodyPr wrap="square" lIns="0" tIns="0" rIns="0" bIns="0" rtlCol="0" anchor="ctr"/>
          <a:lstStyle/>
          <a:p>
            <a:pPr marL="0" indent="0">
              <a:buNone/>
            </a:pPr>
            <a:r>
              <a:rPr lang="en-US" sz="1500" b="1" dirty="0">
                <a:solidFill>
                  <a:srgbClr val="1C2B1E"/>
                </a:solidFill>
                <a:latin typeface="Cambria" pitchFamily="34" charset="0"/>
                <a:ea typeface="Cambria" pitchFamily="34" charset="-122"/>
                <a:cs typeface="Cambria" pitchFamily="34" charset="-120"/>
              </a:rPr>
              <a:t>Pandas &amp; NumPy</a:t>
            </a:r>
            <a:endParaRPr lang="en-US" sz="1500" dirty="0"/>
          </a:p>
        </p:txBody>
      </p:sp>
      <p:sp>
        <p:nvSpPr>
          <p:cNvPr id="13" name="Text 9"/>
          <p:cNvSpPr/>
          <p:nvPr/>
        </p:nvSpPr>
        <p:spPr>
          <a:xfrm>
            <a:off x="4541520" y="2377440"/>
            <a:ext cx="2987040" cy="914400"/>
          </a:xfrm>
          <a:prstGeom prst="rect">
            <a:avLst/>
          </a:prstGeom>
          <a:noFill/>
          <a:ln/>
        </p:spPr>
        <p:txBody>
          <a:bodyPr wrap="square" lIns="0" tIns="0" rIns="0" bIns="0" rtlCol="0" anchor="ctr"/>
          <a:lstStyle/>
          <a:p>
            <a:pPr marL="0" indent="0">
              <a:lnSpc>
                <a:spcPct val="120000"/>
              </a:lnSpc>
              <a:buNone/>
            </a:pPr>
            <a:r>
              <a:rPr lang="en-US" sz="1100" dirty="0">
                <a:solidFill>
                  <a:srgbClr val="5B6B5E"/>
                </a:solidFill>
                <a:latin typeface="Calibri" pitchFamily="34" charset="0"/>
                <a:ea typeface="Calibri" pitchFamily="34" charset="-122"/>
                <a:cs typeface="Calibri" pitchFamily="34" charset="-120"/>
              </a:rPr>
              <a:t>Data wrangling, aggregation and statistical computation</a:t>
            </a:r>
            <a:endParaRPr lang="en-US" sz="1100" dirty="0"/>
          </a:p>
        </p:txBody>
      </p:sp>
      <p:sp>
        <p:nvSpPr>
          <p:cNvPr id="14" name="Shape 10"/>
          <p:cNvSpPr/>
          <p:nvPr/>
        </p:nvSpPr>
        <p:spPr>
          <a:xfrm>
            <a:off x="8031480" y="1600200"/>
            <a:ext cx="3444240" cy="1965960"/>
          </a:xfrm>
          <a:prstGeom prst="roundRect">
            <a:avLst>
              <a:gd name="adj" fmla="val 3721"/>
            </a:avLst>
          </a:prstGeom>
          <a:solidFill>
            <a:srgbClr val="FFFFFF"/>
          </a:solidFill>
          <a:ln/>
          <a:effectLst>
            <a:outerShdw blurRad="76200" dist="25400" dir="5400000" algn="bl" rotWithShape="0">
              <a:srgbClr val="000000">
                <a:alpha val="8000"/>
              </a:srgbClr>
            </a:outerShdw>
          </a:effectLst>
        </p:spPr>
        <p:txBody>
          <a:bodyPr/>
          <a:lstStyle/>
          <a:p>
            <a:endParaRPr lang="en-IN"/>
          </a:p>
        </p:txBody>
      </p:sp>
      <p:sp>
        <p:nvSpPr>
          <p:cNvPr id="15" name="Shape 11"/>
          <p:cNvSpPr/>
          <p:nvPr/>
        </p:nvSpPr>
        <p:spPr>
          <a:xfrm>
            <a:off x="8260080" y="1828800"/>
            <a:ext cx="502920" cy="502920"/>
          </a:xfrm>
          <a:prstGeom prst="ellipse">
            <a:avLst/>
          </a:prstGeom>
          <a:solidFill>
            <a:srgbClr val="1F4D2C"/>
          </a:solidFill>
          <a:ln/>
        </p:spPr>
        <p:txBody>
          <a:bodyPr/>
          <a:lstStyle/>
          <a:p>
            <a:endParaRPr lang="en-IN"/>
          </a:p>
        </p:txBody>
      </p:sp>
      <p:pic>
        <p:nvPicPr>
          <p:cNvPr id="16" name="Image 2" descr="preencoded.png"/>
          <p:cNvPicPr>
            <a:picLocks noChangeAspect="1"/>
          </p:cNvPicPr>
          <p:nvPr/>
        </p:nvPicPr>
        <p:blipFill>
          <a:blip r:embed="rId5"/>
          <a:stretch>
            <a:fillRect/>
          </a:stretch>
        </p:blipFill>
        <p:spPr>
          <a:xfrm>
            <a:off x="8390839" y="1959559"/>
            <a:ext cx="241402" cy="241402"/>
          </a:xfrm>
          <a:prstGeom prst="rect">
            <a:avLst/>
          </a:prstGeom>
        </p:spPr>
      </p:pic>
      <p:sp>
        <p:nvSpPr>
          <p:cNvPr id="17" name="Text 12"/>
          <p:cNvSpPr/>
          <p:nvPr/>
        </p:nvSpPr>
        <p:spPr>
          <a:xfrm>
            <a:off x="8900160" y="1801368"/>
            <a:ext cx="2392680" cy="365760"/>
          </a:xfrm>
          <a:prstGeom prst="rect">
            <a:avLst/>
          </a:prstGeom>
          <a:noFill/>
          <a:ln/>
        </p:spPr>
        <p:txBody>
          <a:bodyPr wrap="square" lIns="0" tIns="0" rIns="0" bIns="0" rtlCol="0" anchor="ctr"/>
          <a:lstStyle/>
          <a:p>
            <a:pPr marL="0" indent="0">
              <a:buNone/>
            </a:pPr>
            <a:r>
              <a:rPr lang="en-US" sz="1500" b="1" dirty="0">
                <a:solidFill>
                  <a:srgbClr val="1C2B1E"/>
                </a:solidFill>
                <a:latin typeface="Cambria" pitchFamily="34" charset="0"/>
                <a:ea typeface="Cambria" pitchFamily="34" charset="-122"/>
                <a:cs typeface="Cambria" pitchFamily="34" charset="-120"/>
              </a:rPr>
              <a:t>Matplotlib / Seaborn/Plotly express</a:t>
            </a:r>
            <a:endParaRPr lang="en-US" sz="1500" dirty="0"/>
          </a:p>
        </p:txBody>
      </p:sp>
      <p:sp>
        <p:nvSpPr>
          <p:cNvPr id="18" name="Text 13"/>
          <p:cNvSpPr/>
          <p:nvPr/>
        </p:nvSpPr>
        <p:spPr>
          <a:xfrm>
            <a:off x="8260080" y="2377440"/>
            <a:ext cx="2987040" cy="914400"/>
          </a:xfrm>
          <a:prstGeom prst="rect">
            <a:avLst/>
          </a:prstGeom>
          <a:noFill/>
          <a:ln/>
        </p:spPr>
        <p:txBody>
          <a:bodyPr wrap="square" lIns="0" tIns="0" rIns="0" bIns="0" rtlCol="0" anchor="ctr"/>
          <a:lstStyle/>
          <a:p>
            <a:pPr marL="0" indent="0">
              <a:lnSpc>
                <a:spcPct val="120000"/>
              </a:lnSpc>
              <a:buNone/>
            </a:pPr>
            <a:r>
              <a:rPr lang="en-US" sz="1100" dirty="0">
                <a:solidFill>
                  <a:srgbClr val="5B6B5E"/>
                </a:solidFill>
                <a:latin typeface="Calibri" pitchFamily="34" charset="0"/>
                <a:ea typeface="Calibri" pitchFamily="34" charset="-122"/>
                <a:cs typeface="Calibri" pitchFamily="34" charset="-120"/>
              </a:rPr>
              <a:t>Exploratory charts and correlation visualizations</a:t>
            </a:r>
            <a:endParaRPr lang="en-US" sz="1100" dirty="0"/>
          </a:p>
        </p:txBody>
      </p:sp>
      <p:sp>
        <p:nvSpPr>
          <p:cNvPr id="19" name="Shape 14"/>
          <p:cNvSpPr/>
          <p:nvPr/>
        </p:nvSpPr>
        <p:spPr>
          <a:xfrm>
            <a:off x="594360" y="3840480"/>
            <a:ext cx="3444240" cy="1965960"/>
          </a:xfrm>
          <a:prstGeom prst="roundRect">
            <a:avLst>
              <a:gd name="adj" fmla="val 3721"/>
            </a:avLst>
          </a:prstGeom>
          <a:solidFill>
            <a:srgbClr val="FFFFFF"/>
          </a:solidFill>
          <a:ln/>
          <a:effectLst>
            <a:outerShdw blurRad="76200" dist="25400" dir="5400000" algn="bl" rotWithShape="0">
              <a:srgbClr val="000000">
                <a:alpha val="8000"/>
              </a:srgbClr>
            </a:outerShdw>
          </a:effectLst>
        </p:spPr>
        <p:txBody>
          <a:bodyPr/>
          <a:lstStyle/>
          <a:p>
            <a:endParaRPr lang="en-IN"/>
          </a:p>
        </p:txBody>
      </p:sp>
      <p:sp>
        <p:nvSpPr>
          <p:cNvPr id="20" name="Shape 15"/>
          <p:cNvSpPr/>
          <p:nvPr/>
        </p:nvSpPr>
        <p:spPr>
          <a:xfrm>
            <a:off x="822960" y="4069080"/>
            <a:ext cx="502920" cy="502920"/>
          </a:xfrm>
          <a:prstGeom prst="ellipse">
            <a:avLst/>
          </a:prstGeom>
          <a:solidFill>
            <a:srgbClr val="1F4D2C"/>
          </a:solidFill>
          <a:ln/>
        </p:spPr>
        <p:txBody>
          <a:bodyPr/>
          <a:lstStyle/>
          <a:p>
            <a:endParaRPr lang="en-IN"/>
          </a:p>
        </p:txBody>
      </p:sp>
      <p:pic>
        <p:nvPicPr>
          <p:cNvPr id="21" name="Image 3" descr="preencoded.png"/>
          <p:cNvPicPr>
            <a:picLocks noChangeAspect="1"/>
          </p:cNvPicPr>
          <p:nvPr/>
        </p:nvPicPr>
        <p:blipFill>
          <a:blip r:embed="rId6"/>
          <a:stretch>
            <a:fillRect/>
          </a:stretch>
        </p:blipFill>
        <p:spPr>
          <a:xfrm>
            <a:off x="953719" y="4199839"/>
            <a:ext cx="241402" cy="241402"/>
          </a:xfrm>
          <a:prstGeom prst="rect">
            <a:avLst/>
          </a:prstGeom>
        </p:spPr>
      </p:pic>
      <p:sp>
        <p:nvSpPr>
          <p:cNvPr id="22" name="Text 16"/>
          <p:cNvSpPr/>
          <p:nvPr/>
        </p:nvSpPr>
        <p:spPr>
          <a:xfrm>
            <a:off x="1463040" y="4041648"/>
            <a:ext cx="2392680" cy="365760"/>
          </a:xfrm>
          <a:prstGeom prst="rect">
            <a:avLst/>
          </a:prstGeom>
          <a:noFill/>
          <a:ln/>
        </p:spPr>
        <p:txBody>
          <a:bodyPr wrap="square" lIns="0" tIns="0" rIns="0" bIns="0" rtlCol="0" anchor="ctr"/>
          <a:lstStyle/>
          <a:p>
            <a:pPr marL="0" indent="0">
              <a:buNone/>
            </a:pPr>
            <a:r>
              <a:rPr lang="en-US" sz="1500" b="1" dirty="0">
                <a:solidFill>
                  <a:srgbClr val="1C2B1E"/>
                </a:solidFill>
                <a:latin typeface="Cambria" pitchFamily="34" charset="0"/>
                <a:ea typeface="Cambria" pitchFamily="34" charset="-122"/>
                <a:cs typeface="Cambria" pitchFamily="34" charset="-120"/>
              </a:rPr>
              <a:t>Excel / CSV</a:t>
            </a:r>
            <a:endParaRPr lang="en-US" sz="1500" dirty="0"/>
          </a:p>
        </p:txBody>
      </p:sp>
      <p:sp>
        <p:nvSpPr>
          <p:cNvPr id="23" name="Text 17"/>
          <p:cNvSpPr/>
          <p:nvPr/>
        </p:nvSpPr>
        <p:spPr>
          <a:xfrm>
            <a:off x="822960" y="4617720"/>
            <a:ext cx="2987040" cy="914400"/>
          </a:xfrm>
          <a:prstGeom prst="rect">
            <a:avLst/>
          </a:prstGeom>
          <a:noFill/>
          <a:ln/>
        </p:spPr>
        <p:txBody>
          <a:bodyPr wrap="square" lIns="0" tIns="0" rIns="0" bIns="0" rtlCol="0" anchor="ctr"/>
          <a:lstStyle/>
          <a:p>
            <a:pPr marL="0" indent="0">
              <a:lnSpc>
                <a:spcPct val="120000"/>
              </a:lnSpc>
              <a:buNone/>
            </a:pPr>
            <a:r>
              <a:rPr lang="en-US" sz="1100" dirty="0">
                <a:solidFill>
                  <a:srgbClr val="5B6B5E"/>
                </a:solidFill>
                <a:latin typeface="Calibri" pitchFamily="34" charset="0"/>
                <a:ea typeface="Calibri" pitchFamily="34" charset="-122"/>
                <a:cs typeface="Calibri" pitchFamily="34" charset="-120"/>
              </a:rPr>
              <a:t>Raw dataset storage and initial inspection</a:t>
            </a:r>
            <a:endParaRPr lang="en-US" sz="1100" dirty="0"/>
          </a:p>
        </p:txBody>
      </p:sp>
      <p:sp>
        <p:nvSpPr>
          <p:cNvPr id="24" name="Shape 18"/>
          <p:cNvSpPr/>
          <p:nvPr/>
        </p:nvSpPr>
        <p:spPr>
          <a:xfrm>
            <a:off x="4312920" y="3840480"/>
            <a:ext cx="3444240" cy="1965960"/>
          </a:xfrm>
          <a:prstGeom prst="roundRect">
            <a:avLst>
              <a:gd name="adj" fmla="val 3721"/>
            </a:avLst>
          </a:prstGeom>
          <a:solidFill>
            <a:srgbClr val="FFFFFF"/>
          </a:solidFill>
          <a:ln/>
          <a:effectLst>
            <a:outerShdw blurRad="76200" dist="25400" dir="5400000" algn="bl" rotWithShape="0">
              <a:srgbClr val="000000">
                <a:alpha val="8000"/>
              </a:srgbClr>
            </a:outerShdw>
          </a:effectLst>
        </p:spPr>
        <p:txBody>
          <a:bodyPr/>
          <a:lstStyle/>
          <a:p>
            <a:endParaRPr lang="en-IN"/>
          </a:p>
        </p:txBody>
      </p:sp>
      <p:sp>
        <p:nvSpPr>
          <p:cNvPr id="25" name="Shape 19"/>
          <p:cNvSpPr/>
          <p:nvPr/>
        </p:nvSpPr>
        <p:spPr>
          <a:xfrm>
            <a:off x="4541520" y="4069080"/>
            <a:ext cx="502920" cy="502920"/>
          </a:xfrm>
          <a:prstGeom prst="ellipse">
            <a:avLst/>
          </a:prstGeom>
          <a:solidFill>
            <a:srgbClr val="1F4D2C"/>
          </a:solidFill>
          <a:ln/>
        </p:spPr>
        <p:txBody>
          <a:bodyPr/>
          <a:lstStyle/>
          <a:p>
            <a:endParaRPr lang="en-IN"/>
          </a:p>
        </p:txBody>
      </p:sp>
      <p:pic>
        <p:nvPicPr>
          <p:cNvPr id="26" name="Image 4" descr="preencoded.png"/>
          <p:cNvPicPr>
            <a:picLocks noChangeAspect="1"/>
          </p:cNvPicPr>
          <p:nvPr/>
        </p:nvPicPr>
        <p:blipFill>
          <a:blip r:embed="rId7"/>
          <a:stretch>
            <a:fillRect/>
          </a:stretch>
        </p:blipFill>
        <p:spPr>
          <a:xfrm>
            <a:off x="4672279" y="4199839"/>
            <a:ext cx="241402" cy="241402"/>
          </a:xfrm>
          <a:prstGeom prst="rect">
            <a:avLst/>
          </a:prstGeom>
        </p:spPr>
      </p:pic>
      <p:sp>
        <p:nvSpPr>
          <p:cNvPr id="27" name="Text 20"/>
          <p:cNvSpPr/>
          <p:nvPr/>
        </p:nvSpPr>
        <p:spPr>
          <a:xfrm>
            <a:off x="5181600" y="4041648"/>
            <a:ext cx="2392680" cy="365760"/>
          </a:xfrm>
          <a:prstGeom prst="rect">
            <a:avLst/>
          </a:prstGeom>
          <a:noFill/>
          <a:ln/>
        </p:spPr>
        <p:txBody>
          <a:bodyPr wrap="square" lIns="0" tIns="0" rIns="0" bIns="0" rtlCol="0" anchor="ctr"/>
          <a:lstStyle/>
          <a:p>
            <a:pPr marL="0" indent="0">
              <a:buNone/>
            </a:pPr>
            <a:r>
              <a:rPr lang="en-US" sz="1500" b="1" dirty="0">
                <a:solidFill>
                  <a:srgbClr val="1C2B1E"/>
                </a:solidFill>
                <a:latin typeface="Cambria" pitchFamily="34" charset="0"/>
                <a:ea typeface="Cambria" pitchFamily="34" charset="-122"/>
                <a:cs typeface="Cambria" pitchFamily="34" charset="-120"/>
              </a:rPr>
              <a:t>Jupyter Notebook</a:t>
            </a:r>
            <a:endParaRPr lang="en-US" sz="1500" dirty="0"/>
          </a:p>
        </p:txBody>
      </p:sp>
      <p:sp>
        <p:nvSpPr>
          <p:cNvPr id="28" name="Text 21"/>
          <p:cNvSpPr/>
          <p:nvPr/>
        </p:nvSpPr>
        <p:spPr>
          <a:xfrm>
            <a:off x="4541520" y="4617720"/>
            <a:ext cx="2987040" cy="914400"/>
          </a:xfrm>
          <a:prstGeom prst="rect">
            <a:avLst/>
          </a:prstGeom>
          <a:noFill/>
          <a:ln/>
        </p:spPr>
        <p:txBody>
          <a:bodyPr wrap="square" lIns="0" tIns="0" rIns="0" bIns="0" rtlCol="0" anchor="ctr"/>
          <a:lstStyle/>
          <a:p>
            <a:pPr marL="0" indent="0">
              <a:lnSpc>
                <a:spcPct val="120000"/>
              </a:lnSpc>
              <a:buNone/>
            </a:pPr>
            <a:r>
              <a:rPr lang="en-US" sz="1100" dirty="0">
                <a:solidFill>
                  <a:srgbClr val="5B6B5E"/>
                </a:solidFill>
                <a:latin typeface="Calibri" pitchFamily="34" charset="0"/>
                <a:ea typeface="Calibri" pitchFamily="34" charset="-122"/>
                <a:cs typeface="Calibri" pitchFamily="34" charset="-120"/>
              </a:rPr>
              <a:t>Interactive analysis and iterative experimentation</a:t>
            </a:r>
            <a:endParaRPr lang="en-US" sz="1100" dirty="0"/>
          </a:p>
        </p:txBody>
      </p:sp>
      <p:sp>
        <p:nvSpPr>
          <p:cNvPr id="34" name="Text 26"/>
          <p:cNvSpPr/>
          <p:nvPr/>
        </p:nvSpPr>
        <p:spPr>
          <a:xfrm>
            <a:off x="11398076" y="6355080"/>
            <a:ext cx="548640" cy="320040"/>
          </a:xfrm>
          <a:prstGeom prst="rect">
            <a:avLst/>
          </a:prstGeom>
          <a:noFill/>
          <a:ln/>
        </p:spPr>
        <p:txBody>
          <a:bodyPr wrap="square" lIns="0" tIns="0" rIns="0" bIns="0" rtlCol="0" anchor="ctr"/>
          <a:lstStyle/>
          <a:p>
            <a:pPr marL="0" indent="0" algn="r">
              <a:buNone/>
            </a:pPr>
            <a:r>
              <a:rPr lang="en-US" sz="1100" dirty="0">
                <a:solidFill>
                  <a:srgbClr val="5B6B5E"/>
                </a:solidFill>
                <a:latin typeface="Calibri" pitchFamily="34" charset="0"/>
                <a:ea typeface="Calibri" pitchFamily="34" charset="-122"/>
                <a:cs typeface="Calibri" pitchFamily="34" charset="-120"/>
              </a:rPr>
              <a:t>9</a:t>
            </a:r>
            <a:endParaRPr lang="en-US" sz="1100" dirty="0"/>
          </a:p>
        </p:txBody>
      </p:sp>
      <p:sp>
        <p:nvSpPr>
          <p:cNvPr id="35" name="Text 27"/>
          <p:cNvSpPr/>
          <p:nvPr/>
        </p:nvSpPr>
        <p:spPr>
          <a:xfrm>
            <a:off x="457200" y="6355080"/>
            <a:ext cx="4572000" cy="320040"/>
          </a:xfrm>
          <a:prstGeom prst="rect">
            <a:avLst/>
          </a:prstGeom>
          <a:noFill/>
          <a:ln/>
        </p:spPr>
        <p:txBody>
          <a:bodyPr wrap="square" lIns="0" tIns="0" rIns="0" bIns="0" rtlCol="0" anchor="ctr"/>
          <a:lstStyle/>
          <a:p>
            <a:pPr marL="0" indent="0" algn="l">
              <a:buNone/>
            </a:pPr>
            <a:r>
              <a:rPr lang="en-US" sz="900" dirty="0">
                <a:solidFill>
                  <a:srgbClr val="5B6B5E"/>
                </a:solidFill>
                <a:latin typeface="Calibri" pitchFamily="34" charset="0"/>
                <a:ea typeface="Calibri" pitchFamily="34" charset="-122"/>
                <a:cs typeface="Calibri" pitchFamily="34" charset="-120"/>
              </a:rPr>
              <a:t>Greenhouse Crop Production</a:t>
            </a:r>
            <a:endParaRPr lang="en-US" sz="900" dirty="0"/>
          </a:p>
        </p:txBody>
      </p:sp>
      <p:sp>
        <p:nvSpPr>
          <p:cNvPr id="30" name="Shape 18">
            <a:extLst>
              <a:ext uri="{FF2B5EF4-FFF2-40B4-BE49-F238E27FC236}">
                <a16:creationId xmlns:a16="http://schemas.microsoft.com/office/drawing/2014/main" id="{656243C3-C3CB-8BBB-3F0B-A945C27A51C6}"/>
              </a:ext>
            </a:extLst>
          </p:cNvPr>
          <p:cNvSpPr/>
          <p:nvPr/>
        </p:nvSpPr>
        <p:spPr>
          <a:xfrm>
            <a:off x="8059473" y="3851910"/>
            <a:ext cx="3337560" cy="1965960"/>
          </a:xfrm>
          <a:prstGeom prst="roundRect">
            <a:avLst>
              <a:gd name="adj" fmla="val 3721"/>
            </a:avLst>
          </a:prstGeom>
          <a:solidFill>
            <a:srgbClr val="FFFFFF"/>
          </a:solidFill>
          <a:ln/>
          <a:effectLst>
            <a:outerShdw blurRad="76200" dist="25400" dir="5400000" algn="bl" rotWithShape="0">
              <a:srgbClr val="000000">
                <a:alpha val="8000"/>
              </a:srgbClr>
            </a:outerShdw>
          </a:effectLst>
        </p:spPr>
        <p:txBody>
          <a:bodyPr/>
          <a:lstStyle/>
          <a:p>
            <a:r>
              <a:rPr lang="en-US" b="1" dirty="0">
                <a:solidFill>
                  <a:srgbClr val="1C2B1E"/>
                </a:solidFill>
                <a:latin typeface="Cambria" pitchFamily="34" charset="0"/>
                <a:ea typeface="Cambria" pitchFamily="34" charset="-122"/>
              </a:rPr>
              <a:t>              </a:t>
            </a:r>
            <a:endParaRPr lang="en-US" dirty="0"/>
          </a:p>
        </p:txBody>
      </p:sp>
      <p:pic>
        <p:nvPicPr>
          <p:cNvPr id="32" name="Image 4" descr="preencoded.png">
            <a:extLst>
              <a:ext uri="{FF2B5EF4-FFF2-40B4-BE49-F238E27FC236}">
                <a16:creationId xmlns:a16="http://schemas.microsoft.com/office/drawing/2014/main" id="{5EDC017A-8921-97FC-3834-62608F92D474}"/>
              </a:ext>
            </a:extLst>
          </p:cNvPr>
          <p:cNvPicPr>
            <a:picLocks noChangeAspect="1"/>
          </p:cNvPicPr>
          <p:nvPr/>
        </p:nvPicPr>
        <p:blipFill>
          <a:blip r:embed="rId7"/>
          <a:stretch>
            <a:fillRect/>
          </a:stretch>
        </p:blipFill>
        <p:spPr>
          <a:xfrm>
            <a:off x="8356348" y="4066096"/>
            <a:ext cx="241402" cy="241402"/>
          </a:xfrm>
          <a:prstGeom prst="rect">
            <a:avLst/>
          </a:prstGeom>
        </p:spPr>
      </p:pic>
      <p:sp>
        <p:nvSpPr>
          <p:cNvPr id="36" name="Shape 19">
            <a:extLst>
              <a:ext uri="{FF2B5EF4-FFF2-40B4-BE49-F238E27FC236}">
                <a16:creationId xmlns:a16="http://schemas.microsoft.com/office/drawing/2014/main" id="{1C8C3A32-6E05-4BDE-BDD3-C75D97DDB702}"/>
              </a:ext>
            </a:extLst>
          </p:cNvPr>
          <p:cNvSpPr/>
          <p:nvPr/>
        </p:nvSpPr>
        <p:spPr>
          <a:xfrm>
            <a:off x="8225589" y="4057047"/>
            <a:ext cx="502920" cy="502920"/>
          </a:xfrm>
          <a:prstGeom prst="ellipse">
            <a:avLst/>
          </a:prstGeom>
          <a:solidFill>
            <a:srgbClr val="1F4D2C"/>
          </a:solidFill>
          <a:ln/>
        </p:spPr>
        <p:txBody>
          <a:bodyPr/>
          <a:lstStyle/>
          <a:p>
            <a:endParaRPr lang="en-IN" dirty="0"/>
          </a:p>
        </p:txBody>
      </p:sp>
      <p:pic>
        <p:nvPicPr>
          <p:cNvPr id="38" name="Image 4" descr="preencoded.png">
            <a:extLst>
              <a:ext uri="{FF2B5EF4-FFF2-40B4-BE49-F238E27FC236}">
                <a16:creationId xmlns:a16="http://schemas.microsoft.com/office/drawing/2014/main" id="{65D02E7E-4D1E-2424-2EF0-58C92E8329D7}"/>
              </a:ext>
            </a:extLst>
          </p:cNvPr>
          <p:cNvPicPr>
            <a:picLocks noChangeAspect="1"/>
          </p:cNvPicPr>
          <p:nvPr/>
        </p:nvPicPr>
        <p:blipFill>
          <a:blip r:embed="rId7"/>
          <a:stretch>
            <a:fillRect/>
          </a:stretch>
        </p:blipFill>
        <p:spPr>
          <a:xfrm>
            <a:off x="8356348" y="4140443"/>
            <a:ext cx="241402" cy="241402"/>
          </a:xfrm>
          <a:prstGeom prst="rect">
            <a:avLst/>
          </a:prstGeom>
        </p:spPr>
      </p:pic>
      <p:sp>
        <p:nvSpPr>
          <p:cNvPr id="29" name="TextBox 28">
            <a:extLst>
              <a:ext uri="{FF2B5EF4-FFF2-40B4-BE49-F238E27FC236}">
                <a16:creationId xmlns:a16="http://schemas.microsoft.com/office/drawing/2014/main" id="{6C4D6BDD-FCD9-7F6B-764D-20C1C734EEF0}"/>
              </a:ext>
            </a:extLst>
          </p:cNvPr>
          <p:cNvSpPr txBox="1"/>
          <p:nvPr/>
        </p:nvSpPr>
        <p:spPr>
          <a:xfrm>
            <a:off x="8356348" y="4797921"/>
            <a:ext cx="2878773" cy="577081"/>
          </a:xfrm>
          <a:prstGeom prst="rect">
            <a:avLst/>
          </a:prstGeom>
          <a:noFill/>
        </p:spPr>
        <p:txBody>
          <a:bodyPr wrap="square" rtlCol="0">
            <a:spAutoFit/>
          </a:bodyPr>
          <a:lstStyle/>
          <a:p>
            <a:r>
              <a:rPr lang="en-IN" sz="1050" dirty="0">
                <a:solidFill>
                  <a:schemeClr val="accent6">
                    <a:lumMod val="50000"/>
                  </a:schemeClr>
                </a:solidFill>
              </a:rPr>
              <a:t>used to build interactive graphs and dashboards for data analysis and visualization</a:t>
            </a:r>
          </a:p>
          <a:p>
            <a:endParaRPr lang="en-IN" sz="1050" dirty="0"/>
          </a:p>
        </p:txBody>
      </p:sp>
      <p:sp>
        <p:nvSpPr>
          <p:cNvPr id="33" name="TextBox 32">
            <a:extLst>
              <a:ext uri="{FF2B5EF4-FFF2-40B4-BE49-F238E27FC236}">
                <a16:creationId xmlns:a16="http://schemas.microsoft.com/office/drawing/2014/main" id="{64D9E1F4-B194-C6C6-4F6C-FE460CA67DD8}"/>
              </a:ext>
            </a:extLst>
          </p:cNvPr>
          <p:cNvSpPr txBox="1"/>
          <p:nvPr/>
        </p:nvSpPr>
        <p:spPr>
          <a:xfrm>
            <a:off x="8934554" y="4076268"/>
            <a:ext cx="1652762" cy="323165"/>
          </a:xfrm>
          <a:prstGeom prst="rect">
            <a:avLst/>
          </a:prstGeom>
          <a:noFill/>
        </p:spPr>
        <p:txBody>
          <a:bodyPr wrap="square" rtlCol="0">
            <a:spAutoFit/>
          </a:bodyPr>
          <a:lstStyle/>
          <a:p>
            <a:r>
              <a:rPr lang="en-US" sz="1500" b="1" dirty="0">
                <a:solidFill>
                  <a:srgbClr val="1C2B1E"/>
                </a:solidFill>
                <a:latin typeface="Cambria" pitchFamily="34" charset="0"/>
                <a:ea typeface="Cambria" pitchFamily="34" charset="-122"/>
              </a:rPr>
              <a:t>Streamlit</a:t>
            </a:r>
            <a:endParaRPr lang="en-IN" sz="1500" dirty="0">
              <a:solidFill>
                <a:schemeClr val="accent6">
                  <a:lumMod val="50000"/>
                </a:schemeClr>
              </a:solidFill>
            </a:endParaRPr>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curtains"/>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name="Slide 9">
    <p:bg>
      <p:bgPr>
        <a:solidFill>
          <a:srgbClr val="F7F9F5"/>
        </a:solidFill>
        <a:effectLst/>
      </p:bgPr>
    </p:bg>
    <p:spTree>
      <p:nvGrpSpPr>
        <p:cNvPr id="1" name=""/>
        <p:cNvGrpSpPr/>
        <p:nvPr/>
      </p:nvGrpSpPr>
      <p:grpSpPr>
        <a:xfrm>
          <a:off x="0" y="0"/>
          <a:ext cx="0" cy="0"/>
          <a:chOff x="0" y="0"/>
          <a:chExt cx="0" cy="0"/>
        </a:xfrm>
      </p:grpSpPr>
      <p:sp>
        <p:nvSpPr>
          <p:cNvPr id="2" name="Text 0"/>
          <p:cNvSpPr/>
          <p:nvPr/>
        </p:nvSpPr>
        <p:spPr>
          <a:xfrm>
            <a:off x="548640" y="384048"/>
            <a:ext cx="8229600" cy="320040"/>
          </a:xfrm>
          <a:prstGeom prst="rect">
            <a:avLst/>
          </a:prstGeom>
          <a:noFill/>
          <a:ln/>
        </p:spPr>
        <p:txBody>
          <a:bodyPr wrap="square" lIns="0" tIns="0" rIns="0" bIns="0" rtlCol="0" anchor="ctr"/>
          <a:lstStyle/>
          <a:p>
            <a:pPr marL="0" indent="0">
              <a:buNone/>
            </a:pPr>
            <a:r>
              <a:rPr lang="en-US" sz="1300" b="1" kern="0" spc="200" dirty="0">
                <a:solidFill>
                  <a:srgbClr val="6FA95E"/>
                </a:solidFill>
                <a:latin typeface="Calibri" pitchFamily="34" charset="0"/>
                <a:ea typeface="Calibri" pitchFamily="34" charset="-122"/>
                <a:cs typeface="Calibri" pitchFamily="34" charset="-120"/>
              </a:rPr>
              <a:t>VISUAL ANALYSIS</a:t>
            </a:r>
            <a:endParaRPr lang="en-US" sz="1300" dirty="0"/>
          </a:p>
        </p:txBody>
      </p:sp>
      <p:sp>
        <p:nvSpPr>
          <p:cNvPr id="3" name="Text 1"/>
          <p:cNvSpPr/>
          <p:nvPr/>
        </p:nvSpPr>
        <p:spPr>
          <a:xfrm>
            <a:off x="548640" y="658368"/>
            <a:ext cx="10515600" cy="685800"/>
          </a:xfrm>
          <a:prstGeom prst="rect">
            <a:avLst/>
          </a:prstGeom>
          <a:noFill/>
          <a:ln/>
        </p:spPr>
        <p:txBody>
          <a:bodyPr wrap="square" lIns="0" tIns="0" rIns="0" bIns="0" rtlCol="0" anchor="ctr"/>
          <a:lstStyle/>
          <a:p>
            <a:pPr marL="0" indent="0">
              <a:buNone/>
            </a:pPr>
            <a:r>
              <a:rPr lang="en-US" sz="3200" b="1" dirty="0">
                <a:solidFill>
                  <a:srgbClr val="163A20"/>
                </a:solidFill>
                <a:latin typeface="Cambria" pitchFamily="34" charset="0"/>
                <a:ea typeface="Cambria" pitchFamily="34" charset="-122"/>
                <a:cs typeface="Cambria" pitchFamily="34" charset="-120"/>
              </a:rPr>
              <a:t>Production Dashboard</a:t>
            </a:r>
            <a:endParaRPr lang="en-US" sz="3200" dirty="0"/>
          </a:p>
        </p:txBody>
      </p:sp>
      <p:graphicFrame>
        <p:nvGraphicFramePr>
          <p:cNvPr id="4" name="Chart 0"/>
          <p:cNvGraphicFramePr/>
          <p:nvPr>
            <p:extLst>
              <p:ext uri="{D42A27DB-BD31-4B8C-83A1-F6EECF244321}">
                <p14:modId xmlns:p14="http://schemas.microsoft.com/office/powerpoint/2010/main" val="683610955"/>
              </p:ext>
            </p:extLst>
          </p:nvPr>
        </p:nvGraphicFramePr>
        <p:xfrm>
          <a:off x="502920" y="1508760"/>
          <a:ext cx="5394960" cy="233172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5" name="Chart 1"/>
          <p:cNvGraphicFramePr/>
          <p:nvPr>
            <p:extLst>
              <p:ext uri="{D42A27DB-BD31-4B8C-83A1-F6EECF244321}">
                <p14:modId xmlns:p14="http://schemas.microsoft.com/office/powerpoint/2010/main" val="1949782169"/>
              </p:ext>
            </p:extLst>
          </p:nvPr>
        </p:nvGraphicFramePr>
        <p:xfrm>
          <a:off x="6172200" y="1508760"/>
          <a:ext cx="5440680" cy="2331720"/>
        </p:xfrm>
        <a:graphic>
          <a:graphicData uri="http://schemas.openxmlformats.org/drawingml/2006/chart">
            <c:chart xmlns:c="http://schemas.openxmlformats.org/drawingml/2006/chart" xmlns:r="http://schemas.openxmlformats.org/officeDocument/2006/relationships" r:id="rId4"/>
          </a:graphicData>
        </a:graphic>
      </p:graphicFrame>
      <p:graphicFrame>
        <p:nvGraphicFramePr>
          <p:cNvPr id="6" name="Chart 2"/>
          <p:cNvGraphicFramePr/>
          <p:nvPr>
            <p:extLst>
              <p:ext uri="{D42A27DB-BD31-4B8C-83A1-F6EECF244321}">
                <p14:modId xmlns:p14="http://schemas.microsoft.com/office/powerpoint/2010/main" val="3500244387"/>
              </p:ext>
            </p:extLst>
          </p:nvPr>
        </p:nvGraphicFramePr>
        <p:xfrm>
          <a:off x="502920" y="4069080"/>
          <a:ext cx="5394960" cy="2148840"/>
        </p:xfrm>
        <a:graphic>
          <a:graphicData uri="http://schemas.openxmlformats.org/drawingml/2006/chart">
            <c:chart xmlns:c="http://schemas.openxmlformats.org/drawingml/2006/chart" xmlns:r="http://schemas.openxmlformats.org/officeDocument/2006/relationships" r:id="rId5"/>
          </a:graphicData>
        </a:graphic>
      </p:graphicFrame>
      <p:graphicFrame>
        <p:nvGraphicFramePr>
          <p:cNvPr id="7" name="Chart 3"/>
          <p:cNvGraphicFramePr/>
          <p:nvPr>
            <p:extLst>
              <p:ext uri="{D42A27DB-BD31-4B8C-83A1-F6EECF244321}">
                <p14:modId xmlns:p14="http://schemas.microsoft.com/office/powerpoint/2010/main" val="2162066899"/>
              </p:ext>
            </p:extLst>
          </p:nvPr>
        </p:nvGraphicFramePr>
        <p:xfrm>
          <a:off x="6172200" y="4069080"/>
          <a:ext cx="5440680" cy="2148840"/>
        </p:xfrm>
        <a:graphic>
          <a:graphicData uri="http://schemas.openxmlformats.org/drawingml/2006/chart">
            <c:chart xmlns:c="http://schemas.openxmlformats.org/drawingml/2006/chart" xmlns:r="http://schemas.openxmlformats.org/officeDocument/2006/relationships" r:id="rId6"/>
          </a:graphicData>
        </a:graphic>
      </p:graphicFrame>
      <p:sp>
        <p:nvSpPr>
          <p:cNvPr id="8" name="Text 2"/>
          <p:cNvSpPr/>
          <p:nvPr/>
        </p:nvSpPr>
        <p:spPr>
          <a:xfrm>
            <a:off x="11365992" y="6355080"/>
            <a:ext cx="548640" cy="320040"/>
          </a:xfrm>
          <a:prstGeom prst="rect">
            <a:avLst/>
          </a:prstGeom>
          <a:noFill/>
          <a:ln/>
        </p:spPr>
        <p:txBody>
          <a:bodyPr wrap="square" lIns="0" tIns="0" rIns="0" bIns="0" rtlCol="0" anchor="ctr"/>
          <a:lstStyle/>
          <a:p>
            <a:pPr marL="0" indent="0" algn="r">
              <a:buNone/>
            </a:pPr>
            <a:r>
              <a:rPr lang="en-US" sz="1100" dirty="0">
                <a:solidFill>
                  <a:srgbClr val="5B6B5E"/>
                </a:solidFill>
                <a:latin typeface="Calibri" pitchFamily="34" charset="0"/>
                <a:ea typeface="Calibri" pitchFamily="34" charset="-122"/>
                <a:cs typeface="Calibri" pitchFamily="34" charset="-120"/>
              </a:rPr>
              <a:t>10</a:t>
            </a:r>
            <a:endParaRPr lang="en-US" sz="1100" dirty="0"/>
          </a:p>
        </p:txBody>
      </p:sp>
      <p:sp>
        <p:nvSpPr>
          <p:cNvPr id="9" name="Text 3"/>
          <p:cNvSpPr/>
          <p:nvPr/>
        </p:nvSpPr>
        <p:spPr>
          <a:xfrm>
            <a:off x="457200" y="6355080"/>
            <a:ext cx="4572000" cy="320040"/>
          </a:xfrm>
          <a:prstGeom prst="rect">
            <a:avLst/>
          </a:prstGeom>
          <a:noFill/>
          <a:ln/>
        </p:spPr>
        <p:txBody>
          <a:bodyPr wrap="square" lIns="0" tIns="0" rIns="0" bIns="0" rtlCol="0" anchor="ctr"/>
          <a:lstStyle/>
          <a:p>
            <a:pPr marL="0" indent="0" algn="l">
              <a:buNone/>
            </a:pPr>
            <a:r>
              <a:rPr lang="en-US" sz="900" dirty="0">
                <a:solidFill>
                  <a:srgbClr val="5B6B5E"/>
                </a:solidFill>
                <a:latin typeface="Calibri" pitchFamily="34" charset="0"/>
                <a:ea typeface="Calibri" pitchFamily="34" charset="-122"/>
                <a:cs typeface="Calibri" pitchFamily="34" charset="-120"/>
              </a:rPr>
              <a:t>Greenhouse Crop Production</a:t>
            </a:r>
            <a:endParaRPr lang="en-US" sz="900" dirty="0"/>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curtains"/>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name="Slide 10">
    <p:bg>
      <p:bgPr>
        <a:solidFill>
          <a:srgbClr val="F7F9F5"/>
        </a:solidFill>
        <a:effectLst/>
      </p:bgPr>
    </p:bg>
    <p:spTree>
      <p:nvGrpSpPr>
        <p:cNvPr id="1" name=""/>
        <p:cNvGrpSpPr/>
        <p:nvPr/>
      </p:nvGrpSpPr>
      <p:grpSpPr>
        <a:xfrm>
          <a:off x="0" y="0"/>
          <a:ext cx="0" cy="0"/>
          <a:chOff x="0" y="0"/>
          <a:chExt cx="0" cy="0"/>
        </a:xfrm>
      </p:grpSpPr>
      <p:sp>
        <p:nvSpPr>
          <p:cNvPr id="2" name="Text 0"/>
          <p:cNvSpPr/>
          <p:nvPr/>
        </p:nvSpPr>
        <p:spPr>
          <a:xfrm>
            <a:off x="548640" y="384048"/>
            <a:ext cx="8229600" cy="320040"/>
          </a:xfrm>
          <a:prstGeom prst="rect">
            <a:avLst/>
          </a:prstGeom>
          <a:noFill/>
          <a:ln/>
        </p:spPr>
        <p:txBody>
          <a:bodyPr wrap="square" lIns="0" tIns="0" rIns="0" bIns="0" rtlCol="0" anchor="ctr"/>
          <a:lstStyle/>
          <a:p>
            <a:pPr marL="0" indent="0">
              <a:buNone/>
            </a:pPr>
            <a:r>
              <a:rPr lang="en-US" sz="1300" b="1" kern="0" spc="200" dirty="0">
                <a:solidFill>
                  <a:srgbClr val="6FA95E"/>
                </a:solidFill>
                <a:latin typeface="Calibri" pitchFamily="34" charset="0"/>
                <a:ea typeface="Calibri" pitchFamily="34" charset="-122"/>
                <a:cs typeface="Calibri" pitchFamily="34" charset="-120"/>
              </a:rPr>
              <a:t>FINDINGS</a:t>
            </a:r>
            <a:endParaRPr lang="en-US" sz="1300" dirty="0"/>
          </a:p>
        </p:txBody>
      </p:sp>
      <p:sp>
        <p:nvSpPr>
          <p:cNvPr id="3" name="Text 1"/>
          <p:cNvSpPr/>
          <p:nvPr/>
        </p:nvSpPr>
        <p:spPr>
          <a:xfrm>
            <a:off x="548640" y="658368"/>
            <a:ext cx="10515600" cy="685800"/>
          </a:xfrm>
          <a:prstGeom prst="rect">
            <a:avLst/>
          </a:prstGeom>
          <a:noFill/>
          <a:ln/>
        </p:spPr>
        <p:txBody>
          <a:bodyPr wrap="square" lIns="0" tIns="0" rIns="0" bIns="0" rtlCol="0" anchor="ctr"/>
          <a:lstStyle/>
          <a:p>
            <a:pPr marL="0" indent="0">
              <a:buNone/>
            </a:pPr>
            <a:r>
              <a:rPr lang="en-US" sz="3200" b="1" dirty="0">
                <a:solidFill>
                  <a:srgbClr val="163A20"/>
                </a:solidFill>
                <a:latin typeface="Cambria" pitchFamily="34" charset="0"/>
                <a:ea typeface="Cambria" pitchFamily="34" charset="-122"/>
                <a:cs typeface="Cambria" pitchFamily="34" charset="-120"/>
              </a:rPr>
              <a:t>Key Insights</a:t>
            </a:r>
            <a:endParaRPr lang="en-US" sz="3200" dirty="0"/>
          </a:p>
        </p:txBody>
      </p:sp>
      <p:sp>
        <p:nvSpPr>
          <p:cNvPr id="4" name="Shape 2"/>
          <p:cNvSpPr/>
          <p:nvPr/>
        </p:nvSpPr>
        <p:spPr>
          <a:xfrm>
            <a:off x="548640" y="1508760"/>
            <a:ext cx="5394960" cy="1447800"/>
          </a:xfrm>
          <a:prstGeom prst="roundRect">
            <a:avLst>
              <a:gd name="adj" fmla="val 4421"/>
            </a:avLst>
          </a:prstGeom>
          <a:solidFill>
            <a:srgbClr val="FFFFFF"/>
          </a:solidFill>
          <a:ln/>
          <a:effectLst>
            <a:outerShdw blurRad="63500" dist="25400" dir="5400000" algn="bl" rotWithShape="0">
              <a:srgbClr val="000000">
                <a:alpha val="7000"/>
              </a:srgbClr>
            </a:outerShdw>
          </a:effectLst>
        </p:spPr>
        <p:txBody>
          <a:bodyPr/>
          <a:lstStyle/>
          <a:p>
            <a:endParaRPr lang="en-IN"/>
          </a:p>
        </p:txBody>
      </p:sp>
      <p:sp>
        <p:nvSpPr>
          <p:cNvPr id="5" name="Shape 3"/>
          <p:cNvSpPr/>
          <p:nvPr/>
        </p:nvSpPr>
        <p:spPr>
          <a:xfrm>
            <a:off x="749808" y="2004060"/>
            <a:ext cx="457200" cy="457200"/>
          </a:xfrm>
          <a:prstGeom prst="ellipse">
            <a:avLst/>
          </a:prstGeom>
          <a:solidFill>
            <a:srgbClr val="1F4D2C"/>
          </a:solidFill>
          <a:ln/>
        </p:spPr>
        <p:txBody>
          <a:bodyPr/>
          <a:lstStyle/>
          <a:p>
            <a:endParaRPr lang="en-IN"/>
          </a:p>
        </p:txBody>
      </p:sp>
      <p:pic>
        <p:nvPicPr>
          <p:cNvPr id="6" name="Image 0" descr="preencoded.png"/>
          <p:cNvPicPr>
            <a:picLocks noChangeAspect="1"/>
          </p:cNvPicPr>
          <p:nvPr/>
        </p:nvPicPr>
        <p:blipFill>
          <a:blip r:embed="rId3"/>
          <a:stretch>
            <a:fillRect/>
          </a:stretch>
        </p:blipFill>
        <p:spPr>
          <a:xfrm>
            <a:off x="868680" y="2122932"/>
            <a:ext cx="219456" cy="219456"/>
          </a:xfrm>
          <a:prstGeom prst="rect">
            <a:avLst/>
          </a:prstGeom>
        </p:spPr>
      </p:pic>
      <p:sp>
        <p:nvSpPr>
          <p:cNvPr id="7" name="Text 4"/>
          <p:cNvSpPr/>
          <p:nvPr/>
        </p:nvSpPr>
        <p:spPr>
          <a:xfrm>
            <a:off x="1371600" y="1636776"/>
            <a:ext cx="4389120" cy="320040"/>
          </a:xfrm>
          <a:prstGeom prst="rect">
            <a:avLst/>
          </a:prstGeom>
          <a:noFill/>
          <a:ln/>
        </p:spPr>
        <p:txBody>
          <a:bodyPr wrap="square" lIns="0" tIns="0" rIns="0" bIns="0" rtlCol="0" anchor="ctr"/>
          <a:lstStyle/>
          <a:p>
            <a:pPr marL="0" indent="0">
              <a:buNone/>
            </a:pPr>
            <a:r>
              <a:rPr lang="en-US" sz="1300" b="1" dirty="0">
                <a:solidFill>
                  <a:srgbClr val="1C2B1E"/>
                </a:solidFill>
                <a:latin typeface="Cambria" pitchFamily="34" charset="0"/>
                <a:ea typeface="Cambria" pitchFamily="34" charset="-122"/>
                <a:cs typeface="Cambria" pitchFamily="34" charset="-120"/>
              </a:rPr>
              <a:t>Tomato leads in yield</a:t>
            </a:r>
            <a:endParaRPr lang="en-US" sz="1300" dirty="0"/>
          </a:p>
        </p:txBody>
      </p:sp>
      <p:sp>
        <p:nvSpPr>
          <p:cNvPr id="8" name="Text 5"/>
          <p:cNvSpPr/>
          <p:nvPr/>
        </p:nvSpPr>
        <p:spPr>
          <a:xfrm>
            <a:off x="1371600" y="1965960"/>
            <a:ext cx="4389120" cy="566928"/>
          </a:xfrm>
          <a:prstGeom prst="rect">
            <a:avLst/>
          </a:prstGeom>
          <a:noFill/>
          <a:ln/>
        </p:spPr>
        <p:txBody>
          <a:bodyPr wrap="square" lIns="0" tIns="0" rIns="0" bIns="0" rtlCol="0" anchor="ctr"/>
          <a:lstStyle/>
          <a:p>
            <a:pPr>
              <a:lnSpc>
                <a:spcPct val="115000"/>
              </a:lnSpc>
            </a:pPr>
            <a:r>
              <a:rPr lang="en-IN" sz="1400" dirty="0"/>
              <a:t>Tomatoes produce way more per square meter than lettuce (over double).</a:t>
            </a:r>
            <a:endParaRPr lang="en-US" sz="1400" dirty="0"/>
          </a:p>
        </p:txBody>
      </p:sp>
      <p:sp>
        <p:nvSpPr>
          <p:cNvPr id="9" name="Shape 6"/>
          <p:cNvSpPr/>
          <p:nvPr/>
        </p:nvSpPr>
        <p:spPr>
          <a:xfrm>
            <a:off x="6217920" y="1508760"/>
            <a:ext cx="5394960" cy="1447800"/>
          </a:xfrm>
          <a:prstGeom prst="roundRect">
            <a:avLst>
              <a:gd name="adj" fmla="val 4421"/>
            </a:avLst>
          </a:prstGeom>
          <a:solidFill>
            <a:srgbClr val="FFFFFF"/>
          </a:solidFill>
          <a:ln/>
          <a:effectLst>
            <a:outerShdw blurRad="63500" dist="25400" dir="5400000" algn="bl" rotWithShape="0">
              <a:srgbClr val="000000">
                <a:alpha val="7000"/>
              </a:srgbClr>
            </a:outerShdw>
          </a:effectLst>
        </p:spPr>
        <p:txBody>
          <a:bodyPr/>
          <a:lstStyle/>
          <a:p>
            <a:endParaRPr lang="en-IN"/>
          </a:p>
        </p:txBody>
      </p:sp>
      <p:sp>
        <p:nvSpPr>
          <p:cNvPr id="10" name="Shape 7"/>
          <p:cNvSpPr/>
          <p:nvPr/>
        </p:nvSpPr>
        <p:spPr>
          <a:xfrm>
            <a:off x="6419088" y="2004060"/>
            <a:ext cx="457200" cy="457200"/>
          </a:xfrm>
          <a:prstGeom prst="ellipse">
            <a:avLst/>
          </a:prstGeom>
          <a:solidFill>
            <a:srgbClr val="1F4D2C"/>
          </a:solidFill>
          <a:ln/>
        </p:spPr>
        <p:txBody>
          <a:bodyPr/>
          <a:lstStyle/>
          <a:p>
            <a:endParaRPr lang="en-IN"/>
          </a:p>
        </p:txBody>
      </p:sp>
      <p:pic>
        <p:nvPicPr>
          <p:cNvPr id="11" name="Image 1" descr="preencoded.png"/>
          <p:cNvPicPr>
            <a:picLocks noChangeAspect="1"/>
          </p:cNvPicPr>
          <p:nvPr/>
        </p:nvPicPr>
        <p:blipFill>
          <a:blip r:embed="rId4"/>
          <a:stretch>
            <a:fillRect/>
          </a:stretch>
        </p:blipFill>
        <p:spPr>
          <a:xfrm>
            <a:off x="6537960" y="2122932"/>
            <a:ext cx="219456" cy="219456"/>
          </a:xfrm>
          <a:prstGeom prst="rect">
            <a:avLst/>
          </a:prstGeom>
        </p:spPr>
      </p:pic>
      <p:sp>
        <p:nvSpPr>
          <p:cNvPr id="12" name="Text 8"/>
          <p:cNvSpPr/>
          <p:nvPr/>
        </p:nvSpPr>
        <p:spPr>
          <a:xfrm>
            <a:off x="7040880" y="1636776"/>
            <a:ext cx="4389120" cy="320040"/>
          </a:xfrm>
          <a:prstGeom prst="rect">
            <a:avLst/>
          </a:prstGeom>
          <a:noFill/>
          <a:ln/>
        </p:spPr>
        <p:txBody>
          <a:bodyPr wrap="square" lIns="0" tIns="0" rIns="0" bIns="0" rtlCol="0" anchor="ctr"/>
          <a:lstStyle/>
          <a:p>
            <a:pPr marL="0" indent="0">
              <a:buNone/>
            </a:pPr>
            <a:r>
              <a:rPr lang="en-US" sz="1300" b="1" dirty="0">
                <a:solidFill>
                  <a:srgbClr val="1C2B1E"/>
                </a:solidFill>
                <a:latin typeface="Cambria" pitchFamily="34" charset="0"/>
                <a:ea typeface="Cambria" pitchFamily="34" charset="-122"/>
                <a:cs typeface="Cambria" pitchFamily="34" charset="-120"/>
              </a:rPr>
              <a:t>Nitrogen is the strongest driver</a:t>
            </a:r>
            <a:endParaRPr lang="en-US" sz="1300" dirty="0"/>
          </a:p>
        </p:txBody>
      </p:sp>
      <p:sp>
        <p:nvSpPr>
          <p:cNvPr id="13" name="Text 9"/>
          <p:cNvSpPr/>
          <p:nvPr/>
        </p:nvSpPr>
        <p:spPr>
          <a:xfrm>
            <a:off x="7040880" y="1965960"/>
            <a:ext cx="4389120" cy="848360"/>
          </a:xfrm>
          <a:prstGeom prst="rect">
            <a:avLst/>
          </a:prstGeom>
          <a:noFill/>
          <a:ln/>
        </p:spPr>
        <p:txBody>
          <a:bodyPr wrap="square" lIns="0" tIns="0" rIns="0" bIns="0" rtlCol="0" anchor="ctr"/>
          <a:lstStyle/>
          <a:p>
            <a:pPr>
              <a:lnSpc>
                <a:spcPct val="115000"/>
              </a:lnSpc>
            </a:pPr>
            <a:r>
              <a:rPr lang="en-IN" sz="1400" dirty="0"/>
              <a:t>Out of everything they tracked, Nitrogen has the strongest relationship with good yields. Potassium is a close second. So if you want to boost yield, fertilizer especially nitrogen  is your biggest lever</a:t>
            </a:r>
            <a:endParaRPr lang="en-US" sz="1400" dirty="0"/>
          </a:p>
        </p:txBody>
      </p:sp>
      <p:sp>
        <p:nvSpPr>
          <p:cNvPr id="14" name="Shape 10"/>
          <p:cNvSpPr/>
          <p:nvPr/>
        </p:nvSpPr>
        <p:spPr>
          <a:xfrm>
            <a:off x="548640" y="3230880"/>
            <a:ext cx="5394960" cy="1447800"/>
          </a:xfrm>
          <a:prstGeom prst="roundRect">
            <a:avLst>
              <a:gd name="adj" fmla="val 4421"/>
            </a:avLst>
          </a:prstGeom>
          <a:solidFill>
            <a:srgbClr val="FFFFFF"/>
          </a:solidFill>
          <a:ln/>
          <a:effectLst>
            <a:outerShdw blurRad="63500" dist="25400" dir="5400000" algn="bl" rotWithShape="0">
              <a:srgbClr val="000000">
                <a:alpha val="7000"/>
              </a:srgbClr>
            </a:outerShdw>
          </a:effectLst>
        </p:spPr>
        <p:txBody>
          <a:bodyPr/>
          <a:lstStyle/>
          <a:p>
            <a:endParaRPr lang="en-IN"/>
          </a:p>
        </p:txBody>
      </p:sp>
      <p:sp>
        <p:nvSpPr>
          <p:cNvPr id="15" name="Shape 11"/>
          <p:cNvSpPr/>
          <p:nvPr/>
        </p:nvSpPr>
        <p:spPr>
          <a:xfrm>
            <a:off x="749808" y="3726180"/>
            <a:ext cx="457200" cy="457200"/>
          </a:xfrm>
          <a:prstGeom prst="ellipse">
            <a:avLst/>
          </a:prstGeom>
          <a:solidFill>
            <a:srgbClr val="1F4D2C"/>
          </a:solidFill>
          <a:ln/>
        </p:spPr>
        <p:txBody>
          <a:bodyPr/>
          <a:lstStyle/>
          <a:p>
            <a:endParaRPr lang="en-IN"/>
          </a:p>
        </p:txBody>
      </p:sp>
      <p:pic>
        <p:nvPicPr>
          <p:cNvPr id="16" name="Image 2" descr="preencoded.png"/>
          <p:cNvPicPr>
            <a:picLocks noChangeAspect="1"/>
          </p:cNvPicPr>
          <p:nvPr/>
        </p:nvPicPr>
        <p:blipFill>
          <a:blip r:embed="rId5"/>
          <a:stretch>
            <a:fillRect/>
          </a:stretch>
        </p:blipFill>
        <p:spPr>
          <a:xfrm>
            <a:off x="868680" y="3845052"/>
            <a:ext cx="219456" cy="219456"/>
          </a:xfrm>
          <a:prstGeom prst="rect">
            <a:avLst/>
          </a:prstGeom>
        </p:spPr>
      </p:pic>
      <p:sp>
        <p:nvSpPr>
          <p:cNvPr id="17" name="Text 12"/>
          <p:cNvSpPr/>
          <p:nvPr/>
        </p:nvSpPr>
        <p:spPr>
          <a:xfrm>
            <a:off x="1371600" y="3358896"/>
            <a:ext cx="4389120" cy="320040"/>
          </a:xfrm>
          <a:prstGeom prst="rect">
            <a:avLst/>
          </a:prstGeom>
          <a:noFill/>
          <a:ln/>
        </p:spPr>
        <p:txBody>
          <a:bodyPr wrap="square" lIns="0" tIns="0" rIns="0" bIns="0" rtlCol="0" anchor="ctr"/>
          <a:lstStyle/>
          <a:p>
            <a:pPr marL="0" indent="0">
              <a:buNone/>
            </a:pPr>
            <a:r>
              <a:rPr lang="en-US" sz="1300" b="1" dirty="0">
                <a:solidFill>
                  <a:srgbClr val="1C2B1E"/>
                </a:solidFill>
                <a:latin typeface="Cambria" pitchFamily="34" charset="0"/>
                <a:ea typeface="Cambria" pitchFamily="34" charset="-122"/>
                <a:cs typeface="Cambria" pitchFamily="34" charset="-120"/>
              </a:rPr>
              <a:t>Temperature matters, moderately</a:t>
            </a:r>
            <a:endParaRPr lang="en-US" sz="1300" dirty="0"/>
          </a:p>
        </p:txBody>
      </p:sp>
      <p:sp>
        <p:nvSpPr>
          <p:cNvPr id="18" name="Text 13"/>
          <p:cNvSpPr/>
          <p:nvPr/>
        </p:nvSpPr>
        <p:spPr>
          <a:xfrm>
            <a:off x="1371600" y="3688080"/>
            <a:ext cx="4389120" cy="782320"/>
          </a:xfrm>
          <a:prstGeom prst="rect">
            <a:avLst/>
          </a:prstGeom>
          <a:noFill/>
          <a:ln/>
        </p:spPr>
        <p:txBody>
          <a:bodyPr wrap="square" lIns="0" tIns="0" rIns="0" bIns="0" rtlCol="0" anchor="ctr"/>
          <a:lstStyle/>
          <a:p>
            <a:pPr>
              <a:lnSpc>
                <a:spcPct val="115000"/>
              </a:lnSpc>
            </a:pPr>
            <a:r>
              <a:rPr lang="en-IN" sz="1400" dirty="0"/>
              <a:t>Higher temperature is linked to better yields, but the connection is only moderate .Warm-loving crops like tomatoes and peppers benefit most.</a:t>
            </a:r>
            <a:endParaRPr lang="en-US" sz="1400" dirty="0"/>
          </a:p>
        </p:txBody>
      </p:sp>
      <p:sp>
        <p:nvSpPr>
          <p:cNvPr id="29" name="Shape 22"/>
          <p:cNvSpPr/>
          <p:nvPr/>
        </p:nvSpPr>
        <p:spPr>
          <a:xfrm>
            <a:off x="6378033" y="3228848"/>
            <a:ext cx="5394960" cy="1447800"/>
          </a:xfrm>
          <a:prstGeom prst="roundRect">
            <a:avLst>
              <a:gd name="adj" fmla="val 4421"/>
            </a:avLst>
          </a:prstGeom>
          <a:solidFill>
            <a:srgbClr val="FFFFFF"/>
          </a:solidFill>
          <a:ln/>
          <a:effectLst>
            <a:outerShdw blurRad="63500" dist="25400" dir="5400000" algn="bl" rotWithShape="0">
              <a:srgbClr val="000000">
                <a:alpha val="7000"/>
              </a:srgbClr>
            </a:outerShdw>
          </a:effectLst>
        </p:spPr>
        <p:txBody>
          <a:bodyPr/>
          <a:lstStyle/>
          <a:p>
            <a:endParaRPr lang="en-IN"/>
          </a:p>
        </p:txBody>
      </p:sp>
      <p:sp>
        <p:nvSpPr>
          <p:cNvPr id="30" name="Shape 23"/>
          <p:cNvSpPr/>
          <p:nvPr/>
        </p:nvSpPr>
        <p:spPr>
          <a:xfrm>
            <a:off x="6419088" y="3756453"/>
            <a:ext cx="457200" cy="457200"/>
          </a:xfrm>
          <a:prstGeom prst="ellipse">
            <a:avLst/>
          </a:prstGeom>
          <a:solidFill>
            <a:srgbClr val="1F4D2C"/>
          </a:solidFill>
          <a:ln/>
        </p:spPr>
        <p:txBody>
          <a:bodyPr/>
          <a:lstStyle/>
          <a:p>
            <a:endParaRPr lang="en-IN"/>
          </a:p>
        </p:txBody>
      </p:sp>
      <p:pic>
        <p:nvPicPr>
          <p:cNvPr id="31" name="Image 5" descr="preencoded.png"/>
          <p:cNvPicPr>
            <a:picLocks noChangeAspect="1"/>
          </p:cNvPicPr>
          <p:nvPr/>
        </p:nvPicPr>
        <p:blipFill>
          <a:blip r:embed="rId6"/>
          <a:stretch>
            <a:fillRect/>
          </a:stretch>
        </p:blipFill>
        <p:spPr>
          <a:xfrm>
            <a:off x="6511770" y="3915664"/>
            <a:ext cx="219456" cy="219456"/>
          </a:xfrm>
          <a:prstGeom prst="rect">
            <a:avLst/>
          </a:prstGeom>
        </p:spPr>
      </p:pic>
      <p:sp>
        <p:nvSpPr>
          <p:cNvPr id="32" name="Text 24"/>
          <p:cNvSpPr/>
          <p:nvPr/>
        </p:nvSpPr>
        <p:spPr>
          <a:xfrm>
            <a:off x="7027817" y="3358896"/>
            <a:ext cx="4389120" cy="320040"/>
          </a:xfrm>
          <a:prstGeom prst="rect">
            <a:avLst/>
          </a:prstGeom>
          <a:noFill/>
          <a:ln/>
        </p:spPr>
        <p:txBody>
          <a:bodyPr wrap="square" lIns="0" tIns="0" rIns="0" bIns="0" rtlCol="0" anchor="ctr"/>
          <a:lstStyle/>
          <a:p>
            <a:pPr marL="0" indent="0">
              <a:buNone/>
            </a:pPr>
            <a:r>
              <a:rPr lang="en-US" sz="1300" b="1" dirty="0">
                <a:solidFill>
                  <a:srgbClr val="1C2B1E"/>
                </a:solidFill>
                <a:latin typeface="Cambria" pitchFamily="34" charset="0"/>
                <a:ea typeface="Cambria" pitchFamily="34" charset="-122"/>
                <a:cs typeface="Cambria" pitchFamily="34" charset="-120"/>
              </a:rPr>
              <a:t>Greenhouse performance is fairly uniform</a:t>
            </a:r>
            <a:endParaRPr lang="en-US" sz="1300" dirty="0"/>
          </a:p>
        </p:txBody>
      </p:sp>
      <p:sp>
        <p:nvSpPr>
          <p:cNvPr id="33" name="Text 25"/>
          <p:cNvSpPr/>
          <p:nvPr/>
        </p:nvSpPr>
        <p:spPr>
          <a:xfrm>
            <a:off x="7027817" y="3688080"/>
            <a:ext cx="4389120" cy="670560"/>
          </a:xfrm>
          <a:prstGeom prst="rect">
            <a:avLst/>
          </a:prstGeom>
          <a:noFill/>
          <a:ln/>
        </p:spPr>
        <p:txBody>
          <a:bodyPr wrap="square" lIns="0" tIns="0" rIns="0" bIns="0" rtlCol="0" anchor="ctr"/>
          <a:lstStyle/>
          <a:p>
            <a:pPr>
              <a:lnSpc>
                <a:spcPct val="115000"/>
              </a:lnSpc>
            </a:pPr>
            <a:r>
              <a:rPr lang="en-US" sz="1400" dirty="0">
                <a:solidFill>
                  <a:schemeClr val="tx1">
                    <a:lumMod val="95000"/>
                    <a:lumOff val="5000"/>
                  </a:schemeClr>
                </a:solidFill>
                <a:latin typeface="Calibri" pitchFamily="34" charset="0"/>
                <a:ea typeface="Calibri" pitchFamily="34" charset="-122"/>
                <a:cs typeface="Calibri" pitchFamily="34" charset="-120"/>
              </a:rPr>
              <a:t>Average yield across the 5 greenhouses ranges narrowly from 12.21 to 12.60 kg/m², suggesting consistent management.</a:t>
            </a:r>
            <a:endParaRPr lang="en-US" sz="1400" dirty="0">
              <a:solidFill>
                <a:schemeClr val="tx1">
                  <a:lumMod val="95000"/>
                  <a:lumOff val="5000"/>
                </a:schemeClr>
              </a:solidFill>
            </a:endParaRPr>
          </a:p>
        </p:txBody>
      </p:sp>
      <p:sp>
        <p:nvSpPr>
          <p:cNvPr id="34" name="Text 26"/>
          <p:cNvSpPr/>
          <p:nvPr/>
        </p:nvSpPr>
        <p:spPr>
          <a:xfrm>
            <a:off x="11365992" y="6355080"/>
            <a:ext cx="548640" cy="320040"/>
          </a:xfrm>
          <a:prstGeom prst="rect">
            <a:avLst/>
          </a:prstGeom>
          <a:noFill/>
          <a:ln/>
        </p:spPr>
        <p:txBody>
          <a:bodyPr wrap="square" lIns="0" tIns="0" rIns="0" bIns="0" rtlCol="0" anchor="ctr"/>
          <a:lstStyle/>
          <a:p>
            <a:pPr marL="0" indent="0" algn="r">
              <a:buNone/>
            </a:pPr>
            <a:r>
              <a:rPr lang="en-US" sz="1100" dirty="0">
                <a:solidFill>
                  <a:srgbClr val="5B6B5E"/>
                </a:solidFill>
                <a:latin typeface="Calibri" pitchFamily="34" charset="0"/>
                <a:ea typeface="Calibri" pitchFamily="34" charset="-122"/>
                <a:cs typeface="Calibri" pitchFamily="34" charset="-120"/>
              </a:rPr>
              <a:t>11</a:t>
            </a:r>
            <a:endParaRPr lang="en-US" sz="1100" dirty="0"/>
          </a:p>
        </p:txBody>
      </p:sp>
      <p:sp>
        <p:nvSpPr>
          <p:cNvPr id="35" name="Text 27"/>
          <p:cNvSpPr/>
          <p:nvPr/>
        </p:nvSpPr>
        <p:spPr>
          <a:xfrm>
            <a:off x="457200" y="6355080"/>
            <a:ext cx="4572000" cy="320040"/>
          </a:xfrm>
          <a:prstGeom prst="rect">
            <a:avLst/>
          </a:prstGeom>
          <a:noFill/>
          <a:ln/>
        </p:spPr>
        <p:txBody>
          <a:bodyPr wrap="square" lIns="0" tIns="0" rIns="0" bIns="0" rtlCol="0" anchor="ctr"/>
          <a:lstStyle/>
          <a:p>
            <a:pPr marL="0" indent="0" algn="l">
              <a:buNone/>
            </a:pPr>
            <a:r>
              <a:rPr lang="en-US" sz="900" dirty="0">
                <a:solidFill>
                  <a:srgbClr val="5B6B5E"/>
                </a:solidFill>
                <a:latin typeface="Calibri" pitchFamily="34" charset="0"/>
                <a:ea typeface="Calibri" pitchFamily="34" charset="-122"/>
                <a:cs typeface="Calibri" pitchFamily="34" charset="-120"/>
              </a:rPr>
              <a:t>Greenhouse Crop Production</a:t>
            </a:r>
            <a:endParaRPr lang="en-US" sz="900" dirty="0"/>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curtains"/>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9F5"/>
        </a:solidFill>
        <a:effectLst/>
      </p:bgPr>
    </p:bg>
    <p:spTree>
      <p:nvGrpSpPr>
        <p:cNvPr id="1" name=""/>
        <p:cNvGrpSpPr/>
        <p:nvPr/>
      </p:nvGrpSpPr>
      <p:grpSpPr>
        <a:xfrm>
          <a:off x="0" y="0"/>
          <a:ext cx="0" cy="0"/>
          <a:chOff x="0" y="0"/>
          <a:chExt cx="0" cy="0"/>
        </a:xfrm>
      </p:grpSpPr>
      <p:sp>
        <p:nvSpPr>
          <p:cNvPr id="2" name="Text 0"/>
          <p:cNvSpPr/>
          <p:nvPr/>
        </p:nvSpPr>
        <p:spPr>
          <a:xfrm>
            <a:off x="548640" y="384048"/>
            <a:ext cx="8229600" cy="320040"/>
          </a:xfrm>
          <a:prstGeom prst="rect">
            <a:avLst/>
          </a:prstGeom>
          <a:noFill/>
          <a:ln/>
        </p:spPr>
        <p:txBody>
          <a:bodyPr wrap="square" lIns="0" tIns="0" rIns="0" bIns="0" rtlCol="0" anchor="ctr"/>
          <a:lstStyle/>
          <a:p>
            <a:pPr marL="0" indent="0">
              <a:buNone/>
            </a:pPr>
            <a:r>
              <a:rPr lang="en-US" sz="1300" b="1" kern="0" spc="200" dirty="0">
                <a:solidFill>
                  <a:srgbClr val="6FA95E"/>
                </a:solidFill>
                <a:latin typeface="Calibri" pitchFamily="34" charset="0"/>
                <a:ea typeface="Calibri" pitchFamily="34" charset="-122"/>
                <a:cs typeface="Calibri" pitchFamily="34" charset="-120"/>
              </a:rPr>
              <a:t>LOOKING AHEAD</a:t>
            </a:r>
            <a:endParaRPr lang="en-US" sz="1300" dirty="0"/>
          </a:p>
        </p:txBody>
      </p:sp>
      <p:sp>
        <p:nvSpPr>
          <p:cNvPr id="3" name="Text 1"/>
          <p:cNvSpPr/>
          <p:nvPr/>
        </p:nvSpPr>
        <p:spPr>
          <a:xfrm>
            <a:off x="548640" y="658368"/>
            <a:ext cx="10515600" cy="685800"/>
          </a:xfrm>
          <a:prstGeom prst="rect">
            <a:avLst/>
          </a:prstGeom>
          <a:noFill/>
          <a:ln/>
        </p:spPr>
        <p:txBody>
          <a:bodyPr wrap="square" lIns="0" tIns="0" rIns="0" bIns="0" rtlCol="0" anchor="ctr"/>
          <a:lstStyle/>
          <a:p>
            <a:r>
              <a:rPr lang="en-US" sz="3200" b="1" dirty="0">
                <a:latin typeface="Cambria" pitchFamily="34" charset="0"/>
                <a:ea typeface="Cambria" pitchFamily="34" charset="-122"/>
                <a:cs typeface="Cambria" pitchFamily="34" charset="-120"/>
              </a:rPr>
              <a:t>Conclusion &amp; </a:t>
            </a:r>
            <a:r>
              <a:rPr lang="en-US" sz="3200" b="1" dirty="0">
                <a:solidFill>
                  <a:srgbClr val="163A20"/>
                </a:solidFill>
                <a:latin typeface="Cambria" pitchFamily="34" charset="0"/>
                <a:ea typeface="Cambria" pitchFamily="34" charset="-122"/>
                <a:cs typeface="Cambria" pitchFamily="34" charset="-120"/>
              </a:rPr>
              <a:t>Future Scope</a:t>
            </a:r>
            <a:endParaRPr lang="en-US" sz="3200" dirty="0"/>
          </a:p>
        </p:txBody>
      </p:sp>
      <p:sp>
        <p:nvSpPr>
          <p:cNvPr id="4" name="Shape 2"/>
          <p:cNvSpPr/>
          <p:nvPr/>
        </p:nvSpPr>
        <p:spPr>
          <a:xfrm>
            <a:off x="451713" y="1600200"/>
            <a:ext cx="5280660" cy="2148840"/>
          </a:xfrm>
          <a:prstGeom prst="roundRect">
            <a:avLst>
              <a:gd name="adj" fmla="val 3404"/>
            </a:avLst>
          </a:prstGeom>
          <a:solidFill>
            <a:srgbClr val="FFFFFF"/>
          </a:solidFill>
          <a:ln/>
          <a:effectLst>
            <a:outerShdw blurRad="76200" dist="25400" dir="5400000" algn="bl" rotWithShape="0">
              <a:srgbClr val="000000">
                <a:alpha val="8000"/>
              </a:srgbClr>
            </a:outerShdw>
          </a:effectLst>
        </p:spPr>
        <p:txBody>
          <a:bodyPr/>
          <a:lstStyle/>
          <a:p>
            <a:endParaRPr lang="en-IN"/>
          </a:p>
        </p:txBody>
      </p:sp>
      <p:sp>
        <p:nvSpPr>
          <p:cNvPr id="5" name="Shape 3"/>
          <p:cNvSpPr/>
          <p:nvPr/>
        </p:nvSpPr>
        <p:spPr>
          <a:xfrm>
            <a:off x="759867" y="1769364"/>
            <a:ext cx="594360" cy="594360"/>
          </a:xfrm>
          <a:prstGeom prst="ellipse">
            <a:avLst/>
          </a:prstGeom>
          <a:solidFill>
            <a:schemeClr val="accent6">
              <a:lumMod val="75000"/>
            </a:schemeClr>
          </a:solidFill>
          <a:ln/>
        </p:spPr>
        <p:txBody>
          <a:bodyPr/>
          <a:lstStyle/>
          <a:p>
            <a:endParaRPr lang="en-IN"/>
          </a:p>
        </p:txBody>
      </p:sp>
      <p:pic>
        <p:nvPicPr>
          <p:cNvPr id="6" name="Image 0" descr="preencoded.png"/>
          <p:cNvPicPr>
            <a:picLocks noChangeAspect="1"/>
          </p:cNvPicPr>
          <p:nvPr/>
        </p:nvPicPr>
        <p:blipFill>
          <a:blip r:embed="rId3"/>
          <a:stretch>
            <a:fillRect/>
          </a:stretch>
        </p:blipFill>
        <p:spPr>
          <a:xfrm>
            <a:off x="880567" y="1918411"/>
            <a:ext cx="285293" cy="285293"/>
          </a:xfrm>
          <a:prstGeom prst="rect">
            <a:avLst/>
          </a:prstGeom>
        </p:spPr>
      </p:pic>
      <p:sp>
        <p:nvSpPr>
          <p:cNvPr id="7" name="Text 4"/>
          <p:cNvSpPr/>
          <p:nvPr/>
        </p:nvSpPr>
        <p:spPr>
          <a:xfrm>
            <a:off x="1508760" y="1874520"/>
            <a:ext cx="4137660" cy="548640"/>
          </a:xfrm>
          <a:prstGeom prst="rect">
            <a:avLst/>
          </a:prstGeom>
          <a:noFill/>
          <a:ln/>
        </p:spPr>
        <p:txBody>
          <a:bodyPr wrap="square" lIns="0" tIns="0" rIns="0" bIns="0" rtlCol="0" anchor="ctr"/>
          <a:lstStyle/>
          <a:p>
            <a:r>
              <a:rPr lang="en-US" sz="3200" b="1" dirty="0">
                <a:solidFill>
                  <a:schemeClr val="accent6"/>
                </a:solidFill>
                <a:latin typeface="Calibri" pitchFamily="34" charset="0"/>
                <a:ea typeface="Calibri" pitchFamily="34" charset="-122"/>
                <a:cs typeface="Calibri" pitchFamily="34" charset="-120"/>
              </a:rPr>
              <a:t>Conclusion</a:t>
            </a:r>
            <a:endParaRPr lang="en-US" sz="3200" dirty="0">
              <a:solidFill>
                <a:schemeClr val="accent6"/>
              </a:solidFill>
            </a:endParaRPr>
          </a:p>
          <a:p>
            <a:pPr marL="0" indent="0">
              <a:buNone/>
            </a:pPr>
            <a:endParaRPr lang="en-US" sz="1550" dirty="0"/>
          </a:p>
        </p:txBody>
      </p:sp>
      <p:sp>
        <p:nvSpPr>
          <p:cNvPr id="8" name="Text 5"/>
          <p:cNvSpPr/>
          <p:nvPr/>
        </p:nvSpPr>
        <p:spPr>
          <a:xfrm>
            <a:off x="868680" y="2651760"/>
            <a:ext cx="4732020" cy="914400"/>
          </a:xfrm>
          <a:prstGeom prst="rect">
            <a:avLst/>
          </a:prstGeom>
          <a:noFill/>
          <a:ln/>
        </p:spPr>
        <p:txBody>
          <a:bodyPr wrap="square" lIns="0" tIns="0" rIns="0" bIns="0" rtlCol="0" anchor="ctr"/>
          <a:lstStyle/>
          <a:p>
            <a:pPr>
              <a:lnSpc>
                <a:spcPct val="125000"/>
              </a:lnSpc>
            </a:pPr>
            <a:r>
              <a:rPr lang="en-US" sz="1600" dirty="0">
                <a:solidFill>
                  <a:schemeClr val="accent1">
                    <a:lumMod val="75000"/>
                  </a:schemeClr>
                </a:solidFill>
                <a:ea typeface="Calibri" pitchFamily="34" charset="-122"/>
                <a:cs typeface="Calibri" pitchFamily="34" charset="-120"/>
              </a:rPr>
              <a:t>EDA revealed that soil moisture and temperature are the leading drivers of greenhouse crop yield, with clear optimal ranges emerging from the data — insight that was invisible in the raw sensor logs alone.</a:t>
            </a:r>
            <a:endParaRPr lang="en-US" sz="1600" dirty="0">
              <a:solidFill>
                <a:schemeClr val="accent1">
                  <a:lumMod val="75000"/>
                </a:schemeClr>
              </a:solidFill>
            </a:endParaRPr>
          </a:p>
          <a:p>
            <a:pPr marL="0" indent="0">
              <a:lnSpc>
                <a:spcPct val="125000"/>
              </a:lnSpc>
              <a:buNone/>
            </a:pPr>
            <a:r>
              <a:rPr lang="en-US" sz="1200" dirty="0">
                <a:solidFill>
                  <a:srgbClr val="5B6B5E"/>
                </a:solidFill>
                <a:latin typeface="Calibri" pitchFamily="34" charset="0"/>
                <a:ea typeface="Calibri" pitchFamily="34" charset="-122"/>
                <a:cs typeface="Calibri" pitchFamily="34" charset="-120"/>
              </a:rPr>
              <a:t>.</a:t>
            </a:r>
            <a:endParaRPr lang="en-US" sz="1200" dirty="0"/>
          </a:p>
        </p:txBody>
      </p:sp>
      <p:sp>
        <p:nvSpPr>
          <p:cNvPr id="9" name="Shape 6"/>
          <p:cNvSpPr/>
          <p:nvPr/>
        </p:nvSpPr>
        <p:spPr>
          <a:xfrm>
            <a:off x="6195060" y="1600200"/>
            <a:ext cx="5280660" cy="2148840"/>
          </a:xfrm>
          <a:prstGeom prst="roundRect">
            <a:avLst>
              <a:gd name="adj" fmla="val 3404"/>
            </a:avLst>
          </a:prstGeom>
          <a:solidFill>
            <a:srgbClr val="FFFFFF"/>
          </a:solidFill>
          <a:ln/>
          <a:effectLst>
            <a:outerShdw blurRad="76200" dist="25400" dir="5400000" algn="bl" rotWithShape="0">
              <a:srgbClr val="000000">
                <a:alpha val="8000"/>
              </a:srgbClr>
            </a:outerShdw>
          </a:effectLst>
        </p:spPr>
        <p:txBody>
          <a:bodyPr/>
          <a:lstStyle/>
          <a:p>
            <a:endParaRPr lang="en-IN"/>
          </a:p>
        </p:txBody>
      </p:sp>
      <p:sp>
        <p:nvSpPr>
          <p:cNvPr id="10" name="Shape 7"/>
          <p:cNvSpPr/>
          <p:nvPr/>
        </p:nvSpPr>
        <p:spPr>
          <a:xfrm>
            <a:off x="6486753" y="1852510"/>
            <a:ext cx="594360" cy="594360"/>
          </a:xfrm>
          <a:prstGeom prst="ellipse">
            <a:avLst/>
          </a:prstGeom>
          <a:solidFill>
            <a:schemeClr val="accent6">
              <a:lumMod val="75000"/>
            </a:schemeClr>
          </a:solidFill>
          <a:ln/>
        </p:spPr>
        <p:txBody>
          <a:bodyPr/>
          <a:lstStyle/>
          <a:p>
            <a:endParaRPr lang="en-IN"/>
          </a:p>
        </p:txBody>
      </p:sp>
      <p:pic>
        <p:nvPicPr>
          <p:cNvPr id="11" name="Image 1" descr="preencoded.png"/>
          <p:cNvPicPr>
            <a:picLocks noChangeAspect="1"/>
          </p:cNvPicPr>
          <p:nvPr/>
        </p:nvPicPr>
        <p:blipFill>
          <a:blip r:embed="rId4"/>
          <a:stretch>
            <a:fillRect/>
          </a:stretch>
        </p:blipFill>
        <p:spPr>
          <a:xfrm>
            <a:off x="6639154" y="2046427"/>
            <a:ext cx="285293" cy="285293"/>
          </a:xfrm>
          <a:prstGeom prst="rect">
            <a:avLst/>
          </a:prstGeom>
        </p:spPr>
      </p:pic>
      <p:sp>
        <p:nvSpPr>
          <p:cNvPr id="12" name="Text 8"/>
          <p:cNvSpPr/>
          <p:nvPr/>
        </p:nvSpPr>
        <p:spPr>
          <a:xfrm>
            <a:off x="7246620" y="1874520"/>
            <a:ext cx="4000500" cy="777240"/>
          </a:xfrm>
          <a:prstGeom prst="rect">
            <a:avLst/>
          </a:prstGeom>
          <a:noFill/>
          <a:ln/>
        </p:spPr>
        <p:txBody>
          <a:bodyPr wrap="square" lIns="0" tIns="0" rIns="0" bIns="0" rtlCol="0" anchor="ctr"/>
          <a:lstStyle/>
          <a:p>
            <a:r>
              <a:rPr lang="en-US" sz="2800" b="1" dirty="0">
                <a:solidFill>
                  <a:schemeClr val="accent6"/>
                </a:solidFill>
                <a:latin typeface="Calibri" pitchFamily="34" charset="0"/>
                <a:ea typeface="Calibri" pitchFamily="34" charset="-122"/>
                <a:cs typeface="Calibri" pitchFamily="34" charset="-120"/>
              </a:rPr>
              <a:t>Key Advantage</a:t>
            </a:r>
            <a:endParaRPr lang="en-US" sz="2800" dirty="0">
              <a:solidFill>
                <a:schemeClr val="accent6"/>
              </a:solidFill>
            </a:endParaRPr>
          </a:p>
          <a:p>
            <a:pPr marL="0" indent="0">
              <a:buNone/>
            </a:pPr>
            <a:endParaRPr lang="en-US" sz="1550" dirty="0"/>
          </a:p>
        </p:txBody>
      </p:sp>
      <p:sp>
        <p:nvSpPr>
          <p:cNvPr id="13" name="Text 9"/>
          <p:cNvSpPr/>
          <p:nvPr/>
        </p:nvSpPr>
        <p:spPr>
          <a:xfrm>
            <a:off x="6469380" y="2651760"/>
            <a:ext cx="4732020" cy="914400"/>
          </a:xfrm>
          <a:prstGeom prst="rect">
            <a:avLst/>
          </a:prstGeom>
          <a:noFill/>
          <a:ln/>
        </p:spPr>
        <p:txBody>
          <a:bodyPr wrap="square" lIns="0" tIns="0" rIns="0" bIns="0" rtlCol="0" anchor="ctr"/>
          <a:lstStyle/>
          <a:p>
            <a:pPr>
              <a:lnSpc>
                <a:spcPct val="125000"/>
              </a:lnSpc>
            </a:pPr>
            <a:r>
              <a:rPr lang="en-US" sz="1600" dirty="0">
                <a:solidFill>
                  <a:schemeClr val="accent1">
                    <a:lumMod val="75000"/>
                  </a:schemeClr>
                </a:solidFill>
                <a:ea typeface="Calibri" pitchFamily="34" charset="-122"/>
                <a:cs typeface="Calibri" pitchFamily="34" charset="-120"/>
              </a:rPr>
              <a:t>A structured, visual approach to the data surfaced actionable patterns quickly, without requiring a predictive model to get started.</a:t>
            </a:r>
            <a:endParaRPr lang="en-US" sz="1600" dirty="0">
              <a:solidFill>
                <a:schemeClr val="accent1">
                  <a:lumMod val="75000"/>
                </a:schemeClr>
              </a:solidFill>
            </a:endParaRPr>
          </a:p>
          <a:p>
            <a:pPr marL="0" indent="0">
              <a:lnSpc>
                <a:spcPct val="125000"/>
              </a:lnSpc>
              <a:buNone/>
            </a:pPr>
            <a:endParaRPr lang="en-US" sz="1200" dirty="0"/>
          </a:p>
        </p:txBody>
      </p:sp>
      <p:sp>
        <p:nvSpPr>
          <p:cNvPr id="14" name="Shape 10"/>
          <p:cNvSpPr/>
          <p:nvPr/>
        </p:nvSpPr>
        <p:spPr>
          <a:xfrm>
            <a:off x="594360" y="4069080"/>
            <a:ext cx="5280660" cy="2148840"/>
          </a:xfrm>
          <a:prstGeom prst="roundRect">
            <a:avLst>
              <a:gd name="adj" fmla="val 3404"/>
            </a:avLst>
          </a:prstGeom>
          <a:solidFill>
            <a:srgbClr val="FFFFFF"/>
          </a:solidFill>
          <a:ln/>
          <a:effectLst>
            <a:outerShdw blurRad="76200" dist="25400" dir="5400000" algn="bl" rotWithShape="0">
              <a:srgbClr val="000000">
                <a:alpha val="8000"/>
              </a:srgbClr>
            </a:outerShdw>
          </a:effectLst>
        </p:spPr>
        <p:txBody>
          <a:bodyPr/>
          <a:lstStyle/>
          <a:p>
            <a:endParaRPr lang="en-IN"/>
          </a:p>
        </p:txBody>
      </p:sp>
      <p:sp>
        <p:nvSpPr>
          <p:cNvPr id="15" name="Shape 11"/>
          <p:cNvSpPr/>
          <p:nvPr/>
        </p:nvSpPr>
        <p:spPr>
          <a:xfrm>
            <a:off x="759867" y="4245062"/>
            <a:ext cx="594360" cy="594360"/>
          </a:xfrm>
          <a:prstGeom prst="ellipse">
            <a:avLst/>
          </a:prstGeom>
          <a:solidFill>
            <a:schemeClr val="accent6">
              <a:lumMod val="75000"/>
            </a:schemeClr>
          </a:solidFill>
          <a:ln/>
        </p:spPr>
        <p:txBody>
          <a:bodyPr/>
          <a:lstStyle/>
          <a:p>
            <a:endParaRPr lang="en-IN"/>
          </a:p>
        </p:txBody>
      </p:sp>
      <p:pic>
        <p:nvPicPr>
          <p:cNvPr id="16" name="Image 2" descr="preencoded.png"/>
          <p:cNvPicPr>
            <a:picLocks noChangeAspect="1"/>
          </p:cNvPicPr>
          <p:nvPr/>
        </p:nvPicPr>
        <p:blipFill>
          <a:blip r:embed="rId5"/>
          <a:stretch>
            <a:fillRect/>
          </a:stretch>
        </p:blipFill>
        <p:spPr>
          <a:xfrm>
            <a:off x="925358" y="4411708"/>
            <a:ext cx="285293" cy="285293"/>
          </a:xfrm>
          <a:prstGeom prst="rect">
            <a:avLst/>
          </a:prstGeom>
        </p:spPr>
      </p:pic>
      <p:sp>
        <p:nvSpPr>
          <p:cNvPr id="17" name="Text 12"/>
          <p:cNvSpPr/>
          <p:nvPr/>
        </p:nvSpPr>
        <p:spPr>
          <a:xfrm>
            <a:off x="1484971" y="4245062"/>
            <a:ext cx="4161449" cy="646978"/>
          </a:xfrm>
          <a:prstGeom prst="rect">
            <a:avLst/>
          </a:prstGeom>
          <a:noFill/>
          <a:ln/>
        </p:spPr>
        <p:txBody>
          <a:bodyPr wrap="square" lIns="0" tIns="0" rIns="0" bIns="0" rtlCol="0" anchor="ctr"/>
          <a:lstStyle/>
          <a:p>
            <a:pPr marL="0" indent="0">
              <a:buNone/>
            </a:pPr>
            <a:r>
              <a:rPr lang="en-US" sz="2600" b="1" dirty="0">
                <a:solidFill>
                  <a:schemeClr val="accent6"/>
                </a:solidFill>
                <a:ea typeface="Cambria" pitchFamily="34" charset="-122"/>
                <a:cs typeface="Cambria" pitchFamily="34" charset="-120"/>
              </a:rPr>
              <a:t>Automated Climate Control</a:t>
            </a:r>
            <a:endParaRPr lang="en-US" sz="2600" dirty="0">
              <a:solidFill>
                <a:schemeClr val="accent6"/>
              </a:solidFill>
            </a:endParaRPr>
          </a:p>
        </p:txBody>
      </p:sp>
      <p:sp>
        <p:nvSpPr>
          <p:cNvPr id="18" name="Text 13"/>
          <p:cNvSpPr/>
          <p:nvPr/>
        </p:nvSpPr>
        <p:spPr>
          <a:xfrm>
            <a:off x="868680" y="4497934"/>
            <a:ext cx="4732020" cy="1537106"/>
          </a:xfrm>
          <a:prstGeom prst="rect">
            <a:avLst/>
          </a:prstGeom>
          <a:noFill/>
          <a:ln/>
        </p:spPr>
        <p:txBody>
          <a:bodyPr wrap="square" lIns="0" tIns="0" rIns="0" bIns="0" rtlCol="0" anchor="ctr"/>
          <a:lstStyle/>
          <a:p>
            <a:pPr marL="0" indent="0">
              <a:lnSpc>
                <a:spcPct val="125000"/>
              </a:lnSpc>
              <a:buNone/>
            </a:pPr>
            <a:r>
              <a:rPr lang="en-US" sz="1600" dirty="0">
                <a:solidFill>
                  <a:schemeClr val="accent1">
                    <a:lumMod val="75000"/>
                  </a:schemeClr>
                </a:solidFill>
                <a:latin typeface="Calibri" pitchFamily="34" charset="0"/>
                <a:ea typeface="Calibri" pitchFamily="34" charset="-122"/>
                <a:cs typeface="Calibri" pitchFamily="34" charset="-120"/>
              </a:rPr>
              <a:t>Use insights to drive automated irrigation and fertigation systems, reducing manual intervention.</a:t>
            </a:r>
            <a:endParaRPr lang="en-US" sz="1600" dirty="0">
              <a:solidFill>
                <a:schemeClr val="accent1">
                  <a:lumMod val="75000"/>
                </a:schemeClr>
              </a:solidFill>
            </a:endParaRPr>
          </a:p>
        </p:txBody>
      </p:sp>
      <p:sp>
        <p:nvSpPr>
          <p:cNvPr id="19" name="Shape 14"/>
          <p:cNvSpPr/>
          <p:nvPr/>
        </p:nvSpPr>
        <p:spPr>
          <a:xfrm>
            <a:off x="6195060" y="4069080"/>
            <a:ext cx="5280660" cy="2148840"/>
          </a:xfrm>
          <a:prstGeom prst="roundRect">
            <a:avLst>
              <a:gd name="adj" fmla="val 3404"/>
            </a:avLst>
          </a:prstGeom>
          <a:solidFill>
            <a:srgbClr val="FFFFFF"/>
          </a:solidFill>
          <a:ln/>
          <a:effectLst>
            <a:outerShdw blurRad="76200" dist="25400" dir="5400000" algn="bl" rotWithShape="0">
              <a:srgbClr val="000000">
                <a:alpha val="8000"/>
              </a:srgbClr>
            </a:outerShdw>
          </a:effectLst>
        </p:spPr>
        <p:txBody>
          <a:bodyPr/>
          <a:lstStyle/>
          <a:p>
            <a:endParaRPr lang="en-IN"/>
          </a:p>
        </p:txBody>
      </p:sp>
      <p:sp>
        <p:nvSpPr>
          <p:cNvPr id="20" name="Shape 15"/>
          <p:cNvSpPr/>
          <p:nvPr/>
        </p:nvSpPr>
        <p:spPr>
          <a:xfrm>
            <a:off x="6486753" y="4217615"/>
            <a:ext cx="594360" cy="594360"/>
          </a:xfrm>
          <a:prstGeom prst="ellipse">
            <a:avLst/>
          </a:prstGeom>
          <a:solidFill>
            <a:schemeClr val="accent6">
              <a:lumMod val="75000"/>
            </a:schemeClr>
          </a:solidFill>
          <a:ln/>
        </p:spPr>
        <p:txBody>
          <a:bodyPr/>
          <a:lstStyle/>
          <a:p>
            <a:endParaRPr lang="en-IN"/>
          </a:p>
        </p:txBody>
      </p:sp>
      <p:pic>
        <p:nvPicPr>
          <p:cNvPr id="21" name="Image 3" descr="preencoded.png"/>
          <p:cNvPicPr>
            <a:picLocks noChangeAspect="1"/>
          </p:cNvPicPr>
          <p:nvPr/>
        </p:nvPicPr>
        <p:blipFill>
          <a:blip r:embed="rId6"/>
          <a:stretch>
            <a:fillRect/>
          </a:stretch>
        </p:blipFill>
        <p:spPr>
          <a:xfrm>
            <a:off x="6639154" y="4383633"/>
            <a:ext cx="285293" cy="285293"/>
          </a:xfrm>
          <a:prstGeom prst="rect">
            <a:avLst/>
          </a:prstGeom>
        </p:spPr>
      </p:pic>
      <p:sp>
        <p:nvSpPr>
          <p:cNvPr id="22" name="Text 16"/>
          <p:cNvSpPr/>
          <p:nvPr/>
        </p:nvSpPr>
        <p:spPr>
          <a:xfrm>
            <a:off x="7246620" y="4069080"/>
            <a:ext cx="4000500" cy="822960"/>
          </a:xfrm>
          <a:prstGeom prst="rect">
            <a:avLst/>
          </a:prstGeom>
          <a:noFill/>
          <a:ln/>
        </p:spPr>
        <p:txBody>
          <a:bodyPr wrap="square" lIns="0" tIns="0" rIns="0" bIns="0" rtlCol="0" anchor="ctr"/>
          <a:lstStyle/>
          <a:p>
            <a:r>
              <a:rPr lang="en-US" sz="2800" b="1" dirty="0">
                <a:solidFill>
                  <a:schemeClr val="accent6"/>
                </a:solidFill>
                <a:latin typeface="Calibri" pitchFamily="34" charset="0"/>
                <a:ea typeface="Calibri" pitchFamily="34" charset="-122"/>
                <a:cs typeface="Calibri" pitchFamily="34" charset="-120"/>
              </a:rPr>
              <a:t>Future Work</a:t>
            </a:r>
            <a:endParaRPr lang="en-US" sz="2800" dirty="0">
              <a:solidFill>
                <a:schemeClr val="accent6"/>
              </a:solidFill>
            </a:endParaRPr>
          </a:p>
        </p:txBody>
      </p:sp>
      <p:sp>
        <p:nvSpPr>
          <p:cNvPr id="23" name="Text 17"/>
          <p:cNvSpPr/>
          <p:nvPr/>
        </p:nvSpPr>
        <p:spPr>
          <a:xfrm>
            <a:off x="6469380" y="4526280"/>
            <a:ext cx="4732020" cy="1828800"/>
          </a:xfrm>
          <a:prstGeom prst="rect">
            <a:avLst/>
          </a:prstGeom>
          <a:noFill/>
          <a:ln/>
        </p:spPr>
        <p:txBody>
          <a:bodyPr wrap="square" lIns="0" tIns="0" rIns="0" bIns="0" rtlCol="0" anchor="ctr"/>
          <a:lstStyle/>
          <a:p>
            <a:r>
              <a:rPr lang="en-US" sz="1600" dirty="0">
                <a:solidFill>
                  <a:schemeClr val="accent1">
                    <a:lumMod val="75000"/>
                  </a:schemeClr>
                </a:solidFill>
                <a:latin typeface="Calibri" pitchFamily="34" charset="0"/>
                <a:ea typeface="Calibri" pitchFamily="34" charset="-122"/>
                <a:cs typeface="Calibri" pitchFamily="34" charset="-120"/>
              </a:rPr>
              <a:t>Planned extensions include predictive yield modeling, real-time anomaly detection, multi-season comparisons, and integration with automated climate-control systems.</a:t>
            </a:r>
            <a:endParaRPr lang="en-US" sz="1600" dirty="0">
              <a:solidFill>
                <a:schemeClr val="accent1">
                  <a:lumMod val="75000"/>
                </a:schemeClr>
              </a:solidFill>
            </a:endParaRPr>
          </a:p>
        </p:txBody>
      </p:sp>
      <p:sp>
        <p:nvSpPr>
          <p:cNvPr id="24" name="Text 18"/>
          <p:cNvSpPr/>
          <p:nvPr/>
        </p:nvSpPr>
        <p:spPr>
          <a:xfrm>
            <a:off x="11365992" y="6355080"/>
            <a:ext cx="548640" cy="320040"/>
          </a:xfrm>
          <a:prstGeom prst="rect">
            <a:avLst/>
          </a:prstGeom>
          <a:noFill/>
          <a:ln/>
        </p:spPr>
        <p:txBody>
          <a:bodyPr wrap="square" lIns="0" tIns="0" rIns="0" bIns="0" rtlCol="0" anchor="ctr"/>
          <a:lstStyle/>
          <a:p>
            <a:pPr marL="0" indent="0" algn="r">
              <a:buNone/>
            </a:pPr>
            <a:r>
              <a:rPr lang="en-US" sz="1100" dirty="0">
                <a:solidFill>
                  <a:srgbClr val="5B6B5E"/>
                </a:solidFill>
                <a:latin typeface="Calibri" pitchFamily="34" charset="0"/>
                <a:ea typeface="Calibri" pitchFamily="34" charset="-122"/>
                <a:cs typeface="Calibri" pitchFamily="34" charset="-120"/>
              </a:rPr>
              <a:t>12</a:t>
            </a:r>
            <a:endParaRPr lang="en-US" sz="1100" dirty="0"/>
          </a:p>
        </p:txBody>
      </p:sp>
      <p:sp>
        <p:nvSpPr>
          <p:cNvPr id="25" name="Text 19"/>
          <p:cNvSpPr/>
          <p:nvPr/>
        </p:nvSpPr>
        <p:spPr>
          <a:xfrm>
            <a:off x="457200" y="6355080"/>
            <a:ext cx="4572000" cy="320040"/>
          </a:xfrm>
          <a:prstGeom prst="rect">
            <a:avLst/>
          </a:prstGeom>
          <a:noFill/>
          <a:ln/>
        </p:spPr>
        <p:txBody>
          <a:bodyPr wrap="square" lIns="0" tIns="0" rIns="0" bIns="0" rtlCol="0" anchor="ctr"/>
          <a:lstStyle/>
          <a:p>
            <a:pPr marL="0" indent="0" algn="l">
              <a:buNone/>
            </a:pPr>
            <a:r>
              <a:rPr lang="en-US" sz="900" dirty="0">
                <a:solidFill>
                  <a:srgbClr val="5B6B5E"/>
                </a:solidFill>
                <a:latin typeface="Calibri" pitchFamily="34" charset="0"/>
                <a:ea typeface="Calibri" pitchFamily="34" charset="-122"/>
                <a:cs typeface="Calibri" pitchFamily="34" charset="-120"/>
              </a:rPr>
              <a:t>Greenhouse Crop Production</a:t>
            </a:r>
            <a:endParaRPr lang="en-US" sz="900" dirty="0"/>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curtains"/>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163A20"/>
        </a:solidFill>
        <a:effectLst/>
      </p:bgPr>
    </p:bg>
    <p:spTree>
      <p:nvGrpSpPr>
        <p:cNvPr id="1" name=""/>
        <p:cNvGrpSpPr/>
        <p:nvPr/>
      </p:nvGrpSpPr>
      <p:grpSpPr>
        <a:xfrm>
          <a:off x="0" y="0"/>
          <a:ext cx="0" cy="0"/>
          <a:chOff x="0" y="0"/>
          <a:chExt cx="0" cy="0"/>
        </a:xfrm>
      </p:grpSpPr>
      <p:sp>
        <p:nvSpPr>
          <p:cNvPr id="2" name="Shape 0"/>
          <p:cNvSpPr/>
          <p:nvPr/>
        </p:nvSpPr>
        <p:spPr>
          <a:xfrm>
            <a:off x="-1985163" y="-2562225"/>
            <a:ext cx="7315200" cy="7315200"/>
          </a:xfrm>
          <a:prstGeom prst="ellipse">
            <a:avLst/>
          </a:prstGeom>
          <a:solidFill>
            <a:srgbClr val="1F4D2C">
              <a:alpha val="55000"/>
            </a:srgbClr>
          </a:solidFill>
          <a:ln/>
        </p:spPr>
        <p:txBody>
          <a:bodyPr/>
          <a:lstStyle/>
          <a:p>
            <a:endParaRPr lang="en-IN"/>
          </a:p>
        </p:txBody>
      </p:sp>
      <p:sp>
        <p:nvSpPr>
          <p:cNvPr id="3" name="Shape 1"/>
          <p:cNvSpPr/>
          <p:nvPr/>
        </p:nvSpPr>
        <p:spPr>
          <a:xfrm>
            <a:off x="9096375" y="3703320"/>
            <a:ext cx="6400800" cy="6400800"/>
          </a:xfrm>
          <a:prstGeom prst="ellipse">
            <a:avLst/>
          </a:prstGeom>
          <a:solidFill>
            <a:srgbClr val="6FA95E">
              <a:alpha val="30000"/>
            </a:srgbClr>
          </a:solidFill>
          <a:ln/>
        </p:spPr>
        <p:txBody>
          <a:bodyPr/>
          <a:lstStyle/>
          <a:p>
            <a:endParaRPr lang="en-IN" dirty="0"/>
          </a:p>
        </p:txBody>
      </p:sp>
      <p:sp>
        <p:nvSpPr>
          <p:cNvPr id="4" name="Shape 2"/>
          <p:cNvSpPr/>
          <p:nvPr/>
        </p:nvSpPr>
        <p:spPr>
          <a:xfrm>
            <a:off x="5591556" y="2011680"/>
            <a:ext cx="1005840" cy="1005840"/>
          </a:xfrm>
          <a:prstGeom prst="ellipse">
            <a:avLst/>
          </a:prstGeom>
          <a:solidFill>
            <a:srgbClr val="6FA95E"/>
          </a:solidFill>
          <a:ln/>
        </p:spPr>
        <p:txBody>
          <a:bodyPr/>
          <a:lstStyle/>
          <a:p>
            <a:endParaRPr lang="en-IN"/>
          </a:p>
        </p:txBody>
      </p:sp>
      <p:pic>
        <p:nvPicPr>
          <p:cNvPr id="5" name="Image 0" descr="preencoded.png"/>
          <p:cNvPicPr>
            <a:picLocks noChangeAspect="1"/>
          </p:cNvPicPr>
          <p:nvPr/>
        </p:nvPicPr>
        <p:blipFill>
          <a:blip r:embed="rId3"/>
          <a:stretch>
            <a:fillRect/>
          </a:stretch>
        </p:blipFill>
        <p:spPr>
          <a:xfrm>
            <a:off x="5853074" y="2273198"/>
            <a:ext cx="482803" cy="482803"/>
          </a:xfrm>
          <a:prstGeom prst="rect">
            <a:avLst/>
          </a:prstGeom>
        </p:spPr>
      </p:pic>
      <p:sp>
        <p:nvSpPr>
          <p:cNvPr id="6" name="Text 3"/>
          <p:cNvSpPr/>
          <p:nvPr/>
        </p:nvSpPr>
        <p:spPr>
          <a:xfrm>
            <a:off x="0" y="3246120"/>
            <a:ext cx="12188952" cy="914400"/>
          </a:xfrm>
          <a:prstGeom prst="rect">
            <a:avLst/>
          </a:prstGeom>
          <a:noFill/>
          <a:ln/>
        </p:spPr>
        <p:txBody>
          <a:bodyPr wrap="square" lIns="0" tIns="0" rIns="0" bIns="0" rtlCol="0" anchor="ctr"/>
          <a:lstStyle/>
          <a:p>
            <a:pPr marL="0" indent="0" algn="ctr">
              <a:buNone/>
            </a:pPr>
            <a:r>
              <a:rPr lang="en-US" sz="4600" b="1" dirty="0">
                <a:solidFill>
                  <a:srgbClr val="FFFFFF"/>
                </a:solidFill>
                <a:latin typeface="Cambria" pitchFamily="34" charset="0"/>
                <a:ea typeface="Cambria" pitchFamily="34" charset="-122"/>
                <a:cs typeface="Cambria" pitchFamily="34" charset="-120"/>
              </a:rPr>
              <a:t>Thank You</a:t>
            </a:r>
            <a:endParaRPr lang="en-US" sz="4600" dirty="0"/>
          </a:p>
        </p:txBody>
      </p:sp>
      <p:sp>
        <p:nvSpPr>
          <p:cNvPr id="8" name="Text 5"/>
          <p:cNvSpPr/>
          <p:nvPr/>
        </p:nvSpPr>
        <p:spPr>
          <a:xfrm>
            <a:off x="11365992" y="6355080"/>
            <a:ext cx="548640" cy="320040"/>
          </a:xfrm>
          <a:prstGeom prst="rect">
            <a:avLst/>
          </a:prstGeom>
          <a:noFill/>
          <a:ln/>
        </p:spPr>
        <p:txBody>
          <a:bodyPr wrap="square" lIns="0" tIns="0" rIns="0" bIns="0" rtlCol="0" anchor="ctr"/>
          <a:lstStyle/>
          <a:p>
            <a:pPr marL="0" indent="0" algn="r">
              <a:buNone/>
            </a:pPr>
            <a:r>
              <a:rPr lang="en-US" sz="1100" dirty="0">
                <a:solidFill>
                  <a:srgbClr val="FFFFFF"/>
                </a:solidFill>
                <a:latin typeface="Calibri" pitchFamily="34" charset="0"/>
                <a:ea typeface="Calibri" pitchFamily="34" charset="-122"/>
                <a:cs typeface="Calibri" pitchFamily="34" charset="-120"/>
              </a:rPr>
              <a:t>13</a:t>
            </a:r>
            <a:endParaRPr lang="en-US" sz="1100" dirty="0"/>
          </a:p>
        </p:txBody>
      </p:sp>
      <p:sp>
        <p:nvSpPr>
          <p:cNvPr id="9" name="Text 6"/>
          <p:cNvSpPr/>
          <p:nvPr/>
        </p:nvSpPr>
        <p:spPr>
          <a:xfrm>
            <a:off x="457200" y="6355080"/>
            <a:ext cx="4572000" cy="320040"/>
          </a:xfrm>
          <a:prstGeom prst="rect">
            <a:avLst/>
          </a:prstGeom>
          <a:noFill/>
          <a:ln/>
        </p:spPr>
        <p:txBody>
          <a:bodyPr wrap="square" lIns="0" tIns="0" rIns="0" bIns="0" rtlCol="0" anchor="ctr"/>
          <a:lstStyle/>
          <a:p>
            <a:pPr marL="0" indent="0" algn="l">
              <a:buNone/>
            </a:pPr>
            <a:r>
              <a:rPr lang="en-US" sz="900" dirty="0">
                <a:solidFill>
                  <a:srgbClr val="BFD8BF"/>
                </a:solidFill>
                <a:latin typeface="Calibri" pitchFamily="34" charset="0"/>
                <a:ea typeface="Calibri" pitchFamily="34" charset="-122"/>
                <a:cs typeface="Calibri" pitchFamily="34" charset="-120"/>
              </a:rPr>
              <a:t>Greenhouse Crop Production</a:t>
            </a:r>
            <a:endParaRPr lang="en-US" sz="900" dirty="0"/>
          </a:p>
        </p:txBody>
      </p:sp>
    </p:spTree>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curtains"/>
      </p:transition>
    </mc:Choice>
    <mc:Fallback xmlns="">
      <p:transition spd="slow">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1104</TotalTime>
  <Words>1056</Words>
  <Application>Microsoft Office PowerPoint</Application>
  <PresentationFormat>Widescreen</PresentationFormat>
  <Paragraphs>189</Paragraphs>
  <Slides>13</Slides>
  <Notes>13</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13</vt:i4>
      </vt:variant>
    </vt:vector>
  </HeadingPairs>
  <TitlesOfParts>
    <vt:vector size="17" baseType="lpstr">
      <vt:lpstr>Arial</vt:lpstr>
      <vt:lpstr>Calibri</vt:lpstr>
      <vt:lpstr>Cambria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Greenhouse Crop Production</dc:title>
  <dc:subject>PptxGenJS Presentation</dc:subject>
  <dc:creator>Student</dc:creator>
  <cp:lastModifiedBy>Jasdeep Singh</cp:lastModifiedBy>
  <cp:revision>20</cp:revision>
  <dcterms:created xsi:type="dcterms:W3CDTF">2026-07-09T04:29:27Z</dcterms:created>
  <dcterms:modified xsi:type="dcterms:W3CDTF">2026-09-25T16:26:18Z</dcterms:modified>
</cp:coreProperties>
</file>